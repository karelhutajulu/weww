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charts/chart1.xml" ContentType="application/vnd.openxmlformats-officedocument.drawingml.chart+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2" r:id="rId2"/>
  </p:sldMasterIdLst>
  <p:notesMasterIdLst>
    <p:notesMasterId r:id="rId44"/>
  </p:notesMasterIdLst>
  <p:handoutMasterIdLst>
    <p:handoutMasterId r:id="rId45"/>
  </p:handoutMasterIdLst>
  <p:sldIdLst>
    <p:sldId id="295" r:id="rId3"/>
    <p:sldId id="1297" r:id="rId4"/>
    <p:sldId id="1299" r:id="rId5"/>
    <p:sldId id="1296" r:id="rId6"/>
    <p:sldId id="1307" r:id="rId7"/>
    <p:sldId id="1300" r:id="rId8"/>
    <p:sldId id="1309" r:id="rId9"/>
    <p:sldId id="1308" r:id="rId10"/>
    <p:sldId id="1298" r:id="rId11"/>
    <p:sldId id="1301" r:id="rId12"/>
    <p:sldId id="1187" r:id="rId13"/>
    <p:sldId id="1090" r:id="rId14"/>
    <p:sldId id="1262" r:id="rId15"/>
    <p:sldId id="1188" r:id="rId16"/>
    <p:sldId id="1304" r:id="rId17"/>
    <p:sldId id="1190" r:id="rId18"/>
    <p:sldId id="1186" r:id="rId19"/>
    <p:sldId id="1311" r:id="rId20"/>
    <p:sldId id="1091" r:id="rId21"/>
    <p:sldId id="1192" r:id="rId22"/>
    <p:sldId id="1193" r:id="rId23"/>
    <p:sldId id="1194" r:id="rId24"/>
    <p:sldId id="1303" r:id="rId25"/>
    <p:sldId id="1102" r:id="rId26"/>
    <p:sldId id="1310" r:id="rId27"/>
    <p:sldId id="1306" r:id="rId28"/>
    <p:sldId id="1104" r:id="rId29"/>
    <p:sldId id="1100" r:id="rId30"/>
    <p:sldId id="1161" r:id="rId31"/>
    <p:sldId id="1197" r:id="rId32"/>
    <p:sldId id="1258" r:id="rId33"/>
    <p:sldId id="1305" r:id="rId34"/>
    <p:sldId id="1147" r:id="rId35"/>
    <p:sldId id="1150" r:id="rId36"/>
    <p:sldId id="1053" r:id="rId37"/>
    <p:sldId id="1153" r:id="rId38"/>
    <p:sldId id="1152" r:id="rId39"/>
    <p:sldId id="1289" r:id="rId40"/>
    <p:sldId id="1061" r:id="rId41"/>
    <p:sldId id="610" r:id="rId42"/>
    <p:sldId id="1290" r:id="rId43"/>
  </p:sldIdLst>
  <p:sldSz cx="9144000" cy="5143500" type="screen16x9"/>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907">
          <p15:clr>
            <a:srgbClr val="A4A3A4"/>
          </p15:clr>
        </p15:guide>
        <p15:guide id="3" orient="horz" pos="16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73632"/>
    <a:srgbClr val="4F81BD"/>
    <a:srgbClr val="46ACC8"/>
    <a:srgbClr val="633869"/>
    <a:srgbClr val="0000FF"/>
    <a:srgbClr val="8064A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83" autoAdjust="0"/>
    <p:restoredTop sz="96197"/>
  </p:normalViewPr>
  <p:slideViewPr>
    <p:cSldViewPr snapToGrid="0">
      <p:cViewPr varScale="1">
        <p:scale>
          <a:sx n="131" d="100"/>
          <a:sy n="131" d="100"/>
        </p:scale>
        <p:origin x="900" y="102"/>
      </p:cViewPr>
      <p:guideLst>
        <p:guide orient="horz" pos="2160"/>
        <p:guide pos="2907"/>
        <p:guide orient="horz" pos="1620"/>
      </p:guideLst>
    </p:cSldViewPr>
  </p:slideViewPr>
  <p:notesTextViewPr>
    <p:cViewPr>
      <p:scale>
        <a:sx n="1" d="1"/>
        <a:sy n="1" d="1"/>
      </p:scale>
      <p:origin x="0" y="0"/>
    </p:cViewPr>
  </p:notesTextViewPr>
  <p:sorterViewPr>
    <p:cViewPr>
      <p:scale>
        <a:sx n="66" d="100"/>
        <a:sy n="66" d="100"/>
      </p:scale>
      <p:origin x="0" y="0"/>
    </p:cViewPr>
  </p:sorterViewPr>
  <p:notesViewPr>
    <p:cSldViewPr snapToGrid="0">
      <p:cViewPr varScale="1">
        <p:scale>
          <a:sx n="65" d="100"/>
          <a:sy n="65" d="100"/>
        </p:scale>
        <p:origin x="3082" y="48"/>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of. Wang Fangxin (SSE)" userId="ce1f3ee1-525b-4f0b-8f12-bc5b2dd7d371" providerId="ADAL" clId="{072444D5-B6E1-794C-B782-80CEB355B39B}"/>
    <pc:docChg chg="undo custSel addSld modSld">
      <pc:chgData name="Prof. Wang Fangxin (SSE)" userId="ce1f3ee1-525b-4f0b-8f12-bc5b2dd7d371" providerId="ADAL" clId="{072444D5-B6E1-794C-B782-80CEB355B39B}" dt="2023-01-04T10:36:32.720" v="702" actId="20577"/>
      <pc:docMkLst>
        <pc:docMk/>
      </pc:docMkLst>
      <pc:sldChg chg="modSp mod">
        <pc:chgData name="Prof. Wang Fangxin (SSE)" userId="ce1f3ee1-525b-4f0b-8f12-bc5b2dd7d371" providerId="ADAL" clId="{072444D5-B6E1-794C-B782-80CEB355B39B}" dt="2023-01-04T10:36:26.792" v="695" actId="20577"/>
        <pc:sldMkLst>
          <pc:docMk/>
          <pc:sldMk cId="1937551950" sldId="296"/>
        </pc:sldMkLst>
        <pc:spChg chg="mod">
          <ac:chgData name="Prof. Wang Fangxin (SSE)" userId="ce1f3ee1-525b-4f0b-8f12-bc5b2dd7d371" providerId="ADAL" clId="{072444D5-B6E1-794C-B782-80CEB355B39B}" dt="2023-01-04T10:36:06.733" v="685" actId="20577"/>
          <ac:spMkLst>
            <pc:docMk/>
            <pc:sldMk cId="1937551950" sldId="296"/>
            <ac:spMk id="3" creationId="{00000000-0000-0000-0000-000000000000}"/>
          </ac:spMkLst>
        </pc:spChg>
        <pc:spChg chg="mod">
          <ac:chgData name="Prof. Wang Fangxin (SSE)" userId="ce1f3ee1-525b-4f0b-8f12-bc5b2dd7d371" providerId="ADAL" clId="{072444D5-B6E1-794C-B782-80CEB355B39B}" dt="2023-01-04T10:36:26.792" v="695" actId="20577"/>
          <ac:spMkLst>
            <pc:docMk/>
            <pc:sldMk cId="1937551950" sldId="296"/>
            <ac:spMk id="6" creationId="{00000000-0000-0000-0000-000000000000}"/>
          </ac:spMkLst>
        </pc:spChg>
      </pc:sldChg>
      <pc:sldChg chg="modSp mod">
        <pc:chgData name="Prof. Wang Fangxin (SSE)" userId="ce1f3ee1-525b-4f0b-8f12-bc5b2dd7d371" providerId="ADAL" clId="{072444D5-B6E1-794C-B782-80CEB355B39B}" dt="2023-01-04T10:27:49.456" v="356" actId="20577"/>
        <pc:sldMkLst>
          <pc:docMk/>
          <pc:sldMk cId="0" sldId="299"/>
        </pc:sldMkLst>
        <pc:spChg chg="mod">
          <ac:chgData name="Prof. Wang Fangxin (SSE)" userId="ce1f3ee1-525b-4f0b-8f12-bc5b2dd7d371" providerId="ADAL" clId="{072444D5-B6E1-794C-B782-80CEB355B39B}" dt="2023-01-04T10:27:49.456" v="356" actId="20577"/>
          <ac:spMkLst>
            <pc:docMk/>
            <pc:sldMk cId="0" sldId="299"/>
            <ac:spMk id="3" creationId="{00000000-0000-0000-0000-000000000000}"/>
          </ac:spMkLst>
        </pc:spChg>
      </pc:sldChg>
      <pc:sldChg chg="modSp mod">
        <pc:chgData name="Prof. Wang Fangxin (SSE)" userId="ce1f3ee1-525b-4f0b-8f12-bc5b2dd7d371" providerId="ADAL" clId="{072444D5-B6E1-794C-B782-80CEB355B39B}" dt="2023-01-04T10:24:58.830" v="335" actId="20577"/>
        <pc:sldMkLst>
          <pc:docMk/>
          <pc:sldMk cId="0" sldId="391"/>
        </pc:sldMkLst>
        <pc:spChg chg="mod">
          <ac:chgData name="Prof. Wang Fangxin (SSE)" userId="ce1f3ee1-525b-4f0b-8f12-bc5b2dd7d371" providerId="ADAL" clId="{072444D5-B6E1-794C-B782-80CEB355B39B}" dt="2023-01-04T10:24:58.830" v="335" actId="20577"/>
          <ac:spMkLst>
            <pc:docMk/>
            <pc:sldMk cId="0" sldId="391"/>
            <ac:spMk id="6" creationId="{00000000-0000-0000-0000-000000000000}"/>
          </ac:spMkLst>
        </pc:spChg>
      </pc:sldChg>
      <pc:sldChg chg="modSp add mod">
        <pc:chgData name="Prof. Wang Fangxin (SSE)" userId="ce1f3ee1-525b-4f0b-8f12-bc5b2dd7d371" providerId="ADAL" clId="{072444D5-B6E1-794C-B782-80CEB355B39B}" dt="2023-01-04T10:36:32.720" v="702" actId="20577"/>
        <pc:sldMkLst>
          <pc:docMk/>
          <pc:sldMk cId="2341894575" sldId="447"/>
        </pc:sldMkLst>
        <pc:spChg chg="mod">
          <ac:chgData name="Prof. Wang Fangxin (SSE)" userId="ce1f3ee1-525b-4f0b-8f12-bc5b2dd7d371" providerId="ADAL" clId="{072444D5-B6E1-794C-B782-80CEB355B39B}" dt="2023-01-04T10:32:31.287" v="384" actId="20577"/>
          <ac:spMkLst>
            <pc:docMk/>
            <pc:sldMk cId="2341894575" sldId="447"/>
            <ac:spMk id="3" creationId="{00000000-0000-0000-0000-000000000000}"/>
          </ac:spMkLst>
        </pc:spChg>
        <pc:spChg chg="mod">
          <ac:chgData name="Prof. Wang Fangxin (SSE)" userId="ce1f3ee1-525b-4f0b-8f12-bc5b2dd7d371" providerId="ADAL" clId="{072444D5-B6E1-794C-B782-80CEB355B39B}" dt="2023-01-04T10:36:32.720" v="702" actId="20577"/>
          <ac:spMkLst>
            <pc:docMk/>
            <pc:sldMk cId="2341894575" sldId="447"/>
            <ac:spMk id="6" creationId="{00000000-0000-0000-0000-000000000000}"/>
          </ac:spMkLst>
        </pc:spChg>
      </pc:sldChg>
    </pc:docChg>
  </pc:docChgLst>
  <pc:docChgLst>
    <pc:chgData name="Prof. Wang Fangxin (SSE)" userId="ce1f3ee1-525b-4f0b-8f12-bc5b2dd7d371" providerId="ADAL" clId="{56731C7C-97E0-41C3-86F4-ADF8CE8A2053}"/>
    <pc:docChg chg="undo custSel delSld modSld sldOrd">
      <pc:chgData name="Prof. Wang Fangxin (SSE)" userId="ce1f3ee1-525b-4f0b-8f12-bc5b2dd7d371" providerId="ADAL" clId="{56731C7C-97E0-41C3-86F4-ADF8CE8A2053}" dt="2022-01-10T06:59:30.151" v="590" actId="2696"/>
      <pc:docMkLst>
        <pc:docMk/>
      </pc:docMkLst>
      <pc:sldChg chg="modSp">
        <pc:chgData name="Prof. Wang Fangxin (SSE)" userId="ce1f3ee1-525b-4f0b-8f12-bc5b2dd7d371" providerId="ADAL" clId="{56731C7C-97E0-41C3-86F4-ADF8CE8A2053}" dt="2022-01-10T06:28:47.372" v="1" actId="27636"/>
        <pc:sldMkLst>
          <pc:docMk/>
          <pc:sldMk cId="0" sldId="262"/>
        </pc:sldMkLst>
        <pc:spChg chg="mod">
          <ac:chgData name="Prof. Wang Fangxin (SSE)" userId="ce1f3ee1-525b-4f0b-8f12-bc5b2dd7d371" providerId="ADAL" clId="{56731C7C-97E0-41C3-86F4-ADF8CE8A2053}" dt="2022-01-10T06:28:47.372" v="1" actId="27636"/>
          <ac:spMkLst>
            <pc:docMk/>
            <pc:sldMk cId="0" sldId="262"/>
            <ac:spMk id="3" creationId="{00000000-0000-0000-0000-000000000000}"/>
          </ac:spMkLst>
        </pc:spChg>
      </pc:sldChg>
      <pc:sldChg chg="del">
        <pc:chgData name="Prof. Wang Fangxin (SSE)" userId="ce1f3ee1-525b-4f0b-8f12-bc5b2dd7d371" providerId="ADAL" clId="{56731C7C-97E0-41C3-86F4-ADF8CE8A2053}" dt="2022-01-10T06:59:30.151" v="590" actId="2696"/>
        <pc:sldMkLst>
          <pc:docMk/>
          <pc:sldMk cId="0" sldId="272"/>
        </pc:sldMkLst>
      </pc:sldChg>
      <pc:sldChg chg="addSp modSp">
        <pc:chgData name="Prof. Wang Fangxin (SSE)" userId="ce1f3ee1-525b-4f0b-8f12-bc5b2dd7d371" providerId="ADAL" clId="{56731C7C-97E0-41C3-86F4-ADF8CE8A2053}" dt="2022-01-10T06:30:29.070" v="33" actId="1076"/>
        <pc:sldMkLst>
          <pc:docMk/>
          <pc:sldMk cId="0" sldId="295"/>
        </pc:sldMkLst>
        <pc:spChg chg="add mod">
          <ac:chgData name="Prof. Wang Fangxin (SSE)" userId="ce1f3ee1-525b-4f0b-8f12-bc5b2dd7d371" providerId="ADAL" clId="{56731C7C-97E0-41C3-86F4-ADF8CE8A2053}" dt="2022-01-10T06:30:29.070" v="33" actId="1076"/>
          <ac:spMkLst>
            <pc:docMk/>
            <pc:sldMk cId="0" sldId="295"/>
            <ac:spMk id="4" creationId="{5E4FC43E-652B-47EE-A940-42294AB0E172}"/>
          </ac:spMkLst>
        </pc:spChg>
      </pc:sldChg>
      <pc:sldChg chg="modSp">
        <pc:chgData name="Prof. Wang Fangxin (SSE)" userId="ce1f3ee1-525b-4f0b-8f12-bc5b2dd7d371" providerId="ADAL" clId="{56731C7C-97E0-41C3-86F4-ADF8CE8A2053}" dt="2022-01-10T06:51:11.053" v="586" actId="404"/>
        <pc:sldMkLst>
          <pc:docMk/>
          <pc:sldMk cId="1937551950" sldId="296"/>
        </pc:sldMkLst>
        <pc:spChg chg="mod">
          <ac:chgData name="Prof. Wang Fangxin (SSE)" userId="ce1f3ee1-525b-4f0b-8f12-bc5b2dd7d371" providerId="ADAL" clId="{56731C7C-97E0-41C3-86F4-ADF8CE8A2053}" dt="2022-01-10T06:51:11.053" v="586" actId="404"/>
          <ac:spMkLst>
            <pc:docMk/>
            <pc:sldMk cId="1937551950" sldId="296"/>
            <ac:spMk id="3" creationId="{00000000-0000-0000-0000-000000000000}"/>
          </ac:spMkLst>
        </pc:spChg>
      </pc:sldChg>
      <pc:sldChg chg="modSp">
        <pc:chgData name="Prof. Wang Fangxin (SSE)" userId="ce1f3ee1-525b-4f0b-8f12-bc5b2dd7d371" providerId="ADAL" clId="{56731C7C-97E0-41C3-86F4-ADF8CE8A2053}" dt="2022-01-10T06:44:19.141" v="478" actId="207"/>
        <pc:sldMkLst>
          <pc:docMk/>
          <pc:sldMk cId="0" sldId="299"/>
        </pc:sldMkLst>
        <pc:spChg chg="mod">
          <ac:chgData name="Prof. Wang Fangxin (SSE)" userId="ce1f3ee1-525b-4f0b-8f12-bc5b2dd7d371" providerId="ADAL" clId="{56731C7C-97E0-41C3-86F4-ADF8CE8A2053}" dt="2022-01-10T06:44:19.141" v="478" actId="207"/>
          <ac:spMkLst>
            <pc:docMk/>
            <pc:sldMk cId="0" sldId="299"/>
            <ac:spMk id="3" creationId="{00000000-0000-0000-0000-000000000000}"/>
          </ac:spMkLst>
        </pc:spChg>
      </pc:sldChg>
      <pc:sldChg chg="modSp ord">
        <pc:chgData name="Prof. Wang Fangxin (SSE)" userId="ce1f3ee1-525b-4f0b-8f12-bc5b2dd7d371" providerId="ADAL" clId="{56731C7C-97E0-41C3-86F4-ADF8CE8A2053}" dt="2022-01-10T06:48:53.068" v="570" actId="207"/>
        <pc:sldMkLst>
          <pc:docMk/>
          <pc:sldMk cId="0" sldId="301"/>
        </pc:sldMkLst>
        <pc:spChg chg="mod">
          <ac:chgData name="Prof. Wang Fangxin (SSE)" userId="ce1f3ee1-525b-4f0b-8f12-bc5b2dd7d371" providerId="ADAL" clId="{56731C7C-97E0-41C3-86F4-ADF8CE8A2053}" dt="2022-01-10T06:48:53.068" v="570" actId="207"/>
          <ac:spMkLst>
            <pc:docMk/>
            <pc:sldMk cId="0" sldId="301"/>
            <ac:spMk id="3" creationId="{00000000-0000-0000-0000-000000000000}"/>
          </ac:spMkLst>
        </pc:spChg>
      </pc:sldChg>
      <pc:sldChg chg="modSp">
        <pc:chgData name="Prof. Wang Fangxin (SSE)" userId="ce1f3ee1-525b-4f0b-8f12-bc5b2dd7d371" providerId="ADAL" clId="{56731C7C-97E0-41C3-86F4-ADF8CE8A2053}" dt="2022-01-10T06:51:17.850" v="588" actId="404"/>
        <pc:sldMkLst>
          <pc:docMk/>
          <pc:sldMk cId="0" sldId="391"/>
        </pc:sldMkLst>
        <pc:spChg chg="mod">
          <ac:chgData name="Prof. Wang Fangxin (SSE)" userId="ce1f3ee1-525b-4f0b-8f12-bc5b2dd7d371" providerId="ADAL" clId="{56731C7C-97E0-41C3-86F4-ADF8CE8A2053}" dt="2022-01-10T06:51:17.850" v="588" actId="404"/>
          <ac:spMkLst>
            <pc:docMk/>
            <pc:sldMk cId="0" sldId="391"/>
            <ac:spMk id="6" creationId="{00000000-0000-0000-0000-000000000000}"/>
          </ac:spMkLst>
        </pc:spChg>
      </pc:sldChg>
      <pc:sldChg chg="modSp del">
        <pc:chgData name="Prof. Wang Fangxin (SSE)" userId="ce1f3ee1-525b-4f0b-8f12-bc5b2dd7d371" providerId="ADAL" clId="{56731C7C-97E0-41C3-86F4-ADF8CE8A2053}" dt="2022-01-10T06:51:27.305" v="589" actId="2696"/>
        <pc:sldMkLst>
          <pc:docMk/>
          <pc:sldMk cId="0" sldId="392"/>
        </pc:sldMkLst>
        <pc:spChg chg="mod">
          <ac:chgData name="Prof. Wang Fangxin (SSE)" userId="ce1f3ee1-525b-4f0b-8f12-bc5b2dd7d371" providerId="ADAL" clId="{56731C7C-97E0-41C3-86F4-ADF8CE8A2053}" dt="2022-01-10T06:41:58.169" v="400" actId="20577"/>
          <ac:spMkLst>
            <pc:docMk/>
            <pc:sldMk cId="0" sldId="392"/>
            <ac:spMk id="6" creationId="{00000000-0000-0000-0000-000000000000}"/>
          </ac:spMkLst>
        </pc:spChg>
      </pc:sldChg>
      <pc:sldChg chg="modSp">
        <pc:chgData name="Prof. Wang Fangxin (SSE)" userId="ce1f3ee1-525b-4f0b-8f12-bc5b2dd7d371" providerId="ADAL" clId="{56731C7C-97E0-41C3-86F4-ADF8CE8A2053}" dt="2022-01-10T06:45:25" v="501" actId="20577"/>
        <pc:sldMkLst>
          <pc:docMk/>
          <pc:sldMk cId="0" sldId="445"/>
        </pc:sldMkLst>
        <pc:spChg chg="mod">
          <ac:chgData name="Prof. Wang Fangxin (SSE)" userId="ce1f3ee1-525b-4f0b-8f12-bc5b2dd7d371" providerId="ADAL" clId="{56731C7C-97E0-41C3-86F4-ADF8CE8A2053}" dt="2022-01-10T06:45:25" v="501" actId="20577"/>
          <ac:spMkLst>
            <pc:docMk/>
            <pc:sldMk cId="0" sldId="445"/>
            <ac:spMk id="3"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oleObject" Target="OS%20X%20Lion:Users:bryant:ics3:opt:cpe-example.xlsx"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136807817589577"/>
          <c:y val="6.3380426983446495E-2"/>
          <c:w val="0.81758957654723097"/>
          <c:h val="0.76995481668779497"/>
        </c:manualLayout>
      </c:layout>
      <c:scatterChart>
        <c:scatterStyle val="lineMarker"/>
        <c:varyColors val="0"/>
        <c:ser>
          <c:idx val="0"/>
          <c:order val="0"/>
          <c:tx>
            <c:strRef>
              <c:f>'cpe2'!$A$3</c:f>
              <c:strCache>
                <c:ptCount val="1"/>
                <c:pt idx="0">
                  <c:v>psum1</c:v>
                </c:pt>
              </c:strCache>
            </c:strRef>
          </c:tx>
          <c:spPr>
            <a:ln w="28575">
              <a:noFill/>
            </a:ln>
          </c:spPr>
          <c:marker>
            <c:symbol val="diamond"/>
            <c:size val="5"/>
            <c:spPr>
              <a:solidFill>
                <a:srgbClr val="333333"/>
              </a:solidFill>
              <a:ln>
                <a:solidFill>
                  <a:srgbClr val="333333"/>
                </a:solidFill>
                <a:prstDash val="solid"/>
              </a:ln>
            </c:spPr>
          </c:marker>
          <c:xVal>
            <c:numRef>
              <c:f>'cpe2'!$B$2:$AE$2</c:f>
              <c:numCache>
                <c:formatCode>General</c:formatCode>
                <c:ptCount val="30"/>
                <c:pt idx="0">
                  <c:v>0</c:v>
                </c:pt>
                <c:pt idx="1">
                  <c:v>193</c:v>
                </c:pt>
                <c:pt idx="2">
                  <c:v>120</c:v>
                </c:pt>
                <c:pt idx="3">
                  <c:v>91</c:v>
                </c:pt>
                <c:pt idx="4">
                  <c:v>95</c:v>
                </c:pt>
                <c:pt idx="5">
                  <c:v>196</c:v>
                </c:pt>
                <c:pt idx="6">
                  <c:v>97</c:v>
                </c:pt>
                <c:pt idx="7">
                  <c:v>181</c:v>
                </c:pt>
                <c:pt idx="8">
                  <c:v>91</c:v>
                </c:pt>
                <c:pt idx="9">
                  <c:v>83</c:v>
                </c:pt>
                <c:pt idx="10">
                  <c:v>43</c:v>
                </c:pt>
                <c:pt idx="11">
                  <c:v>183</c:v>
                </c:pt>
                <c:pt idx="12">
                  <c:v>140</c:v>
                </c:pt>
                <c:pt idx="13">
                  <c:v>146</c:v>
                </c:pt>
                <c:pt idx="14">
                  <c:v>94</c:v>
                </c:pt>
                <c:pt idx="15">
                  <c:v>134</c:v>
                </c:pt>
                <c:pt idx="16">
                  <c:v>163</c:v>
                </c:pt>
                <c:pt idx="17">
                  <c:v>131</c:v>
                </c:pt>
                <c:pt idx="18">
                  <c:v>110</c:v>
                </c:pt>
                <c:pt idx="19">
                  <c:v>182</c:v>
                </c:pt>
                <c:pt idx="20">
                  <c:v>189</c:v>
                </c:pt>
                <c:pt idx="21">
                  <c:v>112</c:v>
                </c:pt>
                <c:pt idx="22">
                  <c:v>141</c:v>
                </c:pt>
                <c:pt idx="23">
                  <c:v>185</c:v>
                </c:pt>
                <c:pt idx="24">
                  <c:v>188</c:v>
                </c:pt>
                <c:pt idx="25">
                  <c:v>47</c:v>
                </c:pt>
                <c:pt idx="26">
                  <c:v>130</c:v>
                </c:pt>
                <c:pt idx="27">
                  <c:v>102</c:v>
                </c:pt>
                <c:pt idx="28">
                  <c:v>59</c:v>
                </c:pt>
                <c:pt idx="29">
                  <c:v>174</c:v>
                </c:pt>
              </c:numCache>
            </c:numRef>
          </c:xVal>
          <c:yVal>
            <c:numRef>
              <c:f>'cpe2'!$B$3:$AE$3</c:f>
              <c:numCache>
                <c:formatCode>General</c:formatCode>
                <c:ptCount val="30"/>
                <c:pt idx="1">
                  <c:v>2112.6</c:v>
                </c:pt>
                <c:pt idx="2">
                  <c:v>1451.1</c:v>
                </c:pt>
                <c:pt idx="3">
                  <c:v>1188.5999999999999</c:v>
                </c:pt>
                <c:pt idx="4">
                  <c:v>1218</c:v>
                </c:pt>
                <c:pt idx="5">
                  <c:v>2131.5</c:v>
                </c:pt>
                <c:pt idx="6">
                  <c:v>1247.4000000000001</c:v>
                </c:pt>
                <c:pt idx="7">
                  <c:v>2003.4</c:v>
                </c:pt>
                <c:pt idx="8">
                  <c:v>1190.7</c:v>
                </c:pt>
                <c:pt idx="9">
                  <c:v>1117.2</c:v>
                </c:pt>
                <c:pt idx="10">
                  <c:v>758.1</c:v>
                </c:pt>
                <c:pt idx="11">
                  <c:v>2020.2</c:v>
                </c:pt>
                <c:pt idx="12">
                  <c:v>1629.6</c:v>
                </c:pt>
                <c:pt idx="13">
                  <c:v>1686.3</c:v>
                </c:pt>
                <c:pt idx="14">
                  <c:v>1211.7</c:v>
                </c:pt>
                <c:pt idx="15">
                  <c:v>1568.7</c:v>
                </c:pt>
                <c:pt idx="16">
                  <c:v>1841.7</c:v>
                </c:pt>
                <c:pt idx="17">
                  <c:v>1543.5</c:v>
                </c:pt>
                <c:pt idx="18">
                  <c:v>1358.7</c:v>
                </c:pt>
                <c:pt idx="19">
                  <c:v>2011.8</c:v>
                </c:pt>
                <c:pt idx="20">
                  <c:v>2066.4</c:v>
                </c:pt>
                <c:pt idx="21">
                  <c:v>1373.4</c:v>
                </c:pt>
                <c:pt idx="22">
                  <c:v>1635.9</c:v>
                </c:pt>
                <c:pt idx="23">
                  <c:v>2032.8</c:v>
                </c:pt>
                <c:pt idx="24">
                  <c:v>2058</c:v>
                </c:pt>
                <c:pt idx="25">
                  <c:v>787.5</c:v>
                </c:pt>
                <c:pt idx="26">
                  <c:v>1539.3</c:v>
                </c:pt>
                <c:pt idx="27">
                  <c:v>1285.2</c:v>
                </c:pt>
                <c:pt idx="28">
                  <c:v>905.1</c:v>
                </c:pt>
                <c:pt idx="29">
                  <c:v>1938.3</c:v>
                </c:pt>
              </c:numCache>
            </c:numRef>
          </c:yVal>
          <c:smooth val="0"/>
          <c:extLst>
            <c:ext xmlns:c16="http://schemas.microsoft.com/office/drawing/2014/chart" uri="{C3380CC4-5D6E-409C-BE32-E72D297353CC}">
              <c16:uniqueId val="{00000000-6797-43E3-958A-EF62DD1BCE4A}"/>
            </c:ext>
          </c:extLst>
        </c:ser>
        <c:ser>
          <c:idx val="1"/>
          <c:order val="1"/>
          <c:tx>
            <c:strRef>
              <c:f>'cpe2'!$A$4</c:f>
              <c:strCache>
                <c:ptCount val="1"/>
                <c:pt idx="0">
                  <c:v>psum1i</c:v>
                </c:pt>
              </c:strCache>
            </c:strRef>
          </c:tx>
          <c:spPr>
            <a:ln w="12700">
              <a:solidFill>
                <a:srgbClr val="000000"/>
              </a:solidFill>
              <a:prstDash val="solid"/>
            </a:ln>
          </c:spPr>
          <c:marker>
            <c:symbol val="none"/>
          </c:marker>
          <c:xVal>
            <c:numRef>
              <c:f>'cpe2'!$B$2:$AE$2</c:f>
              <c:numCache>
                <c:formatCode>General</c:formatCode>
                <c:ptCount val="30"/>
                <c:pt idx="0">
                  <c:v>0</c:v>
                </c:pt>
                <c:pt idx="1">
                  <c:v>193</c:v>
                </c:pt>
                <c:pt idx="2">
                  <c:v>120</c:v>
                </c:pt>
                <c:pt idx="3">
                  <c:v>91</c:v>
                </c:pt>
                <c:pt idx="4">
                  <c:v>95</c:v>
                </c:pt>
                <c:pt idx="5">
                  <c:v>196</c:v>
                </c:pt>
                <c:pt idx="6">
                  <c:v>97</c:v>
                </c:pt>
                <c:pt idx="7">
                  <c:v>181</c:v>
                </c:pt>
                <c:pt idx="8">
                  <c:v>91</c:v>
                </c:pt>
                <c:pt idx="9">
                  <c:v>83</c:v>
                </c:pt>
                <c:pt idx="10">
                  <c:v>43</c:v>
                </c:pt>
                <c:pt idx="11">
                  <c:v>183</c:v>
                </c:pt>
                <c:pt idx="12">
                  <c:v>140</c:v>
                </c:pt>
                <c:pt idx="13">
                  <c:v>146</c:v>
                </c:pt>
                <c:pt idx="14">
                  <c:v>94</c:v>
                </c:pt>
                <c:pt idx="15">
                  <c:v>134</c:v>
                </c:pt>
                <c:pt idx="16">
                  <c:v>163</c:v>
                </c:pt>
                <c:pt idx="17">
                  <c:v>131</c:v>
                </c:pt>
                <c:pt idx="18">
                  <c:v>110</c:v>
                </c:pt>
                <c:pt idx="19">
                  <c:v>182</c:v>
                </c:pt>
                <c:pt idx="20">
                  <c:v>189</c:v>
                </c:pt>
                <c:pt idx="21">
                  <c:v>112</c:v>
                </c:pt>
                <c:pt idx="22">
                  <c:v>141</c:v>
                </c:pt>
                <c:pt idx="23">
                  <c:v>185</c:v>
                </c:pt>
                <c:pt idx="24">
                  <c:v>188</c:v>
                </c:pt>
                <c:pt idx="25">
                  <c:v>47</c:v>
                </c:pt>
                <c:pt idx="26">
                  <c:v>130</c:v>
                </c:pt>
                <c:pt idx="27">
                  <c:v>102</c:v>
                </c:pt>
                <c:pt idx="28">
                  <c:v>59</c:v>
                </c:pt>
                <c:pt idx="29">
                  <c:v>174</c:v>
                </c:pt>
              </c:numCache>
            </c:numRef>
          </c:xVal>
          <c:yVal>
            <c:numRef>
              <c:f>'cpe2'!$B$4:$AE$4</c:f>
              <c:numCache>
                <c:formatCode>General</c:formatCode>
                <c:ptCount val="30"/>
                <c:pt idx="0">
                  <c:v>367.79</c:v>
                </c:pt>
                <c:pt idx="1">
                  <c:v>2107.4299999999998</c:v>
                </c:pt>
                <c:pt idx="2">
                  <c:v>1449.43</c:v>
                </c:pt>
                <c:pt idx="3">
                  <c:v>1188.03</c:v>
                </c:pt>
                <c:pt idx="4">
                  <c:v>1224.0899999999999</c:v>
                </c:pt>
                <c:pt idx="5">
                  <c:v>2134.4699999999998</c:v>
                </c:pt>
                <c:pt idx="6">
                  <c:v>1242.1199999999999</c:v>
                </c:pt>
                <c:pt idx="7">
                  <c:v>1999.27</c:v>
                </c:pt>
                <c:pt idx="8">
                  <c:v>1188.03</c:v>
                </c:pt>
                <c:pt idx="9">
                  <c:v>1115.92</c:v>
                </c:pt>
                <c:pt idx="10">
                  <c:v>755.38</c:v>
                </c:pt>
                <c:pt idx="11">
                  <c:v>2017.29</c:v>
                </c:pt>
                <c:pt idx="12">
                  <c:v>1629.7</c:v>
                </c:pt>
                <c:pt idx="13">
                  <c:v>1683.79</c:v>
                </c:pt>
                <c:pt idx="14">
                  <c:v>1215.07</c:v>
                </c:pt>
                <c:pt idx="15">
                  <c:v>1575.62</c:v>
                </c:pt>
                <c:pt idx="16">
                  <c:v>1837.02</c:v>
                </c:pt>
                <c:pt idx="17">
                  <c:v>1548.58</c:v>
                </c:pt>
                <c:pt idx="18">
                  <c:v>1359.29</c:v>
                </c:pt>
                <c:pt idx="19">
                  <c:v>2008.28</c:v>
                </c:pt>
                <c:pt idx="20">
                  <c:v>2071.37</c:v>
                </c:pt>
                <c:pt idx="21">
                  <c:v>1377.32</c:v>
                </c:pt>
                <c:pt idx="22">
                  <c:v>1638.72</c:v>
                </c:pt>
                <c:pt idx="23">
                  <c:v>2035.32</c:v>
                </c:pt>
                <c:pt idx="24">
                  <c:v>2062.36</c:v>
                </c:pt>
                <c:pt idx="25">
                  <c:v>791.42999999999938</c:v>
                </c:pt>
                <c:pt idx="26">
                  <c:v>1539.57</c:v>
                </c:pt>
                <c:pt idx="27">
                  <c:v>1287.18</c:v>
                </c:pt>
                <c:pt idx="28">
                  <c:v>899.6</c:v>
                </c:pt>
                <c:pt idx="29">
                  <c:v>1936.17</c:v>
                </c:pt>
              </c:numCache>
            </c:numRef>
          </c:yVal>
          <c:smooth val="0"/>
          <c:extLst>
            <c:ext xmlns:c16="http://schemas.microsoft.com/office/drawing/2014/chart" uri="{C3380CC4-5D6E-409C-BE32-E72D297353CC}">
              <c16:uniqueId val="{00000001-6797-43E3-958A-EF62DD1BCE4A}"/>
            </c:ext>
          </c:extLst>
        </c:ser>
        <c:ser>
          <c:idx val="2"/>
          <c:order val="2"/>
          <c:tx>
            <c:strRef>
              <c:f>'cpe2'!$A$5</c:f>
              <c:strCache>
                <c:ptCount val="1"/>
                <c:pt idx="0">
                  <c:v>psum2</c:v>
                </c:pt>
              </c:strCache>
            </c:strRef>
          </c:tx>
          <c:spPr>
            <a:ln w="28575">
              <a:noFill/>
            </a:ln>
          </c:spPr>
          <c:marker>
            <c:symbol val="triangle"/>
            <c:size val="5"/>
            <c:spPr>
              <a:solidFill>
                <a:srgbClr val="333333"/>
              </a:solidFill>
              <a:ln>
                <a:solidFill>
                  <a:srgbClr val="333333"/>
                </a:solidFill>
                <a:prstDash val="solid"/>
              </a:ln>
            </c:spPr>
          </c:marker>
          <c:xVal>
            <c:numRef>
              <c:f>'cpe2'!$B$2:$AE$2</c:f>
              <c:numCache>
                <c:formatCode>General</c:formatCode>
                <c:ptCount val="30"/>
                <c:pt idx="0">
                  <c:v>0</c:v>
                </c:pt>
                <c:pt idx="1">
                  <c:v>193</c:v>
                </c:pt>
                <c:pt idx="2">
                  <c:v>120</c:v>
                </c:pt>
                <c:pt idx="3">
                  <c:v>91</c:v>
                </c:pt>
                <c:pt idx="4">
                  <c:v>95</c:v>
                </c:pt>
                <c:pt idx="5">
                  <c:v>196</c:v>
                </c:pt>
                <c:pt idx="6">
                  <c:v>97</c:v>
                </c:pt>
                <c:pt idx="7">
                  <c:v>181</c:v>
                </c:pt>
                <c:pt idx="8">
                  <c:v>91</c:v>
                </c:pt>
                <c:pt idx="9">
                  <c:v>83</c:v>
                </c:pt>
                <c:pt idx="10">
                  <c:v>43</c:v>
                </c:pt>
                <c:pt idx="11">
                  <c:v>183</c:v>
                </c:pt>
                <c:pt idx="12">
                  <c:v>140</c:v>
                </c:pt>
                <c:pt idx="13">
                  <c:v>146</c:v>
                </c:pt>
                <c:pt idx="14">
                  <c:v>94</c:v>
                </c:pt>
                <c:pt idx="15">
                  <c:v>134</c:v>
                </c:pt>
                <c:pt idx="16">
                  <c:v>163</c:v>
                </c:pt>
                <c:pt idx="17">
                  <c:v>131</c:v>
                </c:pt>
                <c:pt idx="18">
                  <c:v>110</c:v>
                </c:pt>
                <c:pt idx="19">
                  <c:v>182</c:v>
                </c:pt>
                <c:pt idx="20">
                  <c:v>189</c:v>
                </c:pt>
                <c:pt idx="21">
                  <c:v>112</c:v>
                </c:pt>
                <c:pt idx="22">
                  <c:v>141</c:v>
                </c:pt>
                <c:pt idx="23">
                  <c:v>185</c:v>
                </c:pt>
                <c:pt idx="24">
                  <c:v>188</c:v>
                </c:pt>
                <c:pt idx="25">
                  <c:v>47</c:v>
                </c:pt>
                <c:pt idx="26">
                  <c:v>130</c:v>
                </c:pt>
                <c:pt idx="27">
                  <c:v>102</c:v>
                </c:pt>
                <c:pt idx="28">
                  <c:v>59</c:v>
                </c:pt>
                <c:pt idx="29">
                  <c:v>174</c:v>
                </c:pt>
              </c:numCache>
            </c:numRef>
          </c:xVal>
          <c:yVal>
            <c:numRef>
              <c:f>'cpe2'!$B$5:$AE$5</c:f>
              <c:numCache>
                <c:formatCode>General</c:formatCode>
                <c:ptCount val="30"/>
                <c:pt idx="1">
                  <c:v>1535.1</c:v>
                </c:pt>
                <c:pt idx="2">
                  <c:v>1100.4000000000001</c:v>
                </c:pt>
                <c:pt idx="3">
                  <c:v>921.9</c:v>
                </c:pt>
                <c:pt idx="4">
                  <c:v>940.8</c:v>
                </c:pt>
                <c:pt idx="5">
                  <c:v>1545.6</c:v>
                </c:pt>
                <c:pt idx="6">
                  <c:v>949.2</c:v>
                </c:pt>
                <c:pt idx="7">
                  <c:v>1455.3</c:v>
                </c:pt>
                <c:pt idx="8">
                  <c:v>917.7</c:v>
                </c:pt>
                <c:pt idx="9">
                  <c:v>865.2</c:v>
                </c:pt>
                <c:pt idx="10">
                  <c:v>623.70000000000005</c:v>
                </c:pt>
                <c:pt idx="11">
                  <c:v>1467.9</c:v>
                </c:pt>
                <c:pt idx="12">
                  <c:v>1209.5999999999999</c:v>
                </c:pt>
                <c:pt idx="13">
                  <c:v>1253.7</c:v>
                </c:pt>
                <c:pt idx="14">
                  <c:v>936.6</c:v>
                </c:pt>
                <c:pt idx="15">
                  <c:v>1173.9000000000001</c:v>
                </c:pt>
                <c:pt idx="16">
                  <c:v>1352.4</c:v>
                </c:pt>
                <c:pt idx="17">
                  <c:v>1150.8</c:v>
                </c:pt>
                <c:pt idx="18">
                  <c:v>1029</c:v>
                </c:pt>
                <c:pt idx="19">
                  <c:v>1461.6</c:v>
                </c:pt>
                <c:pt idx="20">
                  <c:v>1509.9</c:v>
                </c:pt>
                <c:pt idx="21">
                  <c:v>1039.5</c:v>
                </c:pt>
                <c:pt idx="22">
                  <c:v>1215.9000000000001</c:v>
                </c:pt>
                <c:pt idx="23">
                  <c:v>1478.4</c:v>
                </c:pt>
                <c:pt idx="24">
                  <c:v>1505.7</c:v>
                </c:pt>
                <c:pt idx="25">
                  <c:v>642.6</c:v>
                </c:pt>
                <c:pt idx="26">
                  <c:v>1152.9000000000001</c:v>
                </c:pt>
                <c:pt idx="27">
                  <c:v>987</c:v>
                </c:pt>
                <c:pt idx="28">
                  <c:v>732.9</c:v>
                </c:pt>
                <c:pt idx="29">
                  <c:v>1419.6</c:v>
                </c:pt>
              </c:numCache>
            </c:numRef>
          </c:yVal>
          <c:smooth val="0"/>
          <c:extLst>
            <c:ext xmlns:c16="http://schemas.microsoft.com/office/drawing/2014/chart" uri="{C3380CC4-5D6E-409C-BE32-E72D297353CC}">
              <c16:uniqueId val="{00000002-6797-43E3-958A-EF62DD1BCE4A}"/>
            </c:ext>
          </c:extLst>
        </c:ser>
        <c:ser>
          <c:idx val="3"/>
          <c:order val="3"/>
          <c:tx>
            <c:strRef>
              <c:f>'cpe2'!$A$6</c:f>
              <c:strCache>
                <c:ptCount val="1"/>
                <c:pt idx="0">
                  <c:v>psum2i</c:v>
                </c:pt>
              </c:strCache>
            </c:strRef>
          </c:tx>
          <c:spPr>
            <a:ln w="12700">
              <a:solidFill>
                <a:srgbClr val="000000"/>
              </a:solidFill>
              <a:prstDash val="solid"/>
            </a:ln>
          </c:spPr>
          <c:marker>
            <c:symbol val="none"/>
          </c:marker>
          <c:xVal>
            <c:numRef>
              <c:f>'cpe2'!$B$2:$AE$2</c:f>
              <c:numCache>
                <c:formatCode>General</c:formatCode>
                <c:ptCount val="30"/>
                <c:pt idx="0">
                  <c:v>0</c:v>
                </c:pt>
                <c:pt idx="1">
                  <c:v>193</c:v>
                </c:pt>
                <c:pt idx="2">
                  <c:v>120</c:v>
                </c:pt>
                <c:pt idx="3">
                  <c:v>91</c:v>
                </c:pt>
                <c:pt idx="4">
                  <c:v>95</c:v>
                </c:pt>
                <c:pt idx="5">
                  <c:v>196</c:v>
                </c:pt>
                <c:pt idx="6">
                  <c:v>97</c:v>
                </c:pt>
                <c:pt idx="7">
                  <c:v>181</c:v>
                </c:pt>
                <c:pt idx="8">
                  <c:v>91</c:v>
                </c:pt>
                <c:pt idx="9">
                  <c:v>83</c:v>
                </c:pt>
                <c:pt idx="10">
                  <c:v>43</c:v>
                </c:pt>
                <c:pt idx="11">
                  <c:v>183</c:v>
                </c:pt>
                <c:pt idx="12">
                  <c:v>140</c:v>
                </c:pt>
                <c:pt idx="13">
                  <c:v>146</c:v>
                </c:pt>
                <c:pt idx="14">
                  <c:v>94</c:v>
                </c:pt>
                <c:pt idx="15">
                  <c:v>134</c:v>
                </c:pt>
                <c:pt idx="16">
                  <c:v>163</c:v>
                </c:pt>
                <c:pt idx="17">
                  <c:v>131</c:v>
                </c:pt>
                <c:pt idx="18">
                  <c:v>110</c:v>
                </c:pt>
                <c:pt idx="19">
                  <c:v>182</c:v>
                </c:pt>
                <c:pt idx="20">
                  <c:v>189</c:v>
                </c:pt>
                <c:pt idx="21">
                  <c:v>112</c:v>
                </c:pt>
                <c:pt idx="22">
                  <c:v>141</c:v>
                </c:pt>
                <c:pt idx="23">
                  <c:v>185</c:v>
                </c:pt>
                <c:pt idx="24">
                  <c:v>188</c:v>
                </c:pt>
                <c:pt idx="25">
                  <c:v>47</c:v>
                </c:pt>
                <c:pt idx="26">
                  <c:v>130</c:v>
                </c:pt>
                <c:pt idx="27">
                  <c:v>102</c:v>
                </c:pt>
                <c:pt idx="28">
                  <c:v>59</c:v>
                </c:pt>
                <c:pt idx="29">
                  <c:v>174</c:v>
                </c:pt>
              </c:numCache>
            </c:numRef>
          </c:xVal>
          <c:yVal>
            <c:numRef>
              <c:f>'cpe2'!$B$6:$AE$6</c:f>
              <c:numCache>
                <c:formatCode>General</c:formatCode>
                <c:ptCount val="30"/>
                <c:pt idx="0">
                  <c:v>367.66</c:v>
                </c:pt>
                <c:pt idx="1">
                  <c:v>1531.11</c:v>
                </c:pt>
                <c:pt idx="2">
                  <c:v>1091.05</c:v>
                </c:pt>
                <c:pt idx="3">
                  <c:v>916.23</c:v>
                </c:pt>
                <c:pt idx="4">
                  <c:v>940.33999999999912</c:v>
                </c:pt>
                <c:pt idx="5">
                  <c:v>1549.2</c:v>
                </c:pt>
                <c:pt idx="6">
                  <c:v>952.4</c:v>
                </c:pt>
                <c:pt idx="7">
                  <c:v>1458.77</c:v>
                </c:pt>
                <c:pt idx="8">
                  <c:v>916.23</c:v>
                </c:pt>
                <c:pt idx="9">
                  <c:v>868.01</c:v>
                </c:pt>
                <c:pt idx="10">
                  <c:v>626.87</c:v>
                </c:pt>
                <c:pt idx="11">
                  <c:v>1470.83</c:v>
                </c:pt>
                <c:pt idx="12">
                  <c:v>1211.6199999999999</c:v>
                </c:pt>
                <c:pt idx="13">
                  <c:v>1247.79</c:v>
                </c:pt>
                <c:pt idx="14">
                  <c:v>934.31999999999937</c:v>
                </c:pt>
                <c:pt idx="15">
                  <c:v>1175.45</c:v>
                </c:pt>
                <c:pt idx="16">
                  <c:v>1350.27</c:v>
                </c:pt>
                <c:pt idx="17">
                  <c:v>1157.3599999999999</c:v>
                </c:pt>
                <c:pt idx="18">
                  <c:v>1030.77</c:v>
                </c:pt>
                <c:pt idx="19">
                  <c:v>1464.8</c:v>
                </c:pt>
                <c:pt idx="20">
                  <c:v>1507</c:v>
                </c:pt>
                <c:pt idx="21">
                  <c:v>1042.82</c:v>
                </c:pt>
                <c:pt idx="22">
                  <c:v>1217.6400000000001</c:v>
                </c:pt>
                <c:pt idx="23">
                  <c:v>1482.89</c:v>
                </c:pt>
                <c:pt idx="24">
                  <c:v>1500.97</c:v>
                </c:pt>
                <c:pt idx="25">
                  <c:v>650.99</c:v>
                </c:pt>
                <c:pt idx="26">
                  <c:v>1151.33</c:v>
                </c:pt>
                <c:pt idx="27">
                  <c:v>982.54</c:v>
                </c:pt>
                <c:pt idx="28">
                  <c:v>723.32999999999936</c:v>
                </c:pt>
                <c:pt idx="29">
                  <c:v>1416.58</c:v>
                </c:pt>
              </c:numCache>
            </c:numRef>
          </c:yVal>
          <c:smooth val="0"/>
          <c:extLst>
            <c:ext xmlns:c16="http://schemas.microsoft.com/office/drawing/2014/chart" uri="{C3380CC4-5D6E-409C-BE32-E72D297353CC}">
              <c16:uniqueId val="{00000003-6797-43E3-958A-EF62DD1BCE4A}"/>
            </c:ext>
          </c:extLst>
        </c:ser>
        <c:dLbls>
          <c:showLegendKey val="0"/>
          <c:showVal val="0"/>
          <c:showCatName val="0"/>
          <c:showSerName val="0"/>
          <c:showPercent val="0"/>
          <c:showBubbleSize val="0"/>
        </c:dLbls>
        <c:axId val="84502784"/>
        <c:axId val="84503360"/>
      </c:scatterChart>
      <c:valAx>
        <c:axId val="84502784"/>
        <c:scaling>
          <c:orientation val="minMax"/>
          <c:max val="200"/>
        </c:scaling>
        <c:delete val="0"/>
        <c:axPos val="b"/>
        <c:title>
          <c:tx>
            <c:rich>
              <a:bodyPr/>
              <a:lstStyle/>
              <a:p>
                <a:pPr>
                  <a:defRPr sz="1075" b="1" i="0" u="none" strike="noStrike" baseline="0">
                    <a:solidFill>
                      <a:srgbClr val="000000"/>
                    </a:solidFill>
                    <a:latin typeface="Arial"/>
                    <a:ea typeface="Arial"/>
                    <a:cs typeface="Arial"/>
                  </a:defRPr>
                </a:pPr>
                <a:r>
                  <a:rPr lang="en-US"/>
                  <a:t>Elements</a:t>
                </a:r>
              </a:p>
            </c:rich>
          </c:tx>
          <c:layout>
            <c:manualLayout>
              <c:xMode val="edge"/>
              <c:yMode val="edge"/>
              <c:x val="0.49022801302931601"/>
              <c:y val="0.90845267580988998"/>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75" b="0" i="0" u="none" strike="noStrike" baseline="0">
                <a:solidFill>
                  <a:srgbClr val="000000"/>
                </a:solidFill>
                <a:latin typeface="Arial"/>
                <a:ea typeface="Arial"/>
                <a:cs typeface="Arial"/>
              </a:defRPr>
            </a:pPr>
            <a:endParaRPr lang="en-US"/>
          </a:p>
        </c:txPr>
        <c:crossAx val="84503360"/>
        <c:crosses val="autoZero"/>
        <c:crossBetween val="midCat"/>
      </c:valAx>
      <c:valAx>
        <c:axId val="84503360"/>
        <c:scaling>
          <c:orientation val="minMax"/>
        </c:scaling>
        <c:delete val="0"/>
        <c:axPos val="l"/>
        <c:majorGridlines>
          <c:spPr>
            <a:ln w="3175">
              <a:solidFill>
                <a:srgbClr val="000000"/>
              </a:solidFill>
              <a:prstDash val="solid"/>
            </a:ln>
          </c:spPr>
        </c:majorGridlines>
        <c:title>
          <c:tx>
            <c:rich>
              <a:bodyPr/>
              <a:lstStyle/>
              <a:p>
                <a:pPr>
                  <a:defRPr sz="1075" b="1" i="0" u="none" strike="noStrike" baseline="0">
                    <a:solidFill>
                      <a:srgbClr val="000000"/>
                    </a:solidFill>
                    <a:latin typeface="Arial"/>
                    <a:ea typeface="Arial"/>
                    <a:cs typeface="Arial"/>
                  </a:defRPr>
                </a:pPr>
                <a:r>
                  <a:rPr lang="en-US"/>
                  <a:t>Cycles</a:t>
                </a:r>
              </a:p>
            </c:rich>
          </c:tx>
          <c:layout>
            <c:manualLayout>
              <c:xMode val="edge"/>
              <c:yMode val="edge"/>
              <c:x val="2.6058631921824098E-2"/>
              <c:y val="0.38967234729461597"/>
            </c:manualLayout>
          </c:layout>
          <c:overlay val="0"/>
          <c:spPr>
            <a:noFill/>
            <a:ln w="25400">
              <a:noFill/>
            </a:ln>
          </c:spPr>
        </c:title>
        <c:numFmt formatCode="General" sourceLinked="1"/>
        <c:majorTickMark val="out"/>
        <c:minorTickMark val="none"/>
        <c:tickLblPos val="nextTo"/>
        <c:spPr>
          <a:ln w="3175">
            <a:solidFill>
              <a:srgbClr val="000000"/>
            </a:solidFill>
            <a:prstDash val="solid"/>
          </a:ln>
        </c:spPr>
        <c:txPr>
          <a:bodyPr rot="0" vert="horz"/>
          <a:lstStyle/>
          <a:p>
            <a:pPr>
              <a:defRPr sz="1075" b="0" i="0" u="none" strike="noStrike" baseline="0">
                <a:solidFill>
                  <a:srgbClr val="000000"/>
                </a:solidFill>
                <a:latin typeface="Arial"/>
                <a:ea typeface="Arial"/>
                <a:cs typeface="Arial"/>
              </a:defRPr>
            </a:pPr>
            <a:endParaRPr lang="en-US"/>
          </a:p>
        </c:txPr>
        <c:crossAx val="84502784"/>
        <c:crosses val="autoZero"/>
        <c:crossBetween val="midCat"/>
      </c:valAx>
      <c:spPr>
        <a:noFill/>
        <a:ln w="12700">
          <a:solidFill>
            <a:srgbClr val="808080"/>
          </a:solidFill>
          <a:prstDash val="solid"/>
        </a:ln>
      </c:spPr>
    </c:plotArea>
    <c:plotVisOnly val="1"/>
    <c:dispBlanksAs val="gap"/>
    <c:showDLblsOverMax val="0"/>
  </c:chart>
  <c:spPr>
    <a:solidFill>
      <a:srgbClr val="FFFFFF"/>
    </a:solidFill>
    <a:ln w="3175">
      <a:solidFill>
        <a:srgbClr val="000000"/>
      </a:solidFill>
      <a:prstDash val="solid"/>
    </a:ln>
  </c:spPr>
  <c:txPr>
    <a:bodyPr/>
    <a:lstStyle/>
    <a:p>
      <a:pPr>
        <a:defRPr sz="1075" b="0" i="0" u="none" strike="noStrike" baseline="0">
          <a:solidFill>
            <a:srgbClr val="000000"/>
          </a:solidFill>
          <a:latin typeface="Arial"/>
          <a:ea typeface="Arial"/>
          <a:cs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5BDCE37-E9BE-4280-8D68-34E43D66CEDB}" type="datetimeFigureOut">
              <a:rPr lang="zh-TW" altLang="en-US" smtClean="0"/>
              <a:t>2026/4/21</a:t>
            </a:fld>
            <a:endParaRPr lang="zh-TW" alt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32BED679-6CF9-4493-8C9A-6F31F985AAEA}" type="slidenum">
              <a:rPr lang="zh-TW" altLang="en-US" smtClean="0"/>
              <a:t>‹#›</a:t>
            </a:fld>
            <a:endParaRPr lang="zh-TW"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BFBA883-381C-409E-9635-BB54B21745E4}" type="datetimeFigureOut">
              <a:rPr lang="zh-TW" altLang="en-US" smtClean="0"/>
              <a:t>2026/4/21</a:t>
            </a:fld>
            <a:endParaRPr lang="zh-TW" alt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86C40E4-B9C8-417B-AB00-3BF7F8038A2D}" type="slidenum">
              <a:rPr lang="zh-TW" altLang="en-US" smtClean="0"/>
              <a:t>‹#›</a:t>
            </a:fld>
            <a:endParaRPr lang="zh-TW"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en-US" alt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experience: 1) at Cray-2, the chief architect wrote a letter to Seymore Cray. 2) One deal with the Department of Defense (Now department of WAR). Our benchmark was 10% off. My change increased the performance saved 15millions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a:t>
            </a:fld>
            <a:endParaRPr lang="en-US"/>
          </a:p>
        </p:txBody>
      </p:sp>
    </p:spTree>
    <p:extLst>
      <p:ext uri="{BB962C8B-B14F-4D97-AF65-F5344CB8AC3E}">
        <p14:creationId xmlns:p14="http://schemas.microsoft.com/office/powerpoint/2010/main" val="7310122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experience: 1) at Cray-2, the chief architect wrote a letter to Seymore Cray. 2) One deal with the Department of Defense (Now department of WAR). Our benchmark was 10% off. My change increased the performance saved 15millions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3</a:t>
            </a:fld>
            <a:endParaRPr lang="en-US"/>
          </a:p>
        </p:txBody>
      </p:sp>
    </p:spTree>
    <p:extLst>
      <p:ext uri="{BB962C8B-B14F-4D97-AF65-F5344CB8AC3E}">
        <p14:creationId xmlns:p14="http://schemas.microsoft.com/office/powerpoint/2010/main" val="14135187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4</a:t>
            </a:fld>
            <a:endParaRPr lang="en-US"/>
          </a:p>
        </p:txBody>
      </p:sp>
    </p:spTree>
    <p:extLst>
      <p:ext uri="{BB962C8B-B14F-4D97-AF65-F5344CB8AC3E}">
        <p14:creationId xmlns:p14="http://schemas.microsoft.com/office/powerpoint/2010/main" val="358765302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5</a:t>
            </a:fld>
            <a:endParaRPr lang="en-US"/>
          </a:p>
        </p:txBody>
      </p:sp>
    </p:spTree>
    <p:extLst>
      <p:ext uri="{BB962C8B-B14F-4D97-AF65-F5344CB8AC3E}">
        <p14:creationId xmlns:p14="http://schemas.microsoft.com/office/powerpoint/2010/main" val="3938162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6</a:t>
            </a:fld>
            <a:endParaRPr lang="en-US"/>
          </a:p>
        </p:txBody>
      </p:sp>
    </p:spTree>
    <p:extLst>
      <p:ext uri="{BB962C8B-B14F-4D97-AF65-F5344CB8AC3E}">
        <p14:creationId xmlns:p14="http://schemas.microsoft.com/office/powerpoint/2010/main" val="7927828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7</a:t>
            </a:fld>
            <a:endParaRPr lang="en-US"/>
          </a:p>
        </p:txBody>
      </p:sp>
    </p:spTree>
    <p:extLst>
      <p:ext uri="{BB962C8B-B14F-4D97-AF65-F5344CB8AC3E}">
        <p14:creationId xmlns:p14="http://schemas.microsoft.com/office/powerpoint/2010/main" val="20800629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8</a:t>
            </a:fld>
            <a:endParaRPr lang="en-US"/>
          </a:p>
        </p:txBody>
      </p:sp>
    </p:spTree>
    <p:extLst>
      <p:ext uri="{BB962C8B-B14F-4D97-AF65-F5344CB8AC3E}">
        <p14:creationId xmlns:p14="http://schemas.microsoft.com/office/powerpoint/2010/main" val="12206197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9</a:t>
            </a:fld>
            <a:endParaRPr lang="en-US"/>
          </a:p>
        </p:txBody>
      </p:sp>
    </p:spTree>
    <p:extLst>
      <p:ext uri="{BB962C8B-B14F-4D97-AF65-F5344CB8AC3E}">
        <p14:creationId xmlns:p14="http://schemas.microsoft.com/office/powerpoint/2010/main" val="1075194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10</a:t>
            </a:fld>
            <a:endParaRPr lang="en-US"/>
          </a:p>
        </p:txBody>
      </p:sp>
    </p:spTree>
    <p:extLst>
      <p:ext uri="{BB962C8B-B14F-4D97-AF65-F5344CB8AC3E}">
        <p14:creationId xmlns:p14="http://schemas.microsoft.com/office/powerpoint/2010/main" val="26862984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do we define “make this as efficient as possible” in a way that a computer can carry out?</a:t>
            </a:r>
          </a:p>
          <a:p>
            <a:endParaRPr lang="en-US" dirty="0"/>
          </a:p>
          <a:p>
            <a:r>
              <a:rPr lang="en-US" dirty="0"/>
              <a:t>One obvious goal is to minimize the number of instructions we execute.  Don’t do the same calculation over and over again.  Don’t do unnecessary calculations at all.</a:t>
            </a:r>
          </a:p>
          <a:p>
            <a:endParaRPr lang="en-US" dirty="0"/>
          </a:p>
          <a:p>
            <a:r>
              <a:rPr lang="en-US" dirty="0"/>
              <a:t>Another obvious goal, as you’re seeing right now in cache lab, is to avoid waiting for memory.  That means making the best possible use of the registers, and accessing memory in a pattern that maximizes locality, and stuff like that.</a:t>
            </a:r>
          </a:p>
          <a:p>
            <a:endParaRPr lang="en-US" dirty="0"/>
          </a:p>
          <a:p>
            <a:r>
              <a:rPr lang="en-US" dirty="0"/>
              <a:t>And another important goal, for reasons we’ll talk about later today, is to avoid branching, especially unpredictable branching.</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11</a:t>
            </a:fld>
            <a:endParaRPr lang="en-US"/>
          </a:p>
        </p:txBody>
      </p:sp>
    </p:spTree>
    <p:extLst>
      <p:ext uri="{BB962C8B-B14F-4D97-AF65-F5344CB8AC3E}">
        <p14:creationId xmlns:p14="http://schemas.microsoft.com/office/powerpoint/2010/main" val="31608207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spect="1" noChangeArrowheads="1" noTextEdit="1"/>
          </p:cNvSpPr>
          <p:nvPr>
            <p:ph type="sldImg"/>
          </p:nvPr>
        </p:nvSpPr>
        <p:spPr>
          <a:ln/>
        </p:spPr>
      </p:sp>
      <p:sp>
        <p:nvSpPr>
          <p:cNvPr id="28675" name="Rectangle 3"/>
          <p:cNvSpPr>
            <a:spLocks noGrp="1" noChangeArrowheads="1"/>
          </p:cNvSpPr>
          <p:nvPr>
            <p:ph type="body" idx="1"/>
          </p:nvPr>
        </p:nvSpPr>
        <p:spPr>
          <a:noFill/>
          <a:ln w="9525"/>
        </p:spPr>
        <p:txBody>
          <a:bodyPr/>
          <a:lstStyle/>
          <a:p>
            <a:r>
              <a:rPr lang="en-US" dirty="0"/>
              <a:t>Compilers aren’t magic and they aren’t creative. This means they can’t do everything for you.</a:t>
            </a:r>
          </a:p>
          <a:p>
            <a:r>
              <a:rPr lang="en-US" dirty="0"/>
              <a:t>In most cases they can’t make your </a:t>
            </a:r>
            <a:r>
              <a:rPr lang="en-US" i="1" dirty="0"/>
              <a:t>algorithm</a:t>
            </a:r>
            <a:r>
              <a:rPr lang="en-US" dirty="0"/>
              <a:t> better.  They can edit all the unnecessary instructions out of your bubble sort, but it will still be bubble sort, not quicksort.</a:t>
            </a:r>
          </a:p>
          <a:p>
            <a:r>
              <a:rPr lang="en-US" dirty="0"/>
              <a:t>They don’t know what’s in or out of scope of your design, so they can’t change any behavior, not even edge-case behavior you never cared about… unless the language says it’s OK. A language spec might allow its compilers to apply the associative law to floating-point calculations even though floating point arithmetic isn’t associative.</a:t>
            </a:r>
          </a:p>
          <a:p>
            <a:r>
              <a:rPr lang="en-US" dirty="0"/>
              <a:t>They usually only look at one function at a time, just to keep compilation time down—except that </a:t>
            </a:r>
            <a:r>
              <a:rPr lang="en-US" i="1" dirty="0" err="1"/>
              <a:t>inlining</a:t>
            </a:r>
            <a:r>
              <a:rPr lang="en-US" dirty="0"/>
              <a:t> merges many functions into one.</a:t>
            </a:r>
          </a:p>
          <a:p>
            <a:r>
              <a:rPr lang="en-US" dirty="0"/>
              <a:t>And they typically have no information about what will happen when the program is run.  </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fundamental idea in compiler theory is the control flow graph.  That was Fran Allen’s insight: draw a flowchart of all the decisions that the program makes, and use mathematical graph theory to analyze it.  It’s a directed graph and it can have cycles – those are the loops. </a:t>
            </a:r>
          </a:p>
          <a:p>
            <a:endParaRPr lang="en-US" dirty="0"/>
          </a:p>
          <a:p>
            <a:r>
              <a:rPr lang="en-US" dirty="0"/>
              <a:t>We can divide optimizations into two classes based on how they interact with the control flow graph. Local optimizations work on one basic block at a time – that’s a chunk of “straight line” code, containing neither </a:t>
            </a:r>
            <a:r>
              <a:rPr lang="en-US" dirty="0" err="1"/>
              <a:t>gotos</a:t>
            </a:r>
            <a:r>
              <a:rPr lang="en-US" dirty="0"/>
              <a:t> nor labels.  They have limited impact but they’re reliable.  Doing local optimizations is just about always a win.</a:t>
            </a:r>
          </a:p>
          <a:p>
            <a:endParaRPr lang="en-US" dirty="0"/>
          </a:p>
          <a:p>
            <a:r>
              <a:rPr lang="en-US" dirty="0"/>
              <a:t>Global optimizations, on the other hand, process an entire function at once.  They can move code between basic blocks and rearrange the graph.  They can be very powerful but they’re not always a good idea.</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13</a:t>
            </a:fld>
            <a:endParaRPr lang="en-US"/>
          </a:p>
        </p:txBody>
      </p:sp>
    </p:spTree>
    <p:extLst>
      <p:ext uri="{BB962C8B-B14F-4D97-AF65-F5344CB8AC3E}">
        <p14:creationId xmlns:p14="http://schemas.microsoft.com/office/powerpoint/2010/main" val="8747055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the most obvious local optimization there is: if you can have the compiler do some math, instead of doing it when the program is run, that’s a win.  For example, you remember all those wacky expressions you had to write in data lab to get big constants? If you go back and disassemble your solutions you’ll probably see hex FF00 instead of hex FF shift left 8, and so on.</a:t>
            </a:r>
          </a:p>
          <a:p>
            <a:endParaRPr lang="en-US" dirty="0"/>
          </a:p>
          <a:p>
            <a:r>
              <a:rPr lang="en-US" dirty="0"/>
              <a:t>Really clever compilers might be able to fold through C library functions with constant arguments.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14</a:t>
            </a:fld>
            <a:endParaRPr lang="en-US"/>
          </a:p>
        </p:txBody>
      </p:sp>
    </p:spTree>
    <p:extLst>
      <p:ext uri="{BB962C8B-B14F-4D97-AF65-F5344CB8AC3E}">
        <p14:creationId xmlns:p14="http://schemas.microsoft.com/office/powerpoint/2010/main" val="42659805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Probably the most obvious local optimization there is: if you can have the compiler do some math, instead of doing it when the program is run, that’s a win.  For example, you remember all those wacky expressions you had to write in data lab to get big constants? If you go back and disassemble your solutions you’ll probably see hex FF00 instead of hex FF shift left 8, and so on.</a:t>
            </a:r>
          </a:p>
          <a:p>
            <a:endParaRPr lang="en-US" dirty="0"/>
          </a:p>
          <a:p>
            <a:r>
              <a:rPr lang="en-US" dirty="0"/>
              <a:t>Really clever compilers might be able to fold through C library functions with constant arguments.</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15</a:t>
            </a:fld>
            <a:endParaRPr lang="en-US"/>
          </a:p>
        </p:txBody>
      </p:sp>
    </p:spTree>
    <p:extLst>
      <p:ext uri="{BB962C8B-B14F-4D97-AF65-F5344CB8AC3E}">
        <p14:creationId xmlns:p14="http://schemas.microsoft.com/office/powerpoint/2010/main" val="38653586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code is never going to be executed, don’t write it out!  And don’t do any calculations that would only be used by code that’s never executed, or that has its result overwritten before it’s used.</a:t>
            </a:r>
          </a:p>
          <a:p>
            <a:endParaRPr lang="en-US" dirty="0"/>
          </a:p>
          <a:p>
            <a:r>
              <a:rPr lang="en-US" dirty="0"/>
              <a:t>You might be thinking “why would anyone write that in the first place?” but other optimizations often make code be dead.  Maybe that “if zero” was “if some arithmetic that the constant folder evaluated to zero” in the source code.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16</a:t>
            </a:fld>
            <a:endParaRPr lang="en-US"/>
          </a:p>
        </p:txBody>
      </p:sp>
    </p:spTree>
    <p:extLst>
      <p:ext uri="{BB962C8B-B14F-4D97-AF65-F5344CB8AC3E}">
        <p14:creationId xmlns:p14="http://schemas.microsoft.com/office/powerpoint/2010/main" val="14909210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got to do a calculation, only do it once, and remember the result.  This complex expression reads from memory four times, but we can calculate the address of v[</a:t>
            </a:r>
            <a:r>
              <a:rPr lang="en-US" dirty="0" err="1"/>
              <a:t>i</a:t>
            </a:r>
            <a:r>
              <a:rPr lang="en-US" dirty="0"/>
              <a:t>] just once…</a:t>
            </a:r>
          </a:p>
          <a:p>
            <a:endParaRPr lang="en-US" dirty="0"/>
          </a:p>
          <a:p>
            <a:r>
              <a:rPr lang="en-US" dirty="0"/>
              <a:t>… and we can load dot x and dot y from memory once each</a:t>
            </a:r>
          </a:p>
          <a:p>
            <a:endParaRPr lang="en-US" dirty="0"/>
          </a:p>
          <a:p>
            <a:r>
              <a:rPr lang="en-US" dirty="0"/>
              <a:t>… and finally we can do all the arithmetic in registers.</a:t>
            </a:r>
          </a:p>
          <a:p>
            <a:endParaRPr lang="en-US" dirty="0"/>
          </a:p>
          <a:p>
            <a:r>
              <a:rPr lang="en-US" dirty="0"/>
              <a:t>This can be a local or a global optimization and there are at least five different algorithms for it.</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17</a:t>
            </a:fld>
            <a:endParaRPr lang="en-US"/>
          </a:p>
        </p:txBody>
      </p:sp>
    </p:spTree>
    <p:extLst>
      <p:ext uri="{BB962C8B-B14F-4D97-AF65-F5344CB8AC3E}">
        <p14:creationId xmlns:p14="http://schemas.microsoft.com/office/powerpoint/2010/main" val="308291173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you’ve got to do a calculation, only do it once, and remember the result.  This complex expression reads from memory four times, but we can calculate the address of v[</a:t>
            </a:r>
            <a:r>
              <a:rPr lang="en-US" dirty="0" err="1"/>
              <a:t>i</a:t>
            </a:r>
            <a:r>
              <a:rPr lang="en-US" dirty="0"/>
              <a:t>] just once…</a:t>
            </a:r>
          </a:p>
          <a:p>
            <a:endParaRPr lang="en-US" dirty="0"/>
          </a:p>
          <a:p>
            <a:r>
              <a:rPr lang="en-US" dirty="0"/>
              <a:t>… and we can load dot x and dot y from memory once each</a:t>
            </a:r>
          </a:p>
          <a:p>
            <a:endParaRPr lang="en-US" dirty="0"/>
          </a:p>
          <a:p>
            <a:r>
              <a:rPr lang="en-US" dirty="0"/>
              <a:t>… and finally we can do all the arithmetic in registers.</a:t>
            </a:r>
          </a:p>
          <a:p>
            <a:endParaRPr lang="en-US" dirty="0"/>
          </a:p>
          <a:p>
            <a:r>
              <a:rPr lang="en-US" dirty="0"/>
              <a:t>This can be a local or a global optimization and there are at least five different algorithms for it.</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18</a:t>
            </a:fld>
            <a:endParaRPr lang="en-US"/>
          </a:p>
        </p:txBody>
      </p:sp>
    </p:spTree>
    <p:extLst>
      <p:ext uri="{BB962C8B-B14F-4D97-AF65-F5344CB8AC3E}">
        <p14:creationId xmlns:p14="http://schemas.microsoft.com/office/powerpoint/2010/main" val="285285096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spect="1" noChangeArrowheads="1" noTextEdit="1"/>
          </p:cNvSpPr>
          <p:nvPr>
            <p:ph type="sldImg"/>
          </p:nvPr>
        </p:nvSpPr>
        <p:spPr>
          <a:ln/>
        </p:spPr>
      </p:sp>
      <p:sp>
        <p:nvSpPr>
          <p:cNvPr id="29699" name="Rectangle 3"/>
          <p:cNvSpPr>
            <a:spLocks noGrp="1" noChangeArrowheads="1"/>
          </p:cNvSpPr>
          <p:nvPr>
            <p:ph type="body" idx="1"/>
          </p:nvPr>
        </p:nvSpPr>
        <p:spPr>
          <a:noFill/>
          <a:ln w="9525"/>
        </p:spPr>
        <p:txBody>
          <a:bodyPr/>
          <a:lstStyle/>
          <a:p>
            <a:r>
              <a:rPr lang="en-US" dirty="0"/>
              <a:t>Sometimes a program computes the same value over and over because the expression is inside a loop.  If every iteration of the loop computes the same result, we say the calculation is a ‘loop invariant’ and we move it to above the loop.  It’s CSE in time instead of space.  In the example, n times I is invariant so we make a temp variable for it.</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global optimizations is </a:t>
            </a:r>
            <a:r>
              <a:rPr lang="en-US" dirty="0" err="1"/>
              <a:t>inlining</a:t>
            </a:r>
            <a:r>
              <a:rPr lang="en-US" dirty="0"/>
              <a:t>.  Take a short function and copy its body in place of all calls to it.  Obviously this cuts out the function call overhead, but it also gets around that one-function-at-a-time restriction and gives the compiler opportunities to do more other optimizations.  Here we have two simple functions and there’s not much to do to either one by itself, but if we combine them…</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20</a:t>
            </a:fld>
            <a:endParaRPr lang="en-US"/>
          </a:p>
        </p:txBody>
      </p:sp>
    </p:spTree>
    <p:extLst>
      <p:ext uri="{BB962C8B-B14F-4D97-AF65-F5344CB8AC3E}">
        <p14:creationId xmlns:p14="http://schemas.microsoft.com/office/powerpoint/2010/main" val="37515991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each of the function calls is an expression that we can optimize based on the value of x at each call site.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21</a:t>
            </a:fld>
            <a:endParaRPr lang="en-US"/>
          </a:p>
        </p:txBody>
      </p:sp>
    </p:spTree>
    <p:extLst>
      <p:ext uri="{BB962C8B-B14F-4D97-AF65-F5344CB8AC3E}">
        <p14:creationId xmlns:p14="http://schemas.microsoft.com/office/powerpoint/2010/main" val="136831072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And so </a:t>
            </a:r>
            <a:r>
              <a:rPr lang="en-US" dirty="0" err="1"/>
              <a:t>inlining</a:t>
            </a:r>
            <a:r>
              <a:rPr lang="en-US" dirty="0"/>
              <a:t> plus local optimizations produces this much simpler function.</a:t>
            </a:r>
          </a:p>
          <a:p>
            <a:endParaRPr lang="en-US" dirty="0"/>
          </a:p>
          <a:p>
            <a:r>
              <a:rPr lang="en-US" dirty="0"/>
              <a:t>This kind of opportunity to simplify the code after </a:t>
            </a:r>
            <a:r>
              <a:rPr lang="en-US" dirty="0" err="1"/>
              <a:t>inlining</a:t>
            </a:r>
            <a:r>
              <a:rPr lang="en-US" dirty="0"/>
              <a:t>, comes up a whole lot in C++ with template functions.  If you ever wondered why almost the entire implementation of std::string and std::map is in the header files?  It’s so the compiler can inline all of it and then simplify it down to the cases that matter for the actual program.</a:t>
            </a:r>
          </a:p>
          <a:p>
            <a:endParaRPr lang="en-US" dirty="0"/>
          </a:p>
          <a:p>
            <a:r>
              <a:rPr lang="en-US" dirty="0"/>
              <a:t>The catch to </a:t>
            </a:r>
            <a:r>
              <a:rPr lang="en-US" dirty="0" err="1"/>
              <a:t>inlining</a:t>
            </a:r>
            <a:r>
              <a:rPr lang="en-US" dirty="0"/>
              <a:t> is that if you do it too much, the program can become really big.  Too big for the instruction cache.  That makes it slow no matter what.</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22</a:t>
            </a:fld>
            <a:endParaRPr lang="en-US"/>
          </a:p>
        </p:txBody>
      </p:sp>
    </p:spTree>
    <p:extLst>
      <p:ext uri="{BB962C8B-B14F-4D97-AF65-F5344CB8AC3E}">
        <p14:creationId xmlns:p14="http://schemas.microsoft.com/office/powerpoint/2010/main" val="303050278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most important global optimizations is </a:t>
            </a:r>
            <a:r>
              <a:rPr lang="en-US" dirty="0" err="1"/>
              <a:t>inlining</a:t>
            </a:r>
            <a:r>
              <a:rPr lang="en-US" dirty="0"/>
              <a:t>.  Take a short function and copy its body in place of all calls to it.  Obviously this cuts out the function call overhead, but it also gets around that one-function-at-a-time restriction and gives the compiler opportunities to do more other optimizations.  Here we have two simple functions and there’s not much to do to either one by itself, but if we combine them…</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23</a:t>
            </a:fld>
            <a:endParaRPr lang="en-US"/>
          </a:p>
        </p:txBody>
      </p:sp>
    </p:spTree>
    <p:extLst>
      <p:ext uri="{BB962C8B-B14F-4D97-AF65-F5344CB8AC3E}">
        <p14:creationId xmlns:p14="http://schemas.microsoft.com/office/powerpoint/2010/main" val="427091665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w="9525"/>
        </p:spPr>
        <p:txBody>
          <a:bodyPr/>
          <a:lstStyle/>
          <a:p>
            <a:r>
              <a:rPr lang="en-US" dirty="0"/>
              <a:t>A is N-by-N square matrix and we want to sum up the values in each row and put the sums in another array B.</a:t>
            </a:r>
          </a:p>
          <a:p>
            <a:endParaRPr lang="en-US" dirty="0"/>
          </a:p>
          <a:p>
            <a:r>
              <a:rPr lang="en-US" dirty="0"/>
              <a:t>The compiler loads b[</a:t>
            </a:r>
            <a:r>
              <a:rPr lang="en-US" dirty="0" err="1"/>
              <a:t>i</a:t>
            </a:r>
            <a:r>
              <a:rPr lang="en-US" dirty="0"/>
              <a:t>] from memory, adds a[</a:t>
            </a:r>
            <a:r>
              <a:rPr lang="en-US" dirty="0" err="1"/>
              <a:t>i</a:t>
            </a:r>
            <a:r>
              <a:rPr lang="en-US" dirty="0"/>
              <a:t>][j], and writes it back, on each cycle.  Why?</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Rot="1" noChangeAspect="1" noChangeArrowheads="1" noTextEdit="1"/>
          </p:cNvSpPr>
          <p:nvPr>
            <p:ph type="sldImg"/>
          </p:nvPr>
        </p:nvSpPr>
        <p:spPr>
          <a:ln/>
        </p:spPr>
      </p:sp>
      <p:sp>
        <p:nvSpPr>
          <p:cNvPr id="40963" name="Rectangle 3"/>
          <p:cNvSpPr>
            <a:spLocks noGrp="1" noChangeArrowheads="1"/>
          </p:cNvSpPr>
          <p:nvPr>
            <p:ph type="body" idx="1"/>
          </p:nvPr>
        </p:nvSpPr>
        <p:spPr>
          <a:noFill/>
          <a:ln w="9525"/>
        </p:spPr>
        <p:txBody>
          <a:bodyPr/>
          <a:lstStyle/>
          <a:p>
            <a:r>
              <a:rPr lang="en-US" dirty="0"/>
              <a:t>A is N-by-N square matrix and we want to sum up the values in each row and put the sums in another array B.</a:t>
            </a:r>
          </a:p>
          <a:p>
            <a:endParaRPr lang="en-US" dirty="0"/>
          </a:p>
          <a:p>
            <a:r>
              <a:rPr lang="en-US" dirty="0"/>
              <a:t>The compiler loads b[</a:t>
            </a:r>
            <a:r>
              <a:rPr lang="en-US" dirty="0" err="1"/>
              <a:t>i</a:t>
            </a:r>
            <a:r>
              <a:rPr lang="en-US" dirty="0"/>
              <a:t>] from memory, adds a[</a:t>
            </a:r>
            <a:r>
              <a:rPr lang="en-US" dirty="0" err="1"/>
              <a:t>i</a:t>
            </a:r>
            <a:r>
              <a:rPr lang="en-US" dirty="0"/>
              <a:t>][j], and writes it back, on each cycle.  Why?</a:t>
            </a:r>
          </a:p>
        </p:txBody>
      </p:sp>
    </p:spTree>
    <p:extLst>
      <p:ext uri="{BB962C8B-B14F-4D97-AF65-F5344CB8AC3E}">
        <p14:creationId xmlns:p14="http://schemas.microsoft.com/office/powerpoint/2010/main" val="6677829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26</a:t>
            </a:fld>
            <a:endParaRPr lang="en-US"/>
          </a:p>
        </p:txBody>
      </p:sp>
    </p:spTree>
    <p:extLst>
      <p:ext uri="{BB962C8B-B14F-4D97-AF65-F5344CB8AC3E}">
        <p14:creationId xmlns:p14="http://schemas.microsoft.com/office/powerpoint/2010/main" val="32546469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Rot="1" noChangeAspect="1" noChangeArrowheads="1" noTextEdit="1"/>
          </p:cNvSpPr>
          <p:nvPr>
            <p:ph type="sldImg"/>
          </p:nvPr>
        </p:nvSpPr>
        <p:spPr>
          <a:ln/>
        </p:spPr>
      </p:sp>
      <p:sp>
        <p:nvSpPr>
          <p:cNvPr id="43011" name="Rectangle 3"/>
          <p:cNvSpPr>
            <a:spLocks noGrp="1" noChangeArrowheads="1"/>
          </p:cNvSpPr>
          <p:nvPr>
            <p:ph type="body" idx="1"/>
          </p:nvPr>
        </p:nvSpPr>
        <p:spPr>
          <a:noFill/>
          <a:ln w="9525"/>
        </p:spPr>
        <p:txBody>
          <a:bodyPr/>
          <a:lstStyle/>
          <a:p>
            <a:r>
              <a:rPr lang="en-US" dirty="0"/>
              <a:t>What can we do about it?  The simplest thing is to do the code motion by hand.  We use a local variable to hold the sum, and write to b[</a:t>
            </a:r>
            <a:r>
              <a:rPr lang="en-US" dirty="0" err="1"/>
              <a:t>i</a:t>
            </a:r>
            <a:r>
              <a:rPr lang="en-US" dirty="0"/>
              <a:t>] only once per outer loop.</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spect="1" noChangeArrowheads="1" noTextEdit="1"/>
          </p:cNvSpPr>
          <p:nvPr>
            <p:ph type="sldImg"/>
          </p:nvPr>
        </p:nvSpPr>
        <p:spPr>
          <a:ln/>
        </p:spPr>
      </p:sp>
      <p:sp>
        <p:nvSpPr>
          <p:cNvPr id="38915" name="Rectangle 3"/>
          <p:cNvSpPr>
            <a:spLocks noGrp="1" noChangeArrowheads="1"/>
          </p:cNvSpPr>
          <p:nvPr>
            <p:ph type="body" idx="1"/>
          </p:nvPr>
        </p:nvSpPr>
        <p:spPr>
          <a:noFill/>
          <a:ln w="9525"/>
        </p:spPr>
        <p:txBody>
          <a:bodyPr/>
          <a:lstStyle/>
          <a:p>
            <a:r>
              <a:rPr lang="en-US" dirty="0"/>
              <a:t>And because the compiler doesn’t know most of that, if you call </a:t>
            </a:r>
            <a:r>
              <a:rPr lang="en-US" dirty="0" err="1"/>
              <a:t>strlen</a:t>
            </a:r>
            <a:r>
              <a:rPr lang="en-US" dirty="0"/>
              <a:t> in a loop, it has to assume the result could change </a:t>
            </a:r>
            <a:r>
              <a:rPr lang="en-US" dirty="0" err="1"/>
              <a:t>evey</a:t>
            </a:r>
            <a:r>
              <a:rPr lang="en-US" dirty="0"/>
              <a:t> time.</a:t>
            </a:r>
          </a:p>
          <a:p>
            <a:endParaRPr lang="en-US" dirty="0"/>
          </a:p>
          <a:p>
            <a:r>
              <a:rPr lang="en-US" dirty="0"/>
              <a:t>In the function at the top, we have “for (I = 0, I &lt; </a:t>
            </a:r>
            <a:r>
              <a:rPr lang="en-US" dirty="0" err="1"/>
              <a:t>strlen</a:t>
            </a:r>
            <a:r>
              <a:rPr lang="en-US" dirty="0"/>
              <a:t>(s), I++)”, we’re calling </a:t>
            </a:r>
            <a:r>
              <a:rPr lang="en-US" dirty="0" err="1"/>
              <a:t>strlen</a:t>
            </a:r>
            <a:r>
              <a:rPr lang="en-US" dirty="0"/>
              <a:t>, which scans the whole string, for every character in the string, and that’s O(n squared) time complexity.  75 million instructions executed to lowercase 32k of text.</a:t>
            </a:r>
          </a:p>
          <a:p>
            <a:endParaRPr lang="en-US" dirty="0"/>
          </a:p>
          <a:p>
            <a:r>
              <a:rPr lang="en-US" dirty="0"/>
              <a:t>[space] GCC on the sharks does know that </a:t>
            </a:r>
            <a:r>
              <a:rPr lang="en-US" dirty="0" err="1"/>
              <a:t>strlen</a:t>
            </a:r>
            <a:r>
              <a:rPr lang="en-US" dirty="0"/>
              <a:t> is a “pure function”, meaning it doesn’t have any side effects and its return value only depends on its argument and the data pointed to by its argument.  That means it can assume </a:t>
            </a:r>
            <a:r>
              <a:rPr lang="en-US" dirty="0" err="1"/>
              <a:t>strlen</a:t>
            </a:r>
            <a:r>
              <a:rPr lang="en-US" dirty="0"/>
              <a:t> will return the same thing on each iteration UNLESS the loop changes the string.  So it only calls </a:t>
            </a:r>
            <a:r>
              <a:rPr lang="en-US" dirty="0" err="1"/>
              <a:t>strlen</a:t>
            </a:r>
            <a:r>
              <a:rPr lang="en-US" dirty="0"/>
              <a:t> right after each change. I generated the data for the graph with strings that were exactly 50 percent uppercase, so, the middle function is twice as fast, but it’s still quadratic.</a:t>
            </a:r>
          </a:p>
          <a:p>
            <a:endParaRPr lang="en-US" dirty="0"/>
          </a:p>
          <a:p>
            <a:r>
              <a:rPr lang="en-US" dirty="0"/>
              <a:t>[space] If we manually move the </a:t>
            </a:r>
            <a:r>
              <a:rPr lang="en-US" dirty="0" err="1"/>
              <a:t>strlen</a:t>
            </a:r>
            <a:r>
              <a:rPr lang="en-US" dirty="0"/>
              <a:t> call out of the loop and only call it once, now we get linear time complexity.</a:t>
            </a:r>
          </a:p>
          <a:p>
            <a:endParaRPr lang="en-US" dirty="0"/>
          </a:p>
          <a:p>
            <a:r>
              <a:rPr lang="en-US" dirty="0"/>
              <a:t>[space] This is called “accidentally quadratic” complexity because the programmer probably didn’t intend for lower to be this slow, but it is anyway.</a:t>
            </a:r>
          </a:p>
          <a:p>
            <a:endParaRPr lang="en-US" dirty="0"/>
          </a:p>
          <a:p>
            <a:r>
              <a:rPr lang="en-US" dirty="0"/>
              <a:t>Complexity theorists make a huge deal about the difference between polynomial and exponential time, but for practical purposes,</a:t>
            </a:r>
          </a:p>
          <a:p>
            <a:r>
              <a:rPr lang="en-US" dirty="0"/>
              <a:t>Quadratic is already too slow.</a:t>
            </a:r>
          </a:p>
          <a:p>
            <a:endParaRPr lang="en-US" dirty="0"/>
          </a:p>
          <a:p>
            <a:r>
              <a:rPr lang="en-US" dirty="0"/>
              <a:t>Even n log n can be too slow – database wranglers spend a lot of time avoiding sorting.</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2"/>
          <p:cNvSpPr>
            <a:spLocks noGrp="1" noRot="1" noChangeAspect="1" noChangeArrowheads="1" noTextEdit="1"/>
          </p:cNvSpPr>
          <p:nvPr>
            <p:ph type="sldImg"/>
          </p:nvPr>
        </p:nvSpPr>
        <p:spPr>
          <a:ln/>
        </p:spPr>
      </p:sp>
      <p:sp>
        <p:nvSpPr>
          <p:cNvPr id="68611" name="Rectangle 3"/>
          <p:cNvSpPr>
            <a:spLocks noGrp="1" noChangeArrowheads="1"/>
          </p:cNvSpPr>
          <p:nvPr>
            <p:ph type="body" idx="1"/>
          </p:nvPr>
        </p:nvSpPr>
        <p:spPr>
          <a:noFill/>
          <a:ln w="9525"/>
        </p:spPr>
        <p:txBody>
          <a:bodyPr/>
          <a:lstStyle/>
          <a:p>
            <a:r>
              <a:rPr lang="en-US" dirty="0"/>
              <a:t>To understand the goals of machine-dependent optimizations you have to understand what a modern CPU is like.  In the bottom part of the slide are the “functional units” that are actually doing the work. Each is specialized for a type of instruction – such as arithmetic, memory, and branching – and notice there are several arithmetic units, so it can do several arithmetic instructions at the same time.  There’s a bus that feeds data from the registers to the functional units, and another bus that takes the data back to the registers, and yet a third bus going from the load and store units out to the data cache.</a:t>
            </a:r>
          </a:p>
          <a:p>
            <a:endParaRPr lang="en-US" dirty="0"/>
          </a:p>
          <a:p>
            <a:r>
              <a:rPr lang="en-US" dirty="0"/>
              <a:t>Meanwhile, at the top of the slide, we have the control circuitry, whose job is to read instructions from memory and dispatch them to appropriate functional units.  It will try to keep all of them busy, even if that means executing instructions “out of order” – as soon as all the inputs to an instruction are available, and there’s a free functional unit that can process it, it goes, even if it was later in the machine code than other instructions that are still waiting.</a:t>
            </a:r>
          </a:p>
          <a:p>
            <a:endParaRPr lang="en-US" dirty="0"/>
          </a:p>
          <a:p>
            <a:r>
              <a:rPr lang="en-US" dirty="0"/>
              <a:t>This is just a taste – Professor Railing has an entire course about how these boxes are put together.  418.</a:t>
            </a:r>
          </a:p>
        </p:txBody>
      </p:sp>
    </p:spTree>
    <p:extLst>
      <p:ext uri="{BB962C8B-B14F-4D97-AF65-F5344CB8AC3E}">
        <p14:creationId xmlns:p14="http://schemas.microsoft.com/office/powerpoint/2010/main" val="296589194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would it make the code faster if you duplicate the loop body four times?</a:t>
            </a:r>
          </a:p>
          <a:p>
            <a:endParaRPr lang="en-US" dirty="0"/>
          </a:p>
          <a:p>
            <a:r>
              <a:rPr lang="en-US" dirty="0"/>
              <a:t>The most elemental reason is that it means you execute the loop condition and branch four times less often.  That probably doesn’t make a huge difference for this code, but suppose the value of “</a:t>
            </a:r>
            <a:r>
              <a:rPr lang="en-US" dirty="0" err="1"/>
              <a:t>nelts</a:t>
            </a:r>
            <a:r>
              <a:rPr lang="en-US" dirty="0"/>
              <a:t>” is super unpredictable except it’s always a multiple of four – then we just reduced the frequency of branch misprediction stalls by a factor of four.</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dirty="0"/>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It also creates opportunities for a bunch of other optimizations, which we’ll look at next.</a:t>
            </a:r>
          </a:p>
          <a:p>
            <a:endParaRPr lang="en-US" dirty="0"/>
          </a:p>
          <a:p>
            <a:r>
              <a:rPr lang="en-US" dirty="0"/>
              <a:t>You do have to watch out for increasing code size, though, like with </a:t>
            </a:r>
            <a:r>
              <a:rPr lang="en-US" dirty="0" err="1"/>
              <a:t>inlining</a:t>
            </a:r>
            <a:r>
              <a:rPr lang="en-US" dirty="0"/>
              <a:t>.  And you also have to watch out for running out of registers.  If there’s not enough registers to hold all of the variables and intermediates, this probably won’t be faster.</a:t>
            </a:r>
          </a:p>
          <a:p>
            <a:endParaRPr lang="en-US" dirty="0"/>
          </a:p>
          <a:p>
            <a:r>
              <a:rPr lang="en-US" dirty="0"/>
              <a:t>Also, I want to ask: [reveal] When is this change </a:t>
            </a:r>
            <a:r>
              <a:rPr lang="en-US" i="1" dirty="0"/>
              <a:t>incorrect</a:t>
            </a:r>
            <a:r>
              <a:rPr lang="en-US" dirty="0"/>
              <a:t>?</a:t>
            </a:r>
          </a:p>
          <a:p>
            <a:endParaRPr lang="en-US" dirty="0"/>
          </a:p>
          <a:p>
            <a:r>
              <a:rPr lang="en-US" dirty="0"/>
              <a:t>This change is incorrect when the number of elements is not a multiple of 4.  Sometimes the compiler can emit code to do the last few array elements separately from the loop, but that takes up even more space.</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30</a:t>
            </a:fld>
            <a:endParaRPr lang="en-US"/>
          </a:p>
        </p:txBody>
      </p:sp>
    </p:spTree>
    <p:extLst>
      <p:ext uri="{BB962C8B-B14F-4D97-AF65-F5344CB8AC3E}">
        <p14:creationId xmlns:p14="http://schemas.microsoft.com/office/powerpoint/2010/main" val="218673882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we have a lot of work to do within a basic block, maybe it doesn’t have to be done all in a straight line.  [reveal] Maybe, for instance, we can take that unrolled loop and move all the memory loads to the beginning, so they can all issue at once and then the math can happen in whatever order the data comes back.  The CPU’s control unit might be able to do this itself, but then again it might not, and either way it works better if the compiler helps.</a:t>
            </a:r>
          </a:p>
          <a:p>
            <a:endParaRPr lang="en-US" dirty="0"/>
          </a:p>
          <a:p>
            <a:r>
              <a:rPr lang="en-US" dirty="0"/>
              <a:t>[reveal] When is this change incorrect?</a:t>
            </a:r>
          </a:p>
          <a:p>
            <a:endParaRPr lang="en-US" dirty="0"/>
          </a:p>
          <a:p>
            <a:r>
              <a:rPr lang="en-US" dirty="0"/>
              <a:t>This change is incorrect when A overlaps B or C, so the writes to A change the values being read from B or C.  Like with the vector row sums from earlier.</a:t>
            </a:r>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31</a:t>
            </a:fld>
            <a:endParaRPr lang="en-US"/>
          </a:p>
        </p:txBody>
      </p:sp>
    </p:spTree>
    <p:extLst>
      <p:ext uri="{BB962C8B-B14F-4D97-AF65-F5344CB8AC3E}">
        <p14:creationId xmlns:p14="http://schemas.microsoft.com/office/powerpoint/2010/main" val="6485783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40F64717-A5A5-4C4E-9291-2F18B7410B06}" type="slidenum">
              <a:rPr lang="en-US" smtClean="0"/>
              <a:pPr>
                <a:defRPr/>
              </a:pPr>
              <a:t>32</a:t>
            </a:fld>
            <a:endParaRPr lang="en-US"/>
          </a:p>
        </p:txBody>
      </p:sp>
    </p:spTree>
    <p:extLst>
      <p:ext uri="{BB962C8B-B14F-4D97-AF65-F5344CB8AC3E}">
        <p14:creationId xmlns:p14="http://schemas.microsoft.com/office/powerpoint/2010/main" val="354059751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73229585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Rot="1" noChangeAspect="1" noChangeArrowheads="1" noTextEdit="1"/>
          </p:cNvSpPr>
          <p:nvPr>
            <p:ph type="sldImg"/>
          </p:nvPr>
        </p:nvSpPr>
        <p:spPr>
          <a:ln/>
        </p:spPr>
      </p:sp>
      <p:sp>
        <p:nvSpPr>
          <p:cNvPr id="76803" name="Rectangle 3"/>
          <p:cNvSpPr>
            <a:spLocks noGrp="1" noChangeArrowheads="1"/>
          </p:cNvSpPr>
          <p:nvPr>
            <p:ph type="body" idx="1"/>
          </p:nvPr>
        </p:nvSpPr>
        <p:spPr>
          <a:noFill/>
          <a:ln w="9525"/>
        </p:spPr>
        <p:txBody>
          <a:bodyPr/>
          <a:lstStyle/>
          <a:p>
            <a:endParaRPr lang="en-US"/>
          </a:p>
        </p:txBody>
      </p:sp>
    </p:spTree>
    <p:extLst>
      <p:ext uri="{BB962C8B-B14F-4D97-AF65-F5344CB8AC3E}">
        <p14:creationId xmlns:p14="http://schemas.microsoft.com/office/powerpoint/2010/main" val="147955957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143581499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231747808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6194" name="Rectangle 2"/>
          <p:cNvSpPr>
            <a:spLocks noGrp="1" noRot="1" noChangeAspect="1" noChangeArrowheads="1" noTextEdit="1"/>
          </p:cNvSpPr>
          <p:nvPr>
            <p:ph type="sldImg"/>
          </p:nvPr>
        </p:nvSpPr>
        <p:spPr>
          <a:ln/>
        </p:spPr>
      </p:sp>
      <p:sp>
        <p:nvSpPr>
          <p:cNvPr id="776195" name="Rectangle 3"/>
          <p:cNvSpPr>
            <a:spLocks noGrp="1" noChangeArrowheads="1"/>
          </p:cNvSpPr>
          <p:nvPr>
            <p:ph type="body" idx="1"/>
          </p:nvPr>
        </p:nvSpPr>
        <p:spPr/>
        <p:txBody>
          <a:bodyPr/>
          <a:lstStyle/>
          <a:p>
            <a:endParaRPr lang="en-US" dirty="0"/>
          </a:p>
        </p:txBody>
      </p:sp>
    </p:spTree>
    <p:extLst>
      <p:ext uri="{BB962C8B-B14F-4D97-AF65-F5344CB8AC3E}">
        <p14:creationId xmlns:p14="http://schemas.microsoft.com/office/powerpoint/2010/main" val="38047373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Rot="1" noChangeAspect="1" noChangeArrowheads="1" noTextEdit="1"/>
          </p:cNvSpPr>
          <p:nvPr>
            <p:ph type="sldImg"/>
          </p:nvPr>
        </p:nvSpPr>
        <p:spPr>
          <a:ln/>
        </p:spPr>
      </p:sp>
      <p:sp>
        <p:nvSpPr>
          <p:cNvPr id="84995" name="Rectangle 3"/>
          <p:cNvSpPr>
            <a:spLocks noGrp="1" noChangeArrowheads="1"/>
          </p:cNvSpPr>
          <p:nvPr>
            <p:ph type="body" idx="1"/>
          </p:nvPr>
        </p:nvSpPr>
        <p:spPr>
          <a:noFill/>
          <a:ln w="9525"/>
        </p:spPr>
        <p:txBody>
          <a:bodyPr/>
          <a:lstStyle/>
          <a:p>
            <a:r>
              <a:rPr lang="en-US" dirty="0"/>
              <a:t>Loop unrolling saves on the overhead to check bounds and jump.</a:t>
            </a:r>
            <a:br>
              <a:rPr lang="en-US" dirty="0"/>
            </a:br>
            <a:r>
              <a:rPr lang="en-US" dirty="0"/>
              <a:t>What is the compiled assembly?</a:t>
            </a:r>
          </a:p>
        </p:txBody>
      </p:sp>
    </p:spTree>
    <p:extLst>
      <p:ext uri="{BB962C8B-B14F-4D97-AF65-F5344CB8AC3E}">
        <p14:creationId xmlns:p14="http://schemas.microsoft.com/office/powerpoint/2010/main" val="171599474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zh-TW" altLang="en-US"/>
          </a:p>
        </p:txBody>
      </p:sp>
      <p:sp>
        <p:nvSpPr>
          <p:cNvPr id="4" name="Slide Number Placeholder 3"/>
          <p:cNvSpPr>
            <a:spLocks noGrp="1"/>
          </p:cNvSpPr>
          <p:nvPr>
            <p:ph type="sldNum" sz="quarter" idx="10"/>
          </p:nvPr>
        </p:nvSpPr>
        <p:spPr/>
        <p:txBody>
          <a:bodyPr/>
          <a:lstStyle/>
          <a:p>
            <a:fld id="{286C40E4-B9C8-417B-AB00-3BF7F8038A2D}" type="slidenum">
              <a:rPr lang="zh-TW" altLang="en-US" smtClean="0"/>
              <a:pPr/>
              <a:t>40</a:t>
            </a:fld>
            <a:endParaRPr lang="zh-TW" altLang="en-US"/>
          </a:p>
        </p:txBody>
      </p:sp>
    </p:spTree>
    <p:extLst>
      <p:ext uri="{BB962C8B-B14F-4D97-AF65-F5344CB8AC3E}">
        <p14:creationId xmlns:p14="http://schemas.microsoft.com/office/powerpoint/2010/main" val="184306418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1pPr>
              <a:buClr>
                <a:srgbClr val="8064A2"/>
              </a:buClr>
              <a:defRPr sz="2400"/>
            </a:lvl1pPr>
            <a:lvl2pPr>
              <a:buClr>
                <a:srgbClr val="8064A2"/>
              </a:buClr>
              <a:defRPr sz="2000"/>
            </a:lvl2pPr>
            <a:lvl3pPr>
              <a:defRPr sz="1800">
                <a:latin typeface="Calibri" panose="020F07020304040A0204" pitchFamily="34" charset="0"/>
                <a:ea typeface="標楷體" pitchFamily="65" charset="-120"/>
                <a:cs typeface="Calibri" panose="020F07020304040A0204" pitchFamily="34" charset="0"/>
              </a:defRPr>
            </a:lvl3pPr>
            <a:lvl4pPr>
              <a:defRPr sz="1600">
                <a:latin typeface="Calibri" panose="020F07020304040A0204" pitchFamily="34" charset="0"/>
                <a:ea typeface="標楷體" pitchFamily="65" charset="-120"/>
                <a:cs typeface="Calibri" panose="020F07020304040A0204" pitchFamily="34" charset="0"/>
              </a:defRPr>
            </a:lvl4pPr>
            <a:lvl5pPr>
              <a:defRPr sz="1200">
                <a:latin typeface="Calibri" panose="020F07020304040A0204" pitchFamily="34" charset="0"/>
                <a:ea typeface="標楷體" pitchFamily="65" charset="-120"/>
                <a:cs typeface="Calibri" panose="020F07020304040A0204"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7"/>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en-US" altLang="zh-TW" dirty="0"/>
              <a:t>Click to edit Master text styles</a:t>
            </a:r>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2"/>
            <a:ext cx="4038600" cy="3170774"/>
          </a:xfrm>
        </p:spPr>
        <p:txBody>
          <a:bodyPr/>
          <a:lstStyle>
            <a:lvl1pPr>
              <a:defRPr sz="2800"/>
            </a:lvl1pPr>
            <a:lvl2pPr>
              <a:defRPr sz="2400"/>
            </a:lvl2pPr>
            <a:lvl3pPr>
              <a:defRPr sz="1800"/>
            </a:lvl3pPr>
            <a:lvl4pPr>
              <a:defRPr sz="1600"/>
            </a:lvl4pPr>
            <a:lvl5pPr>
              <a:defRPr sz="1600"/>
            </a:lvl5pPr>
            <a:lvl6pPr>
              <a:defRPr sz="1350"/>
            </a:lvl6pPr>
            <a:lvl7pPr>
              <a:defRPr sz="1350"/>
            </a:lvl7pPr>
            <a:lvl8pPr>
              <a:defRPr sz="1350"/>
            </a:lvl8pPr>
            <a:lvl9pPr>
              <a:defRPr sz="135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1" y="951580"/>
            <a:ext cx="4040188"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1"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29" y="951580"/>
            <a:ext cx="4041775" cy="479822"/>
          </a:xfrm>
        </p:spPr>
        <p:txBody>
          <a:bodyPr anchor="b"/>
          <a:lstStyle>
            <a:lvl1pPr marL="0" indent="0">
              <a:buNone/>
              <a:defRPr sz="20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29"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
        <p:nvSpPr>
          <p:cNvPr id="8" name="標題 1"/>
          <p:cNvSpPr>
            <a:spLocks noGrp="1"/>
          </p:cNvSpPr>
          <p:nvPr>
            <p:ph type="title"/>
          </p:nvPr>
        </p:nvSpPr>
        <p:spPr>
          <a:xfrm>
            <a:off x="468315" y="108349"/>
            <a:ext cx="8207375" cy="519113"/>
          </a:xfrm>
        </p:spPr>
        <p:txBody>
          <a:bodyPr/>
          <a:lstStyle/>
          <a:p>
            <a:r>
              <a:rPr lang="en-US" altLang="zh-TW" dirty="0"/>
              <a:t>Click to edit Master title style</a:t>
            </a:r>
            <a:endParaRPr lang="zh-TW" alt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4"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0" y="204791"/>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4" y="1076328"/>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0"/>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5"/>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hasCustomPrompt="1"/>
          </p:nvPr>
        </p:nvSpPr>
        <p:spPr>
          <a:xfrm>
            <a:off x="457200" y="844156"/>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3"/>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900" indent="0" algn="ctr">
              <a:buNone/>
              <a:defRPr/>
            </a:lvl2pPr>
            <a:lvl3pPr marL="685800" indent="0" algn="ctr">
              <a:buNone/>
              <a:defRPr/>
            </a:lvl3pPr>
            <a:lvl4pPr marL="1028700" indent="0" algn="ctr">
              <a:buNone/>
              <a:defRPr/>
            </a:lvl4pPr>
            <a:lvl5pPr marL="1371600" indent="0" algn="ctr">
              <a:buNone/>
              <a:defRPr/>
            </a:lvl5pPr>
            <a:lvl6pPr marL="1714500" indent="0" algn="ctr">
              <a:buNone/>
              <a:defRPr/>
            </a:lvl6pPr>
            <a:lvl7pPr marL="2057400" indent="0" algn="ctr">
              <a:buNone/>
              <a:defRPr/>
            </a:lvl7pPr>
            <a:lvl8pPr marL="2400300" indent="0" algn="ctr">
              <a:buNone/>
              <a:defRPr/>
            </a:lvl8pPr>
            <a:lvl9pPr marL="2743200"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p:txBody>
          <a:bodyPr/>
          <a:lstStyle>
            <a:lvl1pPr>
              <a:defRPr/>
            </a:lvl1pPr>
          </a:lstStyle>
          <a:p>
            <a:fld id="{D9B6BDF2-6896-4B98-8776-C18582F63BA5}" type="slidenum">
              <a:rPr lang="zh-TW" altLang="en-US" smtClean="0"/>
              <a:t>‹#›</a:t>
            </a:fld>
            <a:endParaRPr lang="zh-TW"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dirty="0"/>
          </a:p>
        </p:txBody>
      </p:sp>
      <p:sp>
        <p:nvSpPr>
          <p:cNvPr id="3" name="內容版面配置區 2"/>
          <p:cNvSpPr>
            <a:spLocks noGrp="1"/>
          </p:cNvSpPr>
          <p:nvPr>
            <p:ph idx="1"/>
          </p:nvPr>
        </p:nvSpPr>
        <p:spPr/>
        <p:txBody>
          <a:bodyPr/>
          <a:lstStyle>
            <a:lvl3pPr>
              <a:defRPr sz="2000">
                <a:latin typeface="Calibri" pitchFamily="34" charset="0"/>
                <a:ea typeface="標楷體" pitchFamily="65" charset="-120"/>
                <a:cs typeface="Calibri" pitchFamily="34" charset="0"/>
              </a:defRPr>
            </a:lvl3pPr>
            <a:lvl4pPr>
              <a:defRPr sz="1800">
                <a:latin typeface="Calibri" pitchFamily="34" charset="0"/>
                <a:ea typeface="標楷體" pitchFamily="65" charset="-120"/>
                <a:cs typeface="Calibri" pitchFamily="34" charset="0"/>
              </a:defRPr>
            </a:lvl4pPr>
            <a:lvl5pPr>
              <a:defRPr sz="1600">
                <a:latin typeface="Calibri" pitchFamily="34" charset="0"/>
                <a:ea typeface="標楷體" pitchFamily="65" charset="-120"/>
                <a:cs typeface="Calibri" pitchFamily="34" charset="0"/>
              </a:defRPr>
            </a:lvl5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499242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3305178"/>
            <a:ext cx="7772400" cy="1021556"/>
          </a:xfrm>
        </p:spPr>
        <p:txBody>
          <a:bodyPr anchor="t"/>
          <a:lstStyle>
            <a:lvl1pPr algn="l">
              <a:defRPr sz="3200" b="1" cap="all"/>
            </a:lvl1pPr>
          </a:lstStyle>
          <a:p>
            <a:r>
              <a:rPr lang="en-US" altLang="zh-TW" dirty="0"/>
              <a:t>Click to edit Master title style</a:t>
            </a:r>
            <a:endParaRPr lang="zh-TW" altLang="en-US" dirty="0"/>
          </a:p>
        </p:txBody>
      </p:sp>
      <p:sp>
        <p:nvSpPr>
          <p:cNvPr id="3" name="文字版面配置區 2"/>
          <p:cNvSpPr>
            <a:spLocks noGrp="1"/>
          </p:cNvSpPr>
          <p:nvPr>
            <p:ph type="body" idx="1"/>
          </p:nvPr>
        </p:nvSpPr>
        <p:spPr>
          <a:xfrm>
            <a:off x="722313" y="2180035"/>
            <a:ext cx="7772400" cy="1125140"/>
          </a:xfrm>
        </p:spPr>
        <p:txBody>
          <a:bodyPr anchor="b"/>
          <a:lstStyle>
            <a:lvl1pPr marL="0" indent="0">
              <a:buNone/>
              <a:defRPr sz="2800"/>
            </a:lvl1pPr>
            <a:lvl2pPr marL="342883" indent="0">
              <a:buNone/>
              <a:defRPr sz="1351"/>
            </a:lvl2pPr>
            <a:lvl3pPr marL="685766" indent="0">
              <a:buNone/>
              <a:defRPr sz="1200"/>
            </a:lvl3pPr>
            <a:lvl4pPr marL="1028648" indent="0">
              <a:buNone/>
              <a:defRPr sz="1051"/>
            </a:lvl4pPr>
            <a:lvl5pPr marL="1371532" indent="0">
              <a:buNone/>
              <a:defRPr sz="1051"/>
            </a:lvl5pPr>
            <a:lvl6pPr marL="1714415" indent="0">
              <a:buNone/>
              <a:defRPr sz="1051"/>
            </a:lvl6pPr>
            <a:lvl7pPr marL="2057297" indent="0">
              <a:buNone/>
              <a:defRPr sz="1051"/>
            </a:lvl7pPr>
            <a:lvl8pPr marL="2400180" indent="0">
              <a:buNone/>
              <a:defRPr sz="1051"/>
            </a:lvl8pPr>
            <a:lvl9pPr marL="2743063" indent="0">
              <a:buNone/>
              <a:defRPr sz="1051"/>
            </a:lvl9pPr>
          </a:lstStyle>
          <a:p>
            <a:pPr lvl="0"/>
            <a:r>
              <a:rPr lang="en-US" altLang="zh-TW" dirty="0"/>
              <a:t>Click to edit Master text styles</a:t>
            </a:r>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485373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Click to edit Master title style</a:t>
            </a:r>
            <a:endParaRPr lang="zh-TW" altLang="en-US" dirty="0"/>
          </a:p>
        </p:txBody>
      </p:sp>
      <p:sp>
        <p:nvSpPr>
          <p:cNvPr id="3" name="內容版面配置區 2"/>
          <p:cNvSpPr>
            <a:spLocks noGrp="1"/>
          </p:cNvSpPr>
          <p:nvPr>
            <p:ph sz="half" idx="1"/>
          </p:nvPr>
        </p:nvSpPr>
        <p:spPr>
          <a:xfrm>
            <a:off x="457200" y="844153"/>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4" name="內容版面配置區 3"/>
          <p:cNvSpPr>
            <a:spLocks noGrp="1"/>
          </p:cNvSpPr>
          <p:nvPr>
            <p:ph sz="half" idx="2"/>
          </p:nvPr>
        </p:nvSpPr>
        <p:spPr>
          <a:xfrm>
            <a:off x="4648200" y="844153"/>
            <a:ext cx="4038600" cy="3170774"/>
          </a:xfrm>
        </p:spPr>
        <p:txBody>
          <a:bodyPr/>
          <a:lstStyle>
            <a:lvl1pPr>
              <a:defRPr sz="2800"/>
            </a:lvl1pPr>
            <a:lvl2pPr>
              <a:defRPr sz="2400"/>
            </a:lvl2pPr>
            <a:lvl3pPr>
              <a:defRPr sz="1800"/>
            </a:lvl3pPr>
            <a:lvl4pPr>
              <a:defRPr sz="1600"/>
            </a:lvl4pPr>
            <a:lvl5pPr>
              <a:defRPr sz="1600"/>
            </a:lvl5pPr>
            <a:lvl6pPr>
              <a:defRPr sz="1351"/>
            </a:lvl6pPr>
            <a:lvl7pPr>
              <a:defRPr sz="1351"/>
            </a:lvl7pPr>
            <a:lvl8pPr>
              <a:defRPr sz="1351"/>
            </a:lvl8pPr>
            <a:lvl9pPr>
              <a:defRPr sz="1351"/>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7651024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比對">
    <p:spTree>
      <p:nvGrpSpPr>
        <p:cNvPr id="1" name=""/>
        <p:cNvGrpSpPr/>
        <p:nvPr/>
      </p:nvGrpSpPr>
      <p:grpSpPr>
        <a:xfrm>
          <a:off x="0" y="0"/>
          <a:ext cx="0" cy="0"/>
          <a:chOff x="0" y="0"/>
          <a:chExt cx="0" cy="0"/>
        </a:xfrm>
      </p:grpSpPr>
      <p:sp>
        <p:nvSpPr>
          <p:cNvPr id="3" name="文字版面配置區 2"/>
          <p:cNvSpPr>
            <a:spLocks noGrp="1"/>
          </p:cNvSpPr>
          <p:nvPr>
            <p:ph type="body" idx="1"/>
          </p:nvPr>
        </p:nvSpPr>
        <p:spPr>
          <a:xfrm>
            <a:off x="457202" y="951580"/>
            <a:ext cx="4040188" cy="479822"/>
          </a:xfrm>
        </p:spPr>
        <p:txBody>
          <a:bodyPr anchor="b"/>
          <a:lstStyle>
            <a:lvl1pPr marL="0" indent="0">
              <a:buNone/>
              <a:defRPr sz="2000" b="1"/>
            </a:lvl1pPr>
            <a:lvl2pPr marL="342883" indent="0">
              <a:buNone/>
              <a:defRPr sz="1500" b="1"/>
            </a:lvl2pPr>
            <a:lvl3pPr marL="685766" indent="0">
              <a:buNone/>
              <a:defRPr sz="1351" b="1"/>
            </a:lvl3pPr>
            <a:lvl4pPr marL="1028648"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3" indent="0">
              <a:buNone/>
              <a:defRPr sz="1200" b="1"/>
            </a:lvl9pPr>
          </a:lstStyle>
          <a:p>
            <a:pPr lvl="0"/>
            <a:r>
              <a:rPr lang="en-US" altLang="zh-TW"/>
              <a:t>Click to edit Master text styles</a:t>
            </a:r>
          </a:p>
        </p:txBody>
      </p:sp>
      <p:sp>
        <p:nvSpPr>
          <p:cNvPr id="4" name="內容版面配置區 3"/>
          <p:cNvSpPr>
            <a:spLocks noGrp="1"/>
          </p:cNvSpPr>
          <p:nvPr>
            <p:ph sz="half" idx="2"/>
          </p:nvPr>
        </p:nvSpPr>
        <p:spPr>
          <a:xfrm>
            <a:off x="457202" y="1431401"/>
            <a:ext cx="4040188"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dirty="0"/>
              <a:t>Click to edit Master text styles</a:t>
            </a:r>
          </a:p>
          <a:p>
            <a:pPr lvl="1"/>
            <a:r>
              <a:rPr lang="en-US" altLang="zh-TW" dirty="0"/>
              <a:t>Second level</a:t>
            </a:r>
          </a:p>
          <a:p>
            <a:pPr lvl="2"/>
            <a:r>
              <a:rPr lang="en-US" altLang="zh-TW" dirty="0"/>
              <a:t>Third level</a:t>
            </a:r>
          </a:p>
          <a:p>
            <a:pPr lvl="3"/>
            <a:r>
              <a:rPr lang="en-US" altLang="zh-TW" dirty="0"/>
              <a:t>Fourth level</a:t>
            </a:r>
          </a:p>
          <a:p>
            <a:pPr lvl="4"/>
            <a:r>
              <a:rPr lang="en-US" altLang="zh-TW" dirty="0"/>
              <a:t>Fifth level</a:t>
            </a:r>
            <a:endParaRPr lang="zh-TW" altLang="en-US" dirty="0"/>
          </a:p>
        </p:txBody>
      </p:sp>
      <p:sp>
        <p:nvSpPr>
          <p:cNvPr id="5" name="文字版面配置區 4"/>
          <p:cNvSpPr>
            <a:spLocks noGrp="1"/>
          </p:cNvSpPr>
          <p:nvPr>
            <p:ph type="body" sz="quarter" idx="3"/>
          </p:nvPr>
        </p:nvSpPr>
        <p:spPr>
          <a:xfrm>
            <a:off x="4645030" y="951580"/>
            <a:ext cx="4041775" cy="479822"/>
          </a:xfrm>
        </p:spPr>
        <p:txBody>
          <a:bodyPr anchor="b"/>
          <a:lstStyle>
            <a:lvl1pPr marL="0" indent="0">
              <a:buNone/>
              <a:defRPr sz="2000" b="1"/>
            </a:lvl1pPr>
            <a:lvl2pPr marL="342883" indent="0">
              <a:buNone/>
              <a:defRPr sz="1500" b="1"/>
            </a:lvl2pPr>
            <a:lvl3pPr marL="685766" indent="0">
              <a:buNone/>
              <a:defRPr sz="1351" b="1"/>
            </a:lvl3pPr>
            <a:lvl4pPr marL="1028648" indent="0">
              <a:buNone/>
              <a:defRPr sz="1200" b="1"/>
            </a:lvl4pPr>
            <a:lvl5pPr marL="1371532" indent="0">
              <a:buNone/>
              <a:defRPr sz="1200" b="1"/>
            </a:lvl5pPr>
            <a:lvl6pPr marL="1714415" indent="0">
              <a:buNone/>
              <a:defRPr sz="1200" b="1"/>
            </a:lvl6pPr>
            <a:lvl7pPr marL="2057297" indent="0">
              <a:buNone/>
              <a:defRPr sz="1200" b="1"/>
            </a:lvl7pPr>
            <a:lvl8pPr marL="2400180" indent="0">
              <a:buNone/>
              <a:defRPr sz="1200" b="1"/>
            </a:lvl8pPr>
            <a:lvl9pPr marL="2743063" indent="0">
              <a:buNone/>
              <a:defRPr sz="1200" b="1"/>
            </a:lvl9pPr>
          </a:lstStyle>
          <a:p>
            <a:pPr lvl="0"/>
            <a:r>
              <a:rPr lang="en-US" altLang="zh-TW"/>
              <a:t>Click to edit Master text styles</a:t>
            </a:r>
          </a:p>
        </p:txBody>
      </p:sp>
      <p:sp>
        <p:nvSpPr>
          <p:cNvPr id="6" name="內容版面配置區 5"/>
          <p:cNvSpPr>
            <a:spLocks noGrp="1"/>
          </p:cNvSpPr>
          <p:nvPr>
            <p:ph sz="quarter" idx="4"/>
          </p:nvPr>
        </p:nvSpPr>
        <p:spPr>
          <a:xfrm>
            <a:off x="4645030" y="1431401"/>
            <a:ext cx="4041775" cy="2963466"/>
          </a:xfrm>
        </p:spPr>
        <p:txBody>
          <a:bodyPr/>
          <a:lstStyle>
            <a:lvl1pPr>
              <a:defRPr sz="2000"/>
            </a:lvl1pPr>
            <a:lvl2pPr>
              <a:defRPr sz="1600"/>
            </a:lvl2pPr>
            <a:lvl3pPr>
              <a:defRPr sz="1400"/>
            </a:lvl3pPr>
            <a:lvl4pPr>
              <a:defRPr sz="1400"/>
            </a:lvl4pPr>
            <a:lvl5pPr>
              <a:defRPr sz="1400"/>
            </a:lvl5pPr>
            <a:lvl6pPr>
              <a:defRPr sz="1200"/>
            </a:lvl6pPr>
            <a:lvl7pPr>
              <a:defRPr sz="1200"/>
            </a:lvl7pPr>
            <a:lvl8pPr>
              <a:defRPr sz="1200"/>
            </a:lvl8pPr>
            <a:lvl9pPr>
              <a:defRPr sz="12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7"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
        <p:nvSpPr>
          <p:cNvPr id="8" name="標題 1"/>
          <p:cNvSpPr>
            <a:spLocks noGrp="1"/>
          </p:cNvSpPr>
          <p:nvPr>
            <p:ph type="title"/>
          </p:nvPr>
        </p:nvSpPr>
        <p:spPr>
          <a:xfrm>
            <a:off x="468316" y="108350"/>
            <a:ext cx="8207375" cy="519113"/>
          </a:xfrm>
        </p:spPr>
        <p:txBody>
          <a:bodyPr/>
          <a:lstStyle/>
          <a:p>
            <a:r>
              <a:rPr lang="en-US" altLang="zh-TW" dirty="0"/>
              <a:t>Click to edit Master title style</a:t>
            </a:r>
            <a:endParaRPr lang="zh-TW" altLang="en-US" dirty="0"/>
          </a:p>
        </p:txBody>
      </p:sp>
    </p:spTree>
    <p:extLst>
      <p:ext uri="{BB962C8B-B14F-4D97-AF65-F5344CB8AC3E}">
        <p14:creationId xmlns:p14="http://schemas.microsoft.com/office/powerpoint/2010/main" val="234882524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100689028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62909713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5" y="204787"/>
            <a:ext cx="3008313" cy="871538"/>
          </a:xfrm>
        </p:spPr>
        <p:txBody>
          <a:bodyPr anchor="b"/>
          <a:lstStyle>
            <a:lvl1pPr algn="l">
              <a:defRPr sz="1500" b="1"/>
            </a:lvl1pPr>
          </a:lstStyle>
          <a:p>
            <a:r>
              <a:rPr lang="en-US" altLang="zh-TW"/>
              <a:t>Click to edit Master title style</a:t>
            </a:r>
            <a:endParaRPr lang="zh-TW" altLang="en-US"/>
          </a:p>
        </p:txBody>
      </p:sp>
      <p:sp>
        <p:nvSpPr>
          <p:cNvPr id="3" name="內容版面配置區 2"/>
          <p:cNvSpPr>
            <a:spLocks noGrp="1"/>
          </p:cNvSpPr>
          <p:nvPr>
            <p:ph idx="1"/>
          </p:nvPr>
        </p:nvSpPr>
        <p:spPr>
          <a:xfrm>
            <a:off x="3575051" y="204792"/>
            <a:ext cx="5111751"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文字版面配置區 3"/>
          <p:cNvSpPr>
            <a:spLocks noGrp="1"/>
          </p:cNvSpPr>
          <p:nvPr>
            <p:ph type="body" sz="half" idx="2"/>
          </p:nvPr>
        </p:nvSpPr>
        <p:spPr>
          <a:xfrm>
            <a:off x="457205" y="1076328"/>
            <a:ext cx="3008313" cy="3518297"/>
          </a:xfrm>
        </p:spPr>
        <p:txBody>
          <a:bodyPr/>
          <a:lstStyle>
            <a:lvl1pPr marL="0" indent="0">
              <a:buNone/>
              <a:defRPr sz="1051"/>
            </a:lvl1pPr>
            <a:lvl2pPr marL="342883" indent="0">
              <a:buNone/>
              <a:defRPr sz="900"/>
            </a:lvl2pPr>
            <a:lvl3pPr marL="685766" indent="0">
              <a:buNone/>
              <a:defRPr sz="751"/>
            </a:lvl3pPr>
            <a:lvl4pPr marL="1028648"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3"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3007561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3600451"/>
            <a:ext cx="5486400" cy="425054"/>
          </a:xfrm>
        </p:spPr>
        <p:txBody>
          <a:bodyPr anchor="b"/>
          <a:lstStyle>
            <a:lvl1pPr algn="l">
              <a:defRPr sz="1500" b="1"/>
            </a:lvl1pPr>
          </a:lstStyle>
          <a:p>
            <a:r>
              <a:rPr lang="en-US" altLang="zh-TW"/>
              <a:t>Click to edit Master title style</a:t>
            </a:r>
            <a:endParaRPr lang="zh-TW" altLang="en-US"/>
          </a:p>
        </p:txBody>
      </p:sp>
      <p:sp>
        <p:nvSpPr>
          <p:cNvPr id="3" name="圖片版面配置區 2"/>
          <p:cNvSpPr>
            <a:spLocks noGrp="1"/>
          </p:cNvSpPr>
          <p:nvPr>
            <p:ph type="pic" idx="1"/>
          </p:nvPr>
        </p:nvSpPr>
        <p:spPr>
          <a:xfrm>
            <a:off x="1792288" y="459581"/>
            <a:ext cx="5486400" cy="3086100"/>
          </a:xfrm>
        </p:spPr>
        <p:txBody>
          <a:bodyPr/>
          <a:lstStyle>
            <a:lvl1pPr marL="0" indent="0">
              <a:buNone/>
              <a:defRPr sz="2400"/>
            </a:lvl1pPr>
            <a:lvl2pPr marL="342883" indent="0">
              <a:buNone/>
              <a:defRPr sz="2100"/>
            </a:lvl2pPr>
            <a:lvl3pPr marL="685766" indent="0">
              <a:buNone/>
              <a:defRPr sz="1800"/>
            </a:lvl3pPr>
            <a:lvl4pPr marL="1028648" indent="0">
              <a:buNone/>
              <a:defRPr sz="1500"/>
            </a:lvl4pPr>
            <a:lvl5pPr marL="1371532" indent="0">
              <a:buNone/>
              <a:defRPr sz="1500"/>
            </a:lvl5pPr>
            <a:lvl6pPr marL="1714415" indent="0">
              <a:buNone/>
              <a:defRPr sz="1500"/>
            </a:lvl6pPr>
            <a:lvl7pPr marL="2057297" indent="0">
              <a:buNone/>
              <a:defRPr sz="1500"/>
            </a:lvl7pPr>
            <a:lvl8pPr marL="2400180" indent="0">
              <a:buNone/>
              <a:defRPr sz="1500"/>
            </a:lvl8pPr>
            <a:lvl9pPr marL="2743063" indent="0">
              <a:buNone/>
              <a:defRPr sz="1500"/>
            </a:lvl9pPr>
          </a:lstStyle>
          <a:p>
            <a:pPr lvl="0"/>
            <a:r>
              <a:rPr lang="en-US" altLang="zh-TW" noProof="0"/>
              <a:t>Click icon to add picture</a:t>
            </a:r>
            <a:endParaRPr lang="zh-TW" altLang="en-US" noProof="0"/>
          </a:p>
        </p:txBody>
      </p:sp>
      <p:sp>
        <p:nvSpPr>
          <p:cNvPr id="4" name="文字版面配置區 3"/>
          <p:cNvSpPr>
            <a:spLocks noGrp="1"/>
          </p:cNvSpPr>
          <p:nvPr>
            <p:ph type="body" sz="half" idx="2"/>
          </p:nvPr>
        </p:nvSpPr>
        <p:spPr>
          <a:xfrm>
            <a:off x="1792288" y="4025506"/>
            <a:ext cx="5486400" cy="603647"/>
          </a:xfrm>
        </p:spPr>
        <p:txBody>
          <a:bodyPr/>
          <a:lstStyle>
            <a:lvl1pPr marL="0" indent="0">
              <a:buNone/>
              <a:defRPr sz="1051"/>
            </a:lvl1pPr>
            <a:lvl2pPr marL="342883" indent="0">
              <a:buNone/>
              <a:defRPr sz="900"/>
            </a:lvl2pPr>
            <a:lvl3pPr marL="685766" indent="0">
              <a:buNone/>
              <a:defRPr sz="751"/>
            </a:lvl3pPr>
            <a:lvl4pPr marL="1028648" indent="0">
              <a:buNone/>
              <a:defRPr sz="675"/>
            </a:lvl4pPr>
            <a:lvl5pPr marL="1371532" indent="0">
              <a:buNone/>
              <a:defRPr sz="675"/>
            </a:lvl5pPr>
            <a:lvl6pPr marL="1714415" indent="0">
              <a:buNone/>
              <a:defRPr sz="675"/>
            </a:lvl6pPr>
            <a:lvl7pPr marL="2057297" indent="0">
              <a:buNone/>
              <a:defRPr sz="675"/>
            </a:lvl7pPr>
            <a:lvl8pPr marL="2400180" indent="0">
              <a:buNone/>
              <a:defRPr sz="675"/>
            </a:lvl8pPr>
            <a:lvl9pPr marL="2743063" indent="0">
              <a:buNone/>
              <a:defRPr sz="675"/>
            </a:lvl9pPr>
          </a:lstStyle>
          <a:p>
            <a:pPr lvl="0"/>
            <a:r>
              <a:rPr lang="en-US" altLang="zh-TW"/>
              <a:t>Click to edit Master text styles</a:t>
            </a:r>
          </a:p>
        </p:txBody>
      </p:sp>
      <p:sp>
        <p:nvSpPr>
          <p:cNvPr id="5"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350950206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a:t>Click to edit Master title style</a:t>
            </a:r>
            <a:endParaRPr lang="zh-TW" altLang="en-US"/>
          </a:p>
        </p:txBody>
      </p:sp>
      <p:sp>
        <p:nvSpPr>
          <p:cNvPr id="3" name="直排文字版面配置區 2"/>
          <p:cNvSpPr>
            <a:spLocks noGrp="1"/>
          </p:cNvSpPr>
          <p:nvPr>
            <p:ph type="body" orient="vert" idx="1"/>
          </p:nvPr>
        </p:nvSpPr>
        <p:spPr/>
        <p:txBody>
          <a:bodyPr vert="eaVert"/>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47312105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直排標題及文字">
    <p:spTree>
      <p:nvGrpSpPr>
        <p:cNvPr id="1" name=""/>
        <p:cNvGrpSpPr/>
        <p:nvPr/>
      </p:nvGrpSpPr>
      <p:grpSpPr>
        <a:xfrm>
          <a:off x="0" y="0"/>
          <a:ext cx="0" cy="0"/>
          <a:chOff x="0" y="0"/>
          <a:chExt cx="0" cy="0"/>
        </a:xfrm>
      </p:grpSpPr>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4667392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Only" preserve="1">
  <p:cSld name="物件">
    <p:spTree>
      <p:nvGrpSpPr>
        <p:cNvPr id="1" name=""/>
        <p:cNvGrpSpPr/>
        <p:nvPr/>
      </p:nvGrpSpPr>
      <p:grpSpPr>
        <a:xfrm>
          <a:off x="0" y="0"/>
          <a:ext cx="0" cy="0"/>
          <a:chOff x="0" y="0"/>
          <a:chExt cx="0" cy="0"/>
        </a:xfrm>
      </p:grpSpPr>
      <p:sp>
        <p:nvSpPr>
          <p:cNvPr id="2" name="內容版面配置區 1"/>
          <p:cNvSpPr>
            <a:spLocks noGrp="1"/>
          </p:cNvSpPr>
          <p:nvPr>
            <p:ph/>
          </p:nvPr>
        </p:nvSpPr>
        <p:spPr>
          <a:xfrm>
            <a:off x="457200" y="54771"/>
            <a:ext cx="8229600" cy="1275160"/>
          </a:xfrm>
        </p:spPr>
        <p:txBody>
          <a:bodyPr/>
          <a:lstStyle/>
          <a:p>
            <a:pPr lvl="0"/>
            <a:r>
              <a:rPr lang="en-US" altLang="zh-TW"/>
              <a:t>Click to edit Master text styles</a:t>
            </a:r>
          </a:p>
          <a:p>
            <a:pPr lvl="1"/>
            <a:r>
              <a:rPr lang="en-US" altLang="zh-TW"/>
              <a:t>Second level</a:t>
            </a:r>
          </a:p>
          <a:p>
            <a:pPr lvl="2"/>
            <a:r>
              <a:rPr lang="en-US" altLang="zh-TW"/>
              <a:t>Third level</a:t>
            </a:r>
          </a:p>
          <a:p>
            <a:pPr lvl="3"/>
            <a:r>
              <a:rPr lang="en-US" altLang="zh-TW"/>
              <a:t>Fourth level</a:t>
            </a:r>
          </a:p>
          <a:p>
            <a:pPr lvl="4"/>
            <a:r>
              <a:rPr lang="en-US" altLang="zh-TW"/>
              <a:t>Fifth level</a:t>
            </a:r>
            <a:endParaRPr lang="zh-TW" altLang="en-US"/>
          </a:p>
        </p:txBody>
      </p:sp>
      <p:sp>
        <p:nvSpPr>
          <p:cNvPr id="3"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408127949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標題及表格">
    <p:spTree>
      <p:nvGrpSpPr>
        <p:cNvPr id="1" name=""/>
        <p:cNvGrpSpPr/>
        <p:nvPr/>
      </p:nvGrpSpPr>
      <p:grpSpPr>
        <a:xfrm>
          <a:off x="0" y="0"/>
          <a:ext cx="0" cy="0"/>
          <a:chOff x="0" y="0"/>
          <a:chExt cx="0" cy="0"/>
        </a:xfrm>
      </p:grpSpPr>
      <p:sp>
        <p:nvSpPr>
          <p:cNvPr id="3" name="表格版面配置區 2"/>
          <p:cNvSpPr>
            <a:spLocks noGrp="1"/>
          </p:cNvSpPr>
          <p:nvPr>
            <p:ph type="tbl" idx="1"/>
          </p:nvPr>
        </p:nvSpPr>
        <p:spPr>
          <a:xfrm>
            <a:off x="457200" y="844157"/>
            <a:ext cx="8229600" cy="485775"/>
          </a:xfrm>
        </p:spPr>
        <p:txBody>
          <a:bodyPr/>
          <a:lstStyle/>
          <a:p>
            <a:pPr lvl="0"/>
            <a:r>
              <a:rPr lang="en-US" altLang="zh-TW" noProof="0"/>
              <a:t>Click icon to add table</a:t>
            </a:r>
            <a:endParaRPr lang="zh-TW" altLang="en-US" noProof="0"/>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271373824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1_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1597824"/>
            <a:ext cx="7772400" cy="1102519"/>
          </a:xfrm>
        </p:spPr>
        <p:txBody>
          <a:bodyPr/>
          <a:lstStyle>
            <a:lvl1pPr algn="ctr">
              <a:defRPr sz="4000"/>
            </a:lvl1pPr>
          </a:lstStyle>
          <a:p>
            <a:r>
              <a:rPr lang="en-US" altLang="zh-TW"/>
              <a:t>Click to edit Master title style</a:t>
            </a:r>
            <a:endParaRPr lang="zh-TW" altLang="en-US"/>
          </a:p>
        </p:txBody>
      </p:sp>
      <p:sp>
        <p:nvSpPr>
          <p:cNvPr id="3" name="副標題 2"/>
          <p:cNvSpPr>
            <a:spLocks noGrp="1"/>
          </p:cNvSpPr>
          <p:nvPr>
            <p:ph type="subTitle" idx="1"/>
          </p:nvPr>
        </p:nvSpPr>
        <p:spPr>
          <a:xfrm>
            <a:off x="1371600" y="2914650"/>
            <a:ext cx="6400800" cy="1314450"/>
          </a:xfrm>
        </p:spPr>
        <p:txBody>
          <a:bodyPr/>
          <a:lstStyle>
            <a:lvl1pPr marL="0" indent="0" algn="ctr">
              <a:buNone/>
              <a:defRPr/>
            </a:lvl1pPr>
            <a:lvl2pPr marL="342883" indent="0" algn="ctr">
              <a:buNone/>
              <a:defRPr/>
            </a:lvl2pPr>
            <a:lvl3pPr marL="685766" indent="0" algn="ctr">
              <a:buNone/>
              <a:defRPr/>
            </a:lvl3pPr>
            <a:lvl4pPr marL="1028648" indent="0" algn="ctr">
              <a:buNone/>
              <a:defRPr/>
            </a:lvl4pPr>
            <a:lvl5pPr marL="1371532" indent="0" algn="ctr">
              <a:buNone/>
              <a:defRPr/>
            </a:lvl5pPr>
            <a:lvl6pPr marL="1714415" indent="0" algn="ctr">
              <a:buNone/>
              <a:defRPr/>
            </a:lvl6pPr>
            <a:lvl7pPr marL="2057297" indent="0" algn="ctr">
              <a:buNone/>
              <a:defRPr/>
            </a:lvl7pPr>
            <a:lvl8pPr marL="2400180" indent="0" algn="ctr">
              <a:buNone/>
              <a:defRPr/>
            </a:lvl8pPr>
            <a:lvl9pPr marL="2743063" indent="0" algn="ctr">
              <a:buNone/>
              <a:defRPr/>
            </a:lvl9pPr>
          </a:lstStyle>
          <a:p>
            <a:r>
              <a:rPr lang="en-US" altLang="zh-TW"/>
              <a:t>Click to edit Master subtitle style</a:t>
            </a:r>
            <a:endParaRPr lang="zh-TW" altLang="en-US"/>
          </a:p>
        </p:txBody>
      </p:sp>
      <p:sp>
        <p:nvSpPr>
          <p:cNvPr id="4" name="Rectangle 19"/>
          <p:cNvSpPr>
            <a:spLocks noGrp="1" noChangeArrowheads="1"/>
          </p:cNvSpPr>
          <p:nvPr>
            <p:ph type="sldNum" sz="quarter" idx="10"/>
          </p:nvPr>
        </p:nvSpPr>
        <p:spPr>
          <a:ln/>
        </p:spPr>
        <p:txBody>
          <a:bodyPr/>
          <a:lstStyle>
            <a:lvl1pPr>
              <a:defRPr/>
            </a:lvl1pPr>
          </a:lstStyle>
          <a:p>
            <a:fld id="{D9B6BDF2-6896-4B98-8776-C18582F63BA5}" type="slidenum">
              <a:rPr lang="zh-TW" altLang="en-US" smtClean="0"/>
              <a:pPr/>
              <a:t>‹#›</a:t>
            </a:fld>
            <a:endParaRPr lang="zh-TW" altLang="en-US"/>
          </a:p>
        </p:txBody>
      </p:sp>
    </p:spTree>
    <p:extLst>
      <p:ext uri="{BB962C8B-B14F-4D97-AF65-F5344CB8AC3E}">
        <p14:creationId xmlns:p14="http://schemas.microsoft.com/office/powerpoint/2010/main" val="721170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jpe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slideLayout" Target="../slideLayouts/slideLayout26.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image" Target="../media/image3.png"/><Relationship Id="rId2" Type="http://schemas.openxmlformats.org/officeDocument/2006/relationships/slideLayout" Target="../slideLayouts/slideLayout15.xml"/><Relationship Id="rId16" Type="http://schemas.openxmlformats.org/officeDocument/2006/relationships/image" Target="../media/image2.jpeg"/><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5" Type="http://schemas.openxmlformats.org/officeDocument/2006/relationships/image" Target="../media/image1.png"/><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969010" y="108585"/>
            <a:ext cx="7706995" cy="518795"/>
          </a:xfrm>
          <a:prstGeom prst="rect">
            <a:avLst/>
          </a:prstGeom>
          <a:noFill/>
          <a:ln w="9525">
            <a:noFill/>
            <a:miter lim="800000"/>
          </a:ln>
        </p:spPr>
        <p:txBody>
          <a:bodyPr vert="horz" wrap="square" lIns="91440" tIns="45720" rIns="91440" bIns="45720" numCol="1" anchor="ctr" anchorCtr="0" compatLnSpc="1"/>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ln>
        </p:spPr>
        <p:txBody>
          <a:bodyPr vert="horz" wrap="square" lIns="91440" tIns="45720" rIns="91440" bIns="45720" numCol="1" anchor="t" anchorCtr="0" compatLnSpc="1"/>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2" y="4768455"/>
            <a:ext cx="3833813" cy="148828"/>
          </a:xfrm>
          <a:prstGeom prst="rect">
            <a:avLst/>
          </a:prstGeom>
          <a:noFill/>
          <a:ln w="9525">
            <a:noFill/>
            <a:miter lim="800000"/>
            <a:headEnd/>
            <a:tailEnd/>
          </a:ln>
        </p:spPr>
      </p:pic>
      <p:sp>
        <p:nvSpPr>
          <p:cNvPr id="8" name="矩形 7"/>
          <p:cNvSpPr/>
          <p:nvPr/>
        </p:nvSpPr>
        <p:spPr>
          <a:xfrm>
            <a:off x="569246" y="4936332"/>
            <a:ext cx="2731837" cy="230832"/>
          </a:xfrm>
          <a:prstGeom prst="rect">
            <a:avLst/>
          </a:prstGeom>
        </p:spPr>
        <p:txBody>
          <a:bodyPr wrap="none">
            <a:spAutoFit/>
          </a:bodyPr>
          <a:lstStyle/>
          <a:p>
            <a:pPr algn="ctr">
              <a:defRPr/>
            </a:pPr>
            <a:r>
              <a:rPr 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rPr>
              <a:t>National Tsing Hua University ® copyright OIA</a:t>
            </a:r>
            <a:endParaRPr lang="zh-TW" altLang="en-US" sz="900" b="1" dirty="0">
              <a:solidFill>
                <a:schemeClr val="bg1"/>
              </a:solidFill>
              <a:latin typeface="Arial" panose="020B0604020202090204" pitchFamily="34" charset="0"/>
              <a:ea typeface="新細明體" panose="02020500000000000000" pitchFamily="18" charset="-120"/>
              <a:cs typeface="Arial" panose="020B0604020202090204" pitchFamily="34" charset="0"/>
            </a:endParaRPr>
          </a:p>
        </p:txBody>
      </p:sp>
      <p:sp>
        <p:nvSpPr>
          <p:cNvPr id="4105" name="Rectangle 9"/>
          <p:cNvSpPr>
            <a:spLocks noChangeArrowheads="1"/>
          </p:cNvSpPr>
          <p:nvPr/>
        </p:nvSpPr>
        <p:spPr bwMode="auto">
          <a:xfrm>
            <a:off x="0" y="681041"/>
            <a:ext cx="9144000" cy="108347"/>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633869"/>
          </a:solidFill>
          <a:ln w="15875">
            <a:noFill/>
            <a:miter lim="800000"/>
          </a:ln>
          <a:effectLst/>
        </p:spPr>
        <p:txBody>
          <a:bodyPr wrap="none" anchor="ctr"/>
          <a:lstStyle/>
          <a:p>
            <a:pPr>
              <a:defRPr/>
            </a:pPr>
            <a:endParaRPr lang="zh-TW" altLang="en-US" sz="1350">
              <a:ea typeface="新細明體" panose="02020500000000000000"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ln>
          <a:effectLst/>
        </p:spPr>
        <p:txBody>
          <a:bodyPr vert="horz" wrap="square" lIns="91440" tIns="45720" rIns="91440" bIns="45720" numCol="1" anchor="t" anchorCtr="0" compatLnSpc="1"/>
          <a:lstStyle>
            <a:lvl1pPr algn="r">
              <a:defRPr sz="900">
                <a:solidFill>
                  <a:schemeClr val="bg1"/>
                </a:solidFill>
                <a:latin typeface="Arial" panose="020B0604020202090204" pitchFamily="34" charset="0"/>
                <a:ea typeface="新細明體" panose="02020500000000000000" pitchFamily="18" charset="-120"/>
              </a:defRPr>
            </a:lvl1pPr>
          </a:lstStyle>
          <a:p>
            <a:fld id="{D9B6BDF2-6896-4B98-8776-C18582F63BA5}" type="slidenum">
              <a:rPr lang="zh-TW" altLang="en-US" smtClean="0"/>
              <a:t>‹#›</a:t>
            </a:fld>
            <a:endParaRPr lang="zh-TW" altLang="en-US"/>
          </a:p>
        </p:txBody>
      </p:sp>
      <p:pic>
        <p:nvPicPr>
          <p:cNvPr id="7" name="圖片 6"/>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35060" y="96457"/>
            <a:ext cx="888965" cy="518914"/>
          </a:xfrm>
          <a:prstGeom prst="rect">
            <a:avLst/>
          </a:prstGeom>
        </p:spPr>
      </p:pic>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46309" y="4683590"/>
            <a:ext cx="741091" cy="427061"/>
          </a:xfrm>
          <a:prstGeom prst="rect">
            <a:avLst/>
          </a:prstGeom>
        </p:spPr>
      </p:pic>
      <p:sp>
        <p:nvSpPr>
          <p:cNvPr id="14" name="矩形 14">
            <a:extLst>
              <a:ext uri="{FF2B5EF4-FFF2-40B4-BE49-F238E27FC236}">
                <a16:creationId xmlns:a16="http://schemas.microsoft.com/office/drawing/2014/main" id="{750249CA-71B6-4D79-A2E8-BCFEA39CBC8E}"/>
              </a:ext>
            </a:extLst>
          </p:cNvPr>
          <p:cNvSpPr/>
          <p:nvPr userDrawn="1"/>
        </p:nvSpPr>
        <p:spPr>
          <a:xfrm>
            <a:off x="694904" y="4678027"/>
            <a:ext cx="2731837" cy="430887"/>
          </a:xfrm>
          <a:prstGeom prst="rect">
            <a:avLst/>
          </a:prstGeom>
        </p:spPr>
        <p:txBody>
          <a:bodyPr wrap="square">
            <a:spAutoFit/>
          </a:bodyPr>
          <a:lstStyle/>
          <a:p>
            <a:pPr algn="ctr">
              <a:spcAft>
                <a:spcPts val="0"/>
              </a:spcAft>
            </a:pP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a:t>
            </a:r>
            <a:r>
              <a:rPr kumimoji="0" lang="zh-CN" altLang="zh-TW" sz="1200" b="0" i="0" u="none" strike="noStrike" kern="100" cap="none" spc="0" normalizeH="0" baseline="0" noProof="0" dirty="0">
                <a:ln>
                  <a:noFill/>
                </a:ln>
                <a:solidFill>
                  <a:prstClr val="white"/>
                </a:solidFill>
                <a:effectLst/>
                <a:uLnTx/>
                <a:uFillTx/>
                <a:latin typeface="华文楷体" panose="02010600040101010101" pitchFamily="2" charset="-122"/>
                <a:ea typeface="华文楷体" panose="02010600040101010101" pitchFamily="2" charset="-122"/>
                <a:cs typeface="Times New Roman" panose="02020603050405020304" pitchFamily="18" charset="0"/>
              </a:rPr>
              <a:t>学</a:t>
            </a:r>
            <a:r>
              <a:rPr lang="zh-CN"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院</a:t>
            </a:r>
            <a:endParaRPr lang="zh-TW" altLang="zh-TW" sz="12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100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100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100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rtl="0" eaLnBrk="1" fontAlgn="base" hangingPunct="1">
        <a:spcBef>
          <a:spcPct val="0"/>
        </a:spcBef>
        <a:spcAft>
          <a:spcPct val="0"/>
        </a:spcAft>
        <a:defRPr kumimoji="1" sz="3200" b="1">
          <a:solidFill>
            <a:schemeClr val="tx2"/>
          </a:solidFill>
          <a:latin typeface="Calibri" panose="020F07020304040A0204"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p:titleStyle>
    <p:bodyStyle>
      <a:lvl1pPr marL="257175" indent="-257175" algn="l" rtl="0" eaLnBrk="1" fontAlgn="base" hangingPunct="1">
        <a:spcBef>
          <a:spcPct val="20000"/>
        </a:spcBef>
        <a:spcAft>
          <a:spcPct val="0"/>
        </a:spcAft>
        <a:buClr>
          <a:srgbClr val="8064A2"/>
        </a:buClr>
        <a:buSzPct val="80000"/>
        <a:buFont typeface="Wingdings" panose="05000000000000000000" pitchFamily="2" charset="2"/>
        <a:buChar char="l"/>
        <a:defRPr kumimoji="1" sz="2400">
          <a:solidFill>
            <a:schemeClr val="tx1"/>
          </a:solidFill>
          <a:latin typeface="Calibri" panose="020F07020304040A0204" pitchFamily="34" charset="0"/>
          <a:ea typeface="標楷體" pitchFamily="65" charset="-120"/>
          <a:cs typeface="+mn-cs"/>
        </a:defRPr>
      </a:lvl1pPr>
      <a:lvl2pPr marL="556895" indent="-213995" algn="l" rtl="0" eaLnBrk="1" fontAlgn="base" hangingPunct="1">
        <a:spcBef>
          <a:spcPct val="20000"/>
        </a:spcBef>
        <a:spcAft>
          <a:spcPct val="0"/>
        </a:spcAft>
        <a:buClr>
          <a:srgbClr val="8064A2"/>
        </a:buClr>
        <a:buSzPct val="90000"/>
        <a:buFont typeface="Arial" panose="020B0604020202090204" pitchFamily="34" charset="0"/>
        <a:buChar char="–"/>
        <a:defRPr kumimoji="1" sz="2000">
          <a:solidFill>
            <a:schemeClr val="tx1"/>
          </a:solidFill>
          <a:latin typeface="Calibri" panose="020F07020304040A0204" pitchFamily="34" charset="0"/>
          <a:ea typeface="標楷體" pitchFamily="65" charset="-120"/>
        </a:defRPr>
      </a:lvl2pPr>
      <a:lvl3pPr marL="857250" indent="-171450" algn="l" rtl="0" eaLnBrk="1" fontAlgn="base" hangingPunct="1">
        <a:spcBef>
          <a:spcPct val="20000"/>
        </a:spcBef>
        <a:spcAft>
          <a:spcPct val="0"/>
        </a:spcAft>
        <a:buChar char="•"/>
        <a:defRPr kumimoji="1" sz="1800">
          <a:solidFill>
            <a:schemeClr val="tx1"/>
          </a:solidFill>
          <a:latin typeface="+mn-lt"/>
          <a:ea typeface="+mn-ea"/>
        </a:defRPr>
      </a:lvl3pPr>
      <a:lvl4pPr marL="1200150" indent="-171450" algn="l" rtl="0" eaLnBrk="1" fontAlgn="base" hangingPunct="1">
        <a:spcBef>
          <a:spcPct val="20000"/>
        </a:spcBef>
        <a:spcAft>
          <a:spcPct val="0"/>
        </a:spcAft>
        <a:buChar char="–"/>
        <a:defRPr kumimoji="1" sz="1500">
          <a:solidFill>
            <a:schemeClr val="tx1"/>
          </a:solidFill>
          <a:latin typeface="+mn-lt"/>
          <a:ea typeface="+mn-ea"/>
        </a:defRPr>
      </a:lvl4pPr>
      <a:lvl5pPr marL="1543050" indent="-171450" algn="l" rtl="0" eaLnBrk="1" fontAlgn="base" hangingPunct="1">
        <a:spcBef>
          <a:spcPct val="20000"/>
        </a:spcBef>
        <a:spcAft>
          <a:spcPct val="0"/>
        </a:spcAft>
        <a:buChar char="»"/>
        <a:defRPr kumimoji="1" sz="1500">
          <a:solidFill>
            <a:schemeClr val="tx1"/>
          </a:solidFill>
          <a:latin typeface="+mn-lt"/>
          <a:ea typeface="+mn-ea"/>
        </a:defRPr>
      </a:lvl5pPr>
      <a:lvl6pPr marL="1885950" indent="-171450" algn="l" rtl="0" eaLnBrk="1" fontAlgn="base" hangingPunct="1">
        <a:spcBef>
          <a:spcPct val="20000"/>
        </a:spcBef>
        <a:spcAft>
          <a:spcPct val="0"/>
        </a:spcAft>
        <a:buChar char="»"/>
        <a:defRPr kumimoji="1" sz="1500">
          <a:solidFill>
            <a:schemeClr val="tx1"/>
          </a:solidFill>
          <a:latin typeface="+mn-lt"/>
          <a:ea typeface="+mn-ea"/>
        </a:defRPr>
      </a:lvl6pPr>
      <a:lvl7pPr marL="2228850" indent="-171450" algn="l" rtl="0" eaLnBrk="1" fontAlgn="base" hangingPunct="1">
        <a:spcBef>
          <a:spcPct val="20000"/>
        </a:spcBef>
        <a:spcAft>
          <a:spcPct val="0"/>
        </a:spcAft>
        <a:buChar char="»"/>
        <a:defRPr kumimoji="1" sz="1500">
          <a:solidFill>
            <a:schemeClr val="tx1"/>
          </a:solidFill>
          <a:latin typeface="+mn-lt"/>
          <a:ea typeface="+mn-ea"/>
        </a:defRPr>
      </a:lvl7pPr>
      <a:lvl8pPr marL="2571750" indent="-171450" algn="l" rtl="0" eaLnBrk="1" fontAlgn="base" hangingPunct="1">
        <a:spcBef>
          <a:spcPct val="20000"/>
        </a:spcBef>
        <a:spcAft>
          <a:spcPct val="0"/>
        </a:spcAft>
        <a:buChar char="»"/>
        <a:defRPr kumimoji="1" sz="1500">
          <a:solidFill>
            <a:schemeClr val="tx1"/>
          </a:solidFill>
          <a:latin typeface="+mn-lt"/>
          <a:ea typeface="+mn-ea"/>
        </a:defRPr>
      </a:lvl8pPr>
      <a:lvl9pPr marL="2914650" indent="-171450"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165" rtl="0" eaLnBrk="1" latinLnBrk="0" hangingPunct="1">
        <a:defRPr sz="1350" kern="1200">
          <a:solidFill>
            <a:schemeClr val="tx1"/>
          </a:solidFill>
          <a:latin typeface="+mn-lt"/>
          <a:ea typeface="+mn-ea"/>
          <a:cs typeface="+mn-cs"/>
        </a:defRPr>
      </a:lvl1pPr>
      <a:lvl2pPr marL="342900" algn="l" defTabSz="685165" rtl="0" eaLnBrk="1" latinLnBrk="0" hangingPunct="1">
        <a:defRPr sz="1350" kern="1200">
          <a:solidFill>
            <a:schemeClr val="tx1"/>
          </a:solidFill>
          <a:latin typeface="+mn-lt"/>
          <a:ea typeface="+mn-ea"/>
          <a:cs typeface="+mn-cs"/>
        </a:defRPr>
      </a:lvl2pPr>
      <a:lvl3pPr marL="685800" algn="l" defTabSz="685165" rtl="0" eaLnBrk="1" latinLnBrk="0" hangingPunct="1">
        <a:defRPr sz="1350" kern="1200">
          <a:solidFill>
            <a:schemeClr val="tx1"/>
          </a:solidFill>
          <a:latin typeface="+mn-lt"/>
          <a:ea typeface="+mn-ea"/>
          <a:cs typeface="+mn-cs"/>
        </a:defRPr>
      </a:lvl3pPr>
      <a:lvl4pPr marL="1028700" algn="l" defTabSz="685165" rtl="0" eaLnBrk="1" latinLnBrk="0" hangingPunct="1">
        <a:defRPr sz="1350" kern="1200">
          <a:solidFill>
            <a:schemeClr val="tx1"/>
          </a:solidFill>
          <a:latin typeface="+mn-lt"/>
          <a:ea typeface="+mn-ea"/>
          <a:cs typeface="+mn-cs"/>
        </a:defRPr>
      </a:lvl4pPr>
      <a:lvl5pPr marL="1371600" algn="l" defTabSz="685165" rtl="0" eaLnBrk="1" latinLnBrk="0" hangingPunct="1">
        <a:defRPr sz="1350" kern="1200">
          <a:solidFill>
            <a:schemeClr val="tx1"/>
          </a:solidFill>
          <a:latin typeface="+mn-lt"/>
          <a:ea typeface="+mn-ea"/>
          <a:cs typeface="+mn-cs"/>
        </a:defRPr>
      </a:lvl5pPr>
      <a:lvl6pPr marL="1714500" algn="l" defTabSz="685165" rtl="0" eaLnBrk="1" latinLnBrk="0" hangingPunct="1">
        <a:defRPr sz="1350" kern="1200">
          <a:solidFill>
            <a:schemeClr val="tx1"/>
          </a:solidFill>
          <a:latin typeface="+mn-lt"/>
          <a:ea typeface="+mn-ea"/>
          <a:cs typeface="+mn-cs"/>
        </a:defRPr>
      </a:lvl6pPr>
      <a:lvl7pPr marL="2057400" algn="l" defTabSz="685165" rtl="0" eaLnBrk="1" latinLnBrk="0" hangingPunct="1">
        <a:defRPr sz="1350" kern="1200">
          <a:solidFill>
            <a:schemeClr val="tx1"/>
          </a:solidFill>
          <a:latin typeface="+mn-lt"/>
          <a:ea typeface="+mn-ea"/>
          <a:cs typeface="+mn-cs"/>
        </a:defRPr>
      </a:lvl7pPr>
      <a:lvl8pPr marL="2400300" algn="l" defTabSz="685165" rtl="0" eaLnBrk="1" latinLnBrk="0" hangingPunct="1">
        <a:defRPr sz="1350" kern="1200">
          <a:solidFill>
            <a:schemeClr val="tx1"/>
          </a:solidFill>
          <a:latin typeface="+mn-lt"/>
          <a:ea typeface="+mn-ea"/>
          <a:cs typeface="+mn-cs"/>
        </a:defRPr>
      </a:lvl8pPr>
      <a:lvl9pPr marL="2743200" algn="l" defTabSz="685165"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7" name="Rectangle 17"/>
          <p:cNvSpPr>
            <a:spLocks noGrp="1" noChangeArrowheads="1"/>
          </p:cNvSpPr>
          <p:nvPr>
            <p:ph type="title"/>
          </p:nvPr>
        </p:nvSpPr>
        <p:spPr bwMode="auto">
          <a:xfrm>
            <a:off x="787401" y="108350"/>
            <a:ext cx="7888291" cy="5191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TW" altLang="en-US" dirty="0"/>
              <a:t>按一下以編輯母片標題樣式</a:t>
            </a:r>
          </a:p>
        </p:txBody>
      </p:sp>
      <p:sp>
        <p:nvSpPr>
          <p:cNvPr id="1028" name="Rectangle 18"/>
          <p:cNvSpPr>
            <a:spLocks noGrp="1" noChangeArrowheads="1"/>
          </p:cNvSpPr>
          <p:nvPr>
            <p:ph type="body" idx="1"/>
          </p:nvPr>
        </p:nvSpPr>
        <p:spPr bwMode="auto">
          <a:xfrm>
            <a:off x="457200" y="844153"/>
            <a:ext cx="8229600" cy="367188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TW" altLang="en-US" dirty="0"/>
              <a:t>按一下以編輯母片</a:t>
            </a:r>
          </a:p>
          <a:p>
            <a:pPr lvl="1"/>
            <a:r>
              <a:rPr lang="zh-TW" altLang="en-US" dirty="0"/>
              <a:t>按一下以編輯母片</a:t>
            </a:r>
          </a:p>
          <a:p>
            <a:pPr lvl="1"/>
            <a:endParaRPr lang="zh-TW" altLang="en-US" dirty="0"/>
          </a:p>
          <a:p>
            <a:pPr lvl="0"/>
            <a:endParaRPr lang="en-US" altLang="zh-TW" dirty="0"/>
          </a:p>
        </p:txBody>
      </p:sp>
      <p:pic>
        <p:nvPicPr>
          <p:cNvPr id="1029" name="Picture 25" descr="name"/>
          <p:cNvPicPr>
            <a:picLocks noChangeAspect="1" noChangeArrowheads="1"/>
          </p:cNvPicPr>
          <p:nvPr/>
        </p:nvPicPr>
        <p:blipFill>
          <a:blip r:embed="rId15" cstate="print"/>
          <a:srcRect/>
          <a:stretch>
            <a:fillRect/>
          </a:stretch>
        </p:blipFill>
        <p:spPr bwMode="auto">
          <a:xfrm>
            <a:off x="3" y="4768455"/>
            <a:ext cx="3833813" cy="148828"/>
          </a:xfrm>
          <a:prstGeom prst="rect">
            <a:avLst/>
          </a:prstGeom>
          <a:noFill/>
          <a:ln w="9525">
            <a:noFill/>
            <a:miter lim="800000"/>
            <a:headEnd/>
            <a:tailEnd/>
          </a:ln>
        </p:spPr>
      </p:pic>
      <p:sp>
        <p:nvSpPr>
          <p:cNvPr id="8" name="矩形 7"/>
          <p:cNvSpPr/>
          <p:nvPr/>
        </p:nvSpPr>
        <p:spPr>
          <a:xfrm>
            <a:off x="569247" y="4936333"/>
            <a:ext cx="2731838" cy="230832"/>
          </a:xfrm>
          <a:prstGeom prst="rect">
            <a:avLst/>
          </a:prstGeom>
        </p:spPr>
        <p:txBody>
          <a:bodyPr wrap="none">
            <a:spAutoFit/>
          </a:bodyPr>
          <a:lstStyle/>
          <a:p>
            <a:pPr algn="ctr">
              <a:defRPr/>
            </a:pPr>
            <a:r>
              <a:rPr lang="en-US" sz="900" b="1" dirty="0">
                <a:solidFill>
                  <a:schemeClr val="bg1"/>
                </a:solidFill>
                <a:latin typeface="Arial" pitchFamily="34" charset="0"/>
                <a:ea typeface="新細明體" pitchFamily="18" charset="-120"/>
                <a:cs typeface="Arial" pitchFamily="34" charset="0"/>
              </a:rPr>
              <a:t>National Tsing Hua University ® copyright OIA</a:t>
            </a:r>
            <a:endParaRPr lang="zh-TW" altLang="en-US" sz="900" b="1" dirty="0">
              <a:solidFill>
                <a:schemeClr val="bg1"/>
              </a:solidFill>
              <a:latin typeface="Arial" pitchFamily="34" charset="0"/>
              <a:ea typeface="新細明體" pitchFamily="18" charset="-120"/>
              <a:cs typeface="Arial" pitchFamily="34" charset="0"/>
            </a:endParaRPr>
          </a:p>
        </p:txBody>
      </p:sp>
      <p:sp>
        <p:nvSpPr>
          <p:cNvPr id="4105" name="Rectangle 9"/>
          <p:cNvSpPr>
            <a:spLocks noChangeArrowheads="1"/>
          </p:cNvSpPr>
          <p:nvPr/>
        </p:nvSpPr>
        <p:spPr bwMode="auto">
          <a:xfrm>
            <a:off x="0" y="681042"/>
            <a:ext cx="9144000" cy="108347"/>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4106" name="Rectangle 10"/>
          <p:cNvSpPr>
            <a:spLocks noChangeArrowheads="1"/>
          </p:cNvSpPr>
          <p:nvPr userDrawn="1"/>
        </p:nvSpPr>
        <p:spPr bwMode="auto">
          <a:xfrm>
            <a:off x="0" y="4624387"/>
            <a:ext cx="9144000" cy="539354"/>
          </a:xfrm>
          <a:prstGeom prst="rect">
            <a:avLst/>
          </a:prstGeom>
          <a:solidFill>
            <a:srgbClr val="990099"/>
          </a:solidFill>
          <a:ln w="15875">
            <a:noFill/>
            <a:miter lim="800000"/>
            <a:headEnd/>
            <a:tailEnd/>
          </a:ln>
          <a:effectLst>
            <a:prstShdw prst="shdw18" dist="17961" dir="13500000">
              <a:srgbClr val="990099">
                <a:gamma/>
                <a:shade val="60000"/>
                <a:invGamma/>
              </a:srgbClr>
            </a:prstShdw>
          </a:effectLst>
        </p:spPr>
        <p:txBody>
          <a:bodyPr wrap="none" anchor="ctr"/>
          <a:lstStyle/>
          <a:p>
            <a:pPr>
              <a:defRPr/>
            </a:pPr>
            <a:endParaRPr lang="zh-TW" altLang="en-US" sz="1351">
              <a:ea typeface="新細明體" pitchFamily="18" charset="-120"/>
            </a:endParaRPr>
          </a:p>
        </p:txBody>
      </p:sp>
      <p:sp>
        <p:nvSpPr>
          <p:cNvPr id="1043" name="Rectangle 19"/>
          <p:cNvSpPr>
            <a:spLocks noGrp="1" noChangeArrowheads="1"/>
          </p:cNvSpPr>
          <p:nvPr>
            <p:ph type="sldNum" sz="quarter" idx="4"/>
          </p:nvPr>
        </p:nvSpPr>
        <p:spPr bwMode="auto">
          <a:xfrm>
            <a:off x="6831013" y="4893471"/>
            <a:ext cx="2133600" cy="254794"/>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900">
                <a:solidFill>
                  <a:schemeClr val="bg1"/>
                </a:solidFill>
                <a:latin typeface="Arial" pitchFamily="34" charset="0"/>
                <a:ea typeface="新細明體" pitchFamily="18" charset="-120"/>
              </a:defRPr>
            </a:lvl1pPr>
          </a:lstStyle>
          <a:p>
            <a:fld id="{D9B6BDF2-6896-4B98-8776-C18582F63BA5}" type="slidenum">
              <a:rPr lang="zh-TW" altLang="en-US" smtClean="0"/>
              <a:pPr/>
              <a:t>‹#›</a:t>
            </a:fld>
            <a:endParaRPr lang="zh-TW" altLang="en-US"/>
          </a:p>
        </p:txBody>
      </p:sp>
      <p:pic>
        <p:nvPicPr>
          <p:cNvPr id="14" name="圖片 13"/>
          <p:cNvPicPr>
            <a:picLocks noChangeAspect="1"/>
          </p:cNvPicPr>
          <p:nvPr userDrawn="1"/>
        </p:nvPicPr>
        <p:blipFill>
          <a:blip r:embed="rId16">
            <a:extLst>
              <a:ext uri="{28A0092B-C50C-407E-A947-70E740481C1C}">
                <a14:useLocalDpi xmlns:a14="http://schemas.microsoft.com/office/drawing/2010/main" val="0"/>
              </a:ext>
            </a:extLst>
          </a:blip>
          <a:stretch>
            <a:fillRect/>
          </a:stretch>
        </p:blipFill>
        <p:spPr>
          <a:xfrm>
            <a:off x="99961" y="93461"/>
            <a:ext cx="687440" cy="504233"/>
          </a:xfrm>
          <a:prstGeom prst="rect">
            <a:avLst/>
          </a:prstGeom>
        </p:spPr>
      </p:pic>
      <p:grpSp>
        <p:nvGrpSpPr>
          <p:cNvPr id="2" name="群組 1"/>
          <p:cNvGrpSpPr/>
          <p:nvPr userDrawn="1"/>
        </p:nvGrpSpPr>
        <p:grpSpPr>
          <a:xfrm>
            <a:off x="65236" y="4679944"/>
            <a:ext cx="2417531" cy="565635"/>
            <a:chOff x="86980" y="6239920"/>
            <a:chExt cx="3223375" cy="754180"/>
          </a:xfrm>
        </p:grpSpPr>
        <p:pic>
          <p:nvPicPr>
            <p:cNvPr id="12" name="圖片 11"/>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86980" y="6239920"/>
              <a:ext cx="817930" cy="569415"/>
            </a:xfrm>
            <a:prstGeom prst="rect">
              <a:avLst/>
            </a:prstGeom>
          </p:spPr>
        </p:pic>
        <p:sp>
          <p:nvSpPr>
            <p:cNvPr id="15" name="矩形 14"/>
            <p:cNvSpPr/>
            <p:nvPr userDrawn="1"/>
          </p:nvSpPr>
          <p:spPr>
            <a:xfrm>
              <a:off x="829837" y="6347769"/>
              <a:ext cx="2480518" cy="646331"/>
            </a:xfrm>
            <a:prstGeom prst="rect">
              <a:avLst/>
            </a:prstGeom>
          </p:spPr>
          <p:txBody>
            <a:bodyPr wrap="square">
              <a:spAutoFit/>
            </a:bodyPr>
            <a:lstStyle/>
            <a:p>
              <a:pPr algn="ctr">
                <a:spcAft>
                  <a:spcPts val="0"/>
                </a:spcAft>
              </a:pPr>
              <a:r>
                <a:rPr lang="zh-CN"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香港中文大学（深圳）数据科学院</a:t>
              </a:r>
              <a:endParaRPr lang="zh-TW" altLang="zh-TW" sz="9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algn="ctr">
                <a:spcAft>
                  <a:spcPts val="0"/>
                </a:spcAft>
              </a:pPr>
              <a:r>
                <a:rPr lang="en-US" altLang="zh-TW" sz="75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CUHK</a:t>
              </a:r>
              <a:r>
                <a:rPr lang="en-US" altLang="zh-TW" sz="750" kern="100" dirty="0">
                  <a:solidFill>
                    <a:schemeClr val="bg1"/>
                  </a:solidFill>
                  <a:latin typeface="Times New Roman" panose="02020603050405020304" pitchFamily="18" charset="0"/>
                  <a:ea typeface="DengXian"/>
                  <a:cs typeface="Times New Roman" panose="02020603050405020304" pitchFamily="18" charset="0"/>
                </a:rPr>
                <a:t>-SZ Sc</a:t>
              </a:r>
              <a:r>
                <a:rPr lang="en-US" altLang="zh-TW" sz="750" kern="100" dirty="0">
                  <a:solidFill>
                    <a:schemeClr val="bg1"/>
                  </a:solidFill>
                  <a:latin typeface="Times New Roman" panose="02020603050405020304" pitchFamily="18" charset="0"/>
                  <a:ea typeface="標楷體" panose="03000509000000000000" pitchFamily="65" charset="-120"/>
                  <a:cs typeface="Times New Roman" panose="02020603050405020304" pitchFamily="18" charset="0"/>
                </a:rPr>
                <a:t>hool of Data Science</a:t>
              </a:r>
              <a:endParaRPr lang="zh-TW" altLang="zh-TW" sz="750" kern="100" dirty="0">
                <a:solidFill>
                  <a:schemeClr val="bg1"/>
                </a:solidFill>
                <a:latin typeface="Calibri" panose="020F0502020204030204" pitchFamily="34" charset="0"/>
                <a:ea typeface="新細明體" panose="02020500000000000000" pitchFamily="18" charset="-120"/>
                <a:cs typeface="Times New Roman" panose="02020603050405020304" pitchFamily="18" charset="0"/>
              </a:endParaRPr>
            </a:p>
          </p:txBody>
        </p:sp>
      </p:grpSp>
    </p:spTree>
    <p:extLst>
      <p:ext uri="{BB962C8B-B14F-4D97-AF65-F5344CB8AC3E}">
        <p14:creationId xmlns:p14="http://schemas.microsoft.com/office/powerpoint/2010/main" val="944461575"/>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Lst>
  <p:hf hdr="0" ftr="0" dt="0"/>
  <p:txStyles>
    <p:titleStyle>
      <a:lvl1pPr algn="l" rtl="0" eaLnBrk="1" fontAlgn="base" hangingPunct="1">
        <a:spcBef>
          <a:spcPct val="0"/>
        </a:spcBef>
        <a:spcAft>
          <a:spcPct val="0"/>
        </a:spcAft>
        <a:defRPr kumimoji="1" sz="3600" b="1">
          <a:solidFill>
            <a:schemeClr val="tx2"/>
          </a:solidFill>
          <a:latin typeface="Calibri"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itchFamily="34" charset="0"/>
          <a:ea typeface="標楷體" pitchFamily="65" charset="-120"/>
          <a:cs typeface="MS Sans Serif"/>
        </a:defRPr>
      </a:lvl5pPr>
      <a:lvl6pPr marL="342883" algn="l" rtl="0" eaLnBrk="1" fontAlgn="base" hangingPunct="1">
        <a:spcBef>
          <a:spcPct val="0"/>
        </a:spcBef>
        <a:spcAft>
          <a:spcPct val="0"/>
        </a:spcAft>
        <a:defRPr kumimoji="1" sz="2251" b="1">
          <a:solidFill>
            <a:schemeClr val="tx2"/>
          </a:solidFill>
          <a:latin typeface="MS Sans Serif"/>
          <a:ea typeface="MS Sans Serif"/>
          <a:cs typeface="MS Sans Serif"/>
        </a:defRPr>
      </a:lvl6pPr>
      <a:lvl7pPr marL="685766" algn="l" rtl="0" eaLnBrk="1" fontAlgn="base" hangingPunct="1">
        <a:spcBef>
          <a:spcPct val="0"/>
        </a:spcBef>
        <a:spcAft>
          <a:spcPct val="0"/>
        </a:spcAft>
        <a:defRPr kumimoji="1" sz="2251" b="1">
          <a:solidFill>
            <a:schemeClr val="tx2"/>
          </a:solidFill>
          <a:latin typeface="MS Sans Serif"/>
          <a:ea typeface="MS Sans Serif"/>
          <a:cs typeface="MS Sans Serif"/>
        </a:defRPr>
      </a:lvl7pPr>
      <a:lvl8pPr marL="1028648" algn="l" rtl="0" eaLnBrk="1" fontAlgn="base" hangingPunct="1">
        <a:spcBef>
          <a:spcPct val="0"/>
        </a:spcBef>
        <a:spcAft>
          <a:spcPct val="0"/>
        </a:spcAft>
        <a:defRPr kumimoji="1" sz="2251" b="1">
          <a:solidFill>
            <a:schemeClr val="tx2"/>
          </a:solidFill>
          <a:latin typeface="MS Sans Serif"/>
          <a:ea typeface="MS Sans Serif"/>
          <a:cs typeface="MS Sans Serif"/>
        </a:defRPr>
      </a:lvl8pPr>
      <a:lvl9pPr marL="1371532" algn="l" rtl="0" eaLnBrk="1" fontAlgn="base" hangingPunct="1">
        <a:spcBef>
          <a:spcPct val="0"/>
        </a:spcBef>
        <a:spcAft>
          <a:spcPct val="0"/>
        </a:spcAft>
        <a:defRPr kumimoji="1" sz="2251" b="1">
          <a:solidFill>
            <a:schemeClr val="tx2"/>
          </a:solidFill>
          <a:latin typeface="MS Sans Serif"/>
          <a:ea typeface="MS Sans Serif"/>
          <a:cs typeface="MS Sans Serif"/>
        </a:defRPr>
      </a:lvl9pPr>
    </p:titleStyle>
    <p:bodyStyle>
      <a:lvl1pPr marL="257162" indent="-257162" algn="l" rtl="0" eaLnBrk="1" fontAlgn="base" hangingPunct="1">
        <a:spcBef>
          <a:spcPct val="20000"/>
        </a:spcBef>
        <a:spcAft>
          <a:spcPct val="0"/>
        </a:spcAft>
        <a:buClr>
          <a:srgbClr val="0000FF"/>
        </a:buClr>
        <a:buSzPct val="80000"/>
        <a:buFont typeface="Wingdings" pitchFamily="2" charset="2"/>
        <a:buChar char="l"/>
        <a:defRPr kumimoji="1" sz="2800">
          <a:solidFill>
            <a:schemeClr val="tx1"/>
          </a:solidFill>
          <a:latin typeface="Calibri" pitchFamily="34" charset="0"/>
          <a:ea typeface="標楷體" pitchFamily="65" charset="-120"/>
          <a:cs typeface="+mn-cs"/>
        </a:defRPr>
      </a:lvl1pPr>
      <a:lvl2pPr marL="557185" indent="-214303" algn="l" rtl="0" eaLnBrk="1" fontAlgn="base" hangingPunct="1">
        <a:spcBef>
          <a:spcPct val="20000"/>
        </a:spcBef>
        <a:spcAft>
          <a:spcPct val="0"/>
        </a:spcAft>
        <a:buClr>
          <a:srgbClr val="0000FF"/>
        </a:buClr>
        <a:buSzPct val="90000"/>
        <a:buFont typeface="Arial" charset="0"/>
        <a:buChar char="–"/>
        <a:defRPr kumimoji="1" sz="2400">
          <a:solidFill>
            <a:schemeClr val="tx1"/>
          </a:solidFill>
          <a:latin typeface="Calibri" pitchFamily="34" charset="0"/>
          <a:ea typeface="標楷體" pitchFamily="65" charset="-120"/>
        </a:defRPr>
      </a:lvl2pPr>
      <a:lvl3pPr marL="857207" indent="-171442" algn="l" rtl="0" eaLnBrk="1" fontAlgn="base" hangingPunct="1">
        <a:spcBef>
          <a:spcPct val="20000"/>
        </a:spcBef>
        <a:spcAft>
          <a:spcPct val="0"/>
        </a:spcAft>
        <a:buChar char="•"/>
        <a:defRPr kumimoji="1" sz="1800">
          <a:solidFill>
            <a:schemeClr val="tx1"/>
          </a:solidFill>
          <a:latin typeface="+mn-lt"/>
          <a:ea typeface="+mn-ea"/>
        </a:defRPr>
      </a:lvl3pPr>
      <a:lvl4pPr marL="1200091" indent="-171442" algn="l" rtl="0" eaLnBrk="1" fontAlgn="base" hangingPunct="1">
        <a:spcBef>
          <a:spcPct val="20000"/>
        </a:spcBef>
        <a:spcAft>
          <a:spcPct val="0"/>
        </a:spcAft>
        <a:buChar char="–"/>
        <a:defRPr kumimoji="1" sz="1500">
          <a:solidFill>
            <a:schemeClr val="tx1"/>
          </a:solidFill>
          <a:latin typeface="+mn-lt"/>
          <a:ea typeface="+mn-ea"/>
        </a:defRPr>
      </a:lvl4pPr>
      <a:lvl5pPr marL="1542974" indent="-171442" algn="l" rtl="0" eaLnBrk="1" fontAlgn="base" hangingPunct="1">
        <a:spcBef>
          <a:spcPct val="20000"/>
        </a:spcBef>
        <a:spcAft>
          <a:spcPct val="0"/>
        </a:spcAft>
        <a:buChar char="»"/>
        <a:defRPr kumimoji="1" sz="1500">
          <a:solidFill>
            <a:schemeClr val="tx1"/>
          </a:solidFill>
          <a:latin typeface="+mn-lt"/>
          <a:ea typeface="+mn-ea"/>
        </a:defRPr>
      </a:lvl5pPr>
      <a:lvl6pPr marL="1885857" indent="-171442" algn="l" rtl="0" eaLnBrk="1" fontAlgn="base" hangingPunct="1">
        <a:spcBef>
          <a:spcPct val="20000"/>
        </a:spcBef>
        <a:spcAft>
          <a:spcPct val="0"/>
        </a:spcAft>
        <a:buChar char="»"/>
        <a:defRPr kumimoji="1" sz="1500">
          <a:solidFill>
            <a:schemeClr val="tx1"/>
          </a:solidFill>
          <a:latin typeface="+mn-lt"/>
          <a:ea typeface="+mn-ea"/>
        </a:defRPr>
      </a:lvl6pPr>
      <a:lvl7pPr marL="2228739" indent="-171442" algn="l" rtl="0" eaLnBrk="1" fontAlgn="base" hangingPunct="1">
        <a:spcBef>
          <a:spcPct val="20000"/>
        </a:spcBef>
        <a:spcAft>
          <a:spcPct val="0"/>
        </a:spcAft>
        <a:buChar char="»"/>
        <a:defRPr kumimoji="1" sz="1500">
          <a:solidFill>
            <a:schemeClr val="tx1"/>
          </a:solidFill>
          <a:latin typeface="+mn-lt"/>
          <a:ea typeface="+mn-ea"/>
        </a:defRPr>
      </a:lvl7pPr>
      <a:lvl8pPr marL="2571622" indent="-171442" algn="l" rtl="0" eaLnBrk="1" fontAlgn="base" hangingPunct="1">
        <a:spcBef>
          <a:spcPct val="20000"/>
        </a:spcBef>
        <a:spcAft>
          <a:spcPct val="0"/>
        </a:spcAft>
        <a:buChar char="»"/>
        <a:defRPr kumimoji="1" sz="1500">
          <a:solidFill>
            <a:schemeClr val="tx1"/>
          </a:solidFill>
          <a:latin typeface="+mn-lt"/>
          <a:ea typeface="+mn-ea"/>
        </a:defRPr>
      </a:lvl8pPr>
      <a:lvl9pPr marL="2914505" indent="-171442" algn="l" rtl="0" eaLnBrk="1" fontAlgn="base" hangingPunct="1">
        <a:spcBef>
          <a:spcPct val="20000"/>
        </a:spcBef>
        <a:spcAft>
          <a:spcPct val="0"/>
        </a:spcAft>
        <a:buChar char="»"/>
        <a:defRPr kumimoji="1" sz="1500">
          <a:solidFill>
            <a:schemeClr val="tx1"/>
          </a:solidFill>
          <a:latin typeface="+mn-lt"/>
          <a:ea typeface="+mn-ea"/>
        </a:defRPr>
      </a:lvl9pPr>
    </p:bodyStyle>
    <p:otherStyle>
      <a:defPPr>
        <a:defRPr lang="zh-TW"/>
      </a:defPPr>
      <a:lvl1pPr marL="0" algn="l" defTabSz="685766" rtl="0" eaLnBrk="1" latinLnBrk="0" hangingPunct="1">
        <a:defRPr sz="1351" kern="1200">
          <a:solidFill>
            <a:schemeClr val="tx1"/>
          </a:solidFill>
          <a:latin typeface="+mn-lt"/>
          <a:ea typeface="+mn-ea"/>
          <a:cs typeface="+mn-cs"/>
        </a:defRPr>
      </a:lvl1pPr>
      <a:lvl2pPr marL="342883" algn="l" defTabSz="685766" rtl="0" eaLnBrk="1" latinLnBrk="0" hangingPunct="1">
        <a:defRPr sz="1351" kern="1200">
          <a:solidFill>
            <a:schemeClr val="tx1"/>
          </a:solidFill>
          <a:latin typeface="+mn-lt"/>
          <a:ea typeface="+mn-ea"/>
          <a:cs typeface="+mn-cs"/>
        </a:defRPr>
      </a:lvl2pPr>
      <a:lvl3pPr marL="685766" algn="l" defTabSz="685766" rtl="0" eaLnBrk="1" latinLnBrk="0" hangingPunct="1">
        <a:defRPr sz="1351" kern="1200">
          <a:solidFill>
            <a:schemeClr val="tx1"/>
          </a:solidFill>
          <a:latin typeface="+mn-lt"/>
          <a:ea typeface="+mn-ea"/>
          <a:cs typeface="+mn-cs"/>
        </a:defRPr>
      </a:lvl3pPr>
      <a:lvl4pPr marL="1028648" algn="l" defTabSz="685766" rtl="0" eaLnBrk="1" latinLnBrk="0" hangingPunct="1">
        <a:defRPr sz="1351" kern="1200">
          <a:solidFill>
            <a:schemeClr val="tx1"/>
          </a:solidFill>
          <a:latin typeface="+mn-lt"/>
          <a:ea typeface="+mn-ea"/>
          <a:cs typeface="+mn-cs"/>
        </a:defRPr>
      </a:lvl4pPr>
      <a:lvl5pPr marL="1371532" algn="l" defTabSz="685766" rtl="0" eaLnBrk="1" latinLnBrk="0" hangingPunct="1">
        <a:defRPr sz="1351" kern="1200">
          <a:solidFill>
            <a:schemeClr val="tx1"/>
          </a:solidFill>
          <a:latin typeface="+mn-lt"/>
          <a:ea typeface="+mn-ea"/>
          <a:cs typeface="+mn-cs"/>
        </a:defRPr>
      </a:lvl5pPr>
      <a:lvl6pPr marL="1714415" algn="l" defTabSz="685766" rtl="0" eaLnBrk="1" latinLnBrk="0" hangingPunct="1">
        <a:defRPr sz="1351" kern="1200">
          <a:solidFill>
            <a:schemeClr val="tx1"/>
          </a:solidFill>
          <a:latin typeface="+mn-lt"/>
          <a:ea typeface="+mn-ea"/>
          <a:cs typeface="+mn-cs"/>
        </a:defRPr>
      </a:lvl6pPr>
      <a:lvl7pPr marL="2057297" algn="l" defTabSz="685766" rtl="0" eaLnBrk="1" latinLnBrk="0" hangingPunct="1">
        <a:defRPr sz="1351" kern="1200">
          <a:solidFill>
            <a:schemeClr val="tx1"/>
          </a:solidFill>
          <a:latin typeface="+mn-lt"/>
          <a:ea typeface="+mn-ea"/>
          <a:cs typeface="+mn-cs"/>
        </a:defRPr>
      </a:lvl7pPr>
      <a:lvl8pPr marL="2400180" algn="l" defTabSz="685766" rtl="0" eaLnBrk="1" latinLnBrk="0" hangingPunct="1">
        <a:defRPr sz="1351" kern="1200">
          <a:solidFill>
            <a:schemeClr val="tx1"/>
          </a:solidFill>
          <a:latin typeface="+mn-lt"/>
          <a:ea typeface="+mn-ea"/>
          <a:cs typeface="+mn-cs"/>
        </a:defRPr>
      </a:lvl8pPr>
      <a:lvl9pPr marL="2743063" algn="l" defTabSz="685766" rtl="0" eaLnBrk="1" latinLnBrk="0" hangingPunct="1">
        <a:defRPr sz="1351"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8.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371600" y="3376804"/>
            <a:ext cx="6400800" cy="1707432"/>
          </a:xfrm>
        </p:spPr>
        <p:txBody>
          <a:bodyPr/>
          <a:lstStyle/>
          <a:p>
            <a:r>
              <a:rPr lang="en-US" altLang="zh-TW" sz="2200" dirty="0"/>
              <a:t>Prof. Wei Chung Hsu</a:t>
            </a:r>
            <a:endParaRPr lang="en-US" altLang="zh-TW" sz="2200" dirty="0">
              <a:effectLst>
                <a:outerShdw blurRad="38100" dist="38100" dir="2700000" algn="tl">
                  <a:srgbClr val="000000">
                    <a:alpha val="43137"/>
                  </a:srgbClr>
                </a:outerShdw>
              </a:effectLst>
            </a:endParaRPr>
          </a:p>
          <a:p>
            <a:r>
              <a:rPr lang="en-US" altLang="zh-TW" sz="2200" dirty="0"/>
              <a:t>School of Data Science</a:t>
            </a:r>
          </a:p>
          <a:p>
            <a:r>
              <a:rPr lang="en-US" altLang="zh-TW" sz="2200" dirty="0"/>
              <a:t>Chinese University of Hong Kong, Shenzhen</a:t>
            </a:r>
          </a:p>
        </p:txBody>
      </p:sp>
      <p:sp>
        <p:nvSpPr>
          <p:cNvPr id="4" name="Title 1">
            <a:extLst>
              <a:ext uri="{FF2B5EF4-FFF2-40B4-BE49-F238E27FC236}">
                <a16:creationId xmlns:a16="http://schemas.microsoft.com/office/drawing/2014/main" id="{F9746D25-3F57-4335-8403-FEC473A31343}"/>
              </a:ext>
            </a:extLst>
          </p:cNvPr>
          <p:cNvSpPr txBox="1">
            <a:spLocks/>
          </p:cNvSpPr>
          <p:nvPr/>
        </p:nvSpPr>
        <p:spPr bwMode="auto">
          <a:xfrm>
            <a:off x="264319" y="782726"/>
            <a:ext cx="8743950" cy="3438144"/>
          </a:xfrm>
          <a:prstGeom prst="rect">
            <a:avLst/>
          </a:prstGeom>
          <a:noFill/>
          <a:ln w="9525">
            <a:noFill/>
            <a:miter lim="800000"/>
          </a:ln>
        </p:spPr>
        <p:txBody>
          <a:bodyPr vert="horz" wrap="square" lIns="91440" tIns="45720" rIns="91440" bIns="45720" numCol="1" anchor="ctr" anchorCtr="0" compatLnSpc="1"/>
          <a:lstStyle>
            <a:lvl1pPr algn="ctr" rtl="0" eaLnBrk="1" fontAlgn="base" hangingPunct="1">
              <a:spcBef>
                <a:spcPct val="0"/>
              </a:spcBef>
              <a:spcAft>
                <a:spcPct val="0"/>
              </a:spcAft>
              <a:defRPr kumimoji="1" sz="4000" b="1">
                <a:solidFill>
                  <a:schemeClr val="tx2"/>
                </a:solidFill>
                <a:latin typeface="Calibri" panose="020F07020304040A0204" pitchFamily="34" charset="0"/>
                <a:ea typeface="標楷體" pitchFamily="65" charset="-120"/>
                <a:cs typeface="+mj-cs"/>
              </a:defRPr>
            </a:lvl1pPr>
            <a:lvl2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2pPr>
            <a:lvl3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3pPr>
            <a:lvl4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4pPr>
            <a:lvl5pPr algn="l" rtl="0" eaLnBrk="1" fontAlgn="base" hangingPunct="1">
              <a:spcBef>
                <a:spcPct val="0"/>
              </a:spcBef>
              <a:spcAft>
                <a:spcPct val="0"/>
              </a:spcAft>
              <a:defRPr kumimoji="1" sz="2700" b="1">
                <a:solidFill>
                  <a:schemeClr val="tx2"/>
                </a:solidFill>
                <a:latin typeface="Calibri" panose="020F07020304040A0204" pitchFamily="34" charset="0"/>
                <a:ea typeface="標楷體" pitchFamily="65" charset="-120"/>
                <a:cs typeface="MS Sans Serif"/>
              </a:defRPr>
            </a:lvl5pPr>
            <a:lvl6pPr marL="342900" algn="l" rtl="0" eaLnBrk="1" fontAlgn="base" hangingPunct="1">
              <a:spcBef>
                <a:spcPct val="0"/>
              </a:spcBef>
              <a:spcAft>
                <a:spcPct val="0"/>
              </a:spcAft>
              <a:defRPr kumimoji="1" sz="2250" b="1">
                <a:solidFill>
                  <a:schemeClr val="tx2"/>
                </a:solidFill>
                <a:latin typeface="MS Sans Serif"/>
                <a:ea typeface="MS Sans Serif"/>
                <a:cs typeface="MS Sans Serif"/>
              </a:defRPr>
            </a:lvl6pPr>
            <a:lvl7pPr marL="685800" algn="l" rtl="0" eaLnBrk="1" fontAlgn="base" hangingPunct="1">
              <a:spcBef>
                <a:spcPct val="0"/>
              </a:spcBef>
              <a:spcAft>
                <a:spcPct val="0"/>
              </a:spcAft>
              <a:defRPr kumimoji="1" sz="2250" b="1">
                <a:solidFill>
                  <a:schemeClr val="tx2"/>
                </a:solidFill>
                <a:latin typeface="MS Sans Serif"/>
                <a:ea typeface="MS Sans Serif"/>
                <a:cs typeface="MS Sans Serif"/>
              </a:defRPr>
            </a:lvl7pPr>
            <a:lvl8pPr marL="1028700" algn="l" rtl="0" eaLnBrk="1" fontAlgn="base" hangingPunct="1">
              <a:spcBef>
                <a:spcPct val="0"/>
              </a:spcBef>
              <a:spcAft>
                <a:spcPct val="0"/>
              </a:spcAft>
              <a:defRPr kumimoji="1" sz="2250" b="1">
                <a:solidFill>
                  <a:schemeClr val="tx2"/>
                </a:solidFill>
                <a:latin typeface="MS Sans Serif"/>
                <a:ea typeface="MS Sans Serif"/>
                <a:cs typeface="MS Sans Serif"/>
              </a:defRPr>
            </a:lvl8pPr>
            <a:lvl9pPr marL="1371600" algn="l" rtl="0" eaLnBrk="1" fontAlgn="base" hangingPunct="1">
              <a:spcBef>
                <a:spcPct val="0"/>
              </a:spcBef>
              <a:spcAft>
                <a:spcPct val="0"/>
              </a:spcAft>
              <a:defRPr kumimoji="1" sz="2250" b="1">
                <a:solidFill>
                  <a:schemeClr val="tx2"/>
                </a:solidFill>
                <a:latin typeface="MS Sans Serif"/>
                <a:ea typeface="MS Sans Serif"/>
                <a:cs typeface="MS Sans Serif"/>
              </a:defRPr>
            </a:lvl9pPr>
          </a:lstStyle>
          <a:p>
            <a:pPr>
              <a:spcBef>
                <a:spcPct val="20000"/>
              </a:spcBef>
              <a:buClr>
                <a:srgbClr val="8064A2"/>
              </a:buClr>
              <a:buSzPct val="80000"/>
              <a:buFont typeface="Wingdings" panose="05000000000000000000" pitchFamily="2" charset="2"/>
              <a:buNone/>
              <a:defRPr/>
            </a:pPr>
            <a:r>
              <a:rPr lang="en-US" altLang="zh-TW" sz="3600" kern="0" dirty="0">
                <a:effectLst>
                  <a:outerShdw blurRad="38100" dist="38100" dir="2700000" algn="tl">
                    <a:srgbClr val="000000">
                      <a:alpha val="43137"/>
                    </a:srgbClr>
                  </a:outerShdw>
                </a:effectLst>
              </a:rPr>
              <a:t>CSC3060 – Computer Systems</a:t>
            </a:r>
            <a:br>
              <a:rPr lang="en-US" altLang="zh-TW" sz="3600" kern="0" dirty="0">
                <a:effectLst>
                  <a:outerShdw blurRad="38100" dist="38100" dir="2700000" algn="tl">
                    <a:srgbClr val="000000">
                      <a:alpha val="43137"/>
                    </a:srgbClr>
                  </a:outerShdw>
                </a:effectLst>
              </a:rPr>
            </a:br>
            <a:endParaRPr lang="en-US" altLang="zh-TW" sz="3600" kern="0" dirty="0">
              <a:effectLst>
                <a:outerShdw blurRad="38100" dist="38100" dir="2700000" algn="tl">
                  <a:srgbClr val="000000">
                    <a:alpha val="43137"/>
                  </a:srgbClr>
                </a:outerShdw>
              </a:effectLst>
            </a:endParaRPr>
          </a:p>
          <a:p>
            <a:pPr>
              <a:spcBef>
                <a:spcPct val="20000"/>
              </a:spcBef>
              <a:buClr>
                <a:srgbClr val="8064A2"/>
              </a:buClr>
              <a:buSzPct val="80000"/>
              <a:buFont typeface="Wingdings" panose="05000000000000000000" pitchFamily="2" charset="2"/>
              <a:buNone/>
              <a:defRPr/>
            </a:pPr>
            <a:r>
              <a:rPr lang="en-US" altLang="zh-TW" sz="3600" kern="0" dirty="0">
                <a:effectLst>
                  <a:outerShdw blurRad="38100" dist="38100" dir="2700000" algn="tl">
                    <a:srgbClr val="000000">
                      <a:alpha val="43137"/>
                    </a:srgbClr>
                  </a:outerShdw>
                </a:effectLst>
              </a:rPr>
              <a:t>Chapter 5: </a:t>
            </a:r>
          </a:p>
          <a:p>
            <a:pPr>
              <a:spcBef>
                <a:spcPct val="20000"/>
              </a:spcBef>
              <a:buClr>
                <a:srgbClr val="8064A2"/>
              </a:buClr>
              <a:buSzPct val="80000"/>
              <a:buFont typeface="Wingdings" panose="05000000000000000000" pitchFamily="2" charset="2"/>
              <a:buNone/>
              <a:defRPr/>
            </a:pPr>
            <a:r>
              <a:rPr lang="en-US" altLang="zh-TW" sz="3600" kern="0" dirty="0">
                <a:effectLst>
                  <a:outerShdw blurRad="38100" dist="38100" dir="2700000" algn="tl">
                    <a:srgbClr val="000000">
                      <a:alpha val="43137"/>
                    </a:srgbClr>
                  </a:outerShdw>
                </a:effectLst>
              </a:rPr>
              <a:t>Optimizing Program Performance</a:t>
            </a:r>
            <a:br>
              <a:rPr lang="en-US" altLang="zh-TW" sz="3600" b="0" kern="0" dirty="0">
                <a:solidFill>
                  <a:srgbClr val="002060"/>
                </a:solidFill>
                <a:latin typeface="Calibri" panose="020F0502020204030204" pitchFamily="34" charset="0"/>
                <a:cs typeface="+mn-cs"/>
              </a:rPr>
            </a:br>
            <a:br>
              <a:rPr lang="en-US" altLang="zh-TW" sz="2800" b="0" kern="0" dirty="0">
                <a:solidFill>
                  <a:srgbClr val="002060"/>
                </a:solidFill>
                <a:effectLst>
                  <a:outerShdw blurRad="38100" dist="38100" dir="2700000" algn="tl">
                    <a:srgbClr val="000000">
                      <a:alpha val="43137"/>
                    </a:srgbClr>
                  </a:outerShdw>
                </a:effectLst>
                <a:latin typeface="Calibri" panose="020F0502020204030204" pitchFamily="34" charset="0"/>
                <a:cs typeface="+mn-cs"/>
              </a:rPr>
            </a:br>
            <a:endParaRPr lang="zh-TW" altLang="en-US" kern="0" dirty="0">
              <a:effectLst>
                <a:outerShdw blurRad="38100" dist="38100" dir="2700000" algn="tl">
                  <a:srgbClr val="000000">
                    <a:alpha val="43137"/>
                  </a:srgbClr>
                </a:outerShdw>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1107-C509-60CA-FF63-D80F8506D095}"/>
              </a:ext>
            </a:extLst>
          </p:cNvPr>
          <p:cNvSpPr>
            <a:spLocks noGrp="1"/>
          </p:cNvSpPr>
          <p:nvPr>
            <p:ph type="title"/>
          </p:nvPr>
        </p:nvSpPr>
        <p:spPr/>
        <p:txBody>
          <a:bodyPr/>
          <a:lstStyle/>
          <a:p>
            <a:r>
              <a:rPr lang="en-US" dirty="0"/>
              <a:t>Program Optimization</a:t>
            </a:r>
          </a:p>
        </p:txBody>
      </p:sp>
      <p:sp>
        <p:nvSpPr>
          <p:cNvPr id="3" name="Content Placeholder 2">
            <a:extLst>
              <a:ext uri="{FF2B5EF4-FFF2-40B4-BE49-F238E27FC236}">
                <a16:creationId xmlns:a16="http://schemas.microsoft.com/office/drawing/2014/main" id="{FD766031-46AB-6EBF-B28A-AC23753353FC}"/>
              </a:ext>
            </a:extLst>
          </p:cNvPr>
          <p:cNvSpPr>
            <a:spLocks noGrp="1"/>
          </p:cNvSpPr>
          <p:nvPr>
            <p:ph idx="1"/>
          </p:nvPr>
        </p:nvSpPr>
        <p:spPr>
          <a:xfrm>
            <a:off x="175565" y="735806"/>
            <a:ext cx="8800185" cy="3671888"/>
          </a:xfrm>
        </p:spPr>
        <p:txBody>
          <a:bodyPr/>
          <a:lstStyle/>
          <a:p>
            <a:r>
              <a:rPr lang="en-US" sz="2000" dirty="0"/>
              <a:t>The focus is now shifting from simply writing correct programs to writing programs that perform efficiently. </a:t>
            </a:r>
          </a:p>
          <a:p>
            <a:pPr lvl="1"/>
            <a:r>
              <a:rPr lang="en-US" sz="1600" b="1" i="1" dirty="0">
                <a:solidFill>
                  <a:srgbClr val="111827"/>
                </a:solidFill>
                <a:effectLst/>
                <a:latin typeface="ui-sans-serif"/>
              </a:rPr>
              <a:t>Optimization matters because the right change in software can deliver orders-of-magnitude gains in speed, cost, power, and usability — often far more cheaply than changing hardware.</a:t>
            </a:r>
            <a:endParaRPr lang="en-US" sz="1800" b="0" i="1" dirty="0">
              <a:solidFill>
                <a:srgbClr val="111827"/>
              </a:solidFill>
              <a:effectLst/>
              <a:latin typeface="ui-sans-serif"/>
            </a:endParaRPr>
          </a:p>
          <a:p>
            <a:pPr lvl="1"/>
            <a:r>
              <a:rPr lang="en-US" sz="1800" b="1" i="1" dirty="0">
                <a:solidFill>
                  <a:srgbClr val="111827"/>
                </a:solidFill>
                <a:effectLst/>
                <a:latin typeface="ui-sans-serif"/>
              </a:rPr>
              <a:t>In performance-critical systems, optimization is especially valuable because even small gains can lead to significant practical benefits</a:t>
            </a:r>
            <a:r>
              <a:rPr lang="en-US" sz="1800" b="0" i="1" dirty="0">
                <a:solidFill>
                  <a:srgbClr val="111827"/>
                </a:solidFill>
                <a:effectLst/>
                <a:latin typeface="ui-sans-serif"/>
              </a:rPr>
              <a:t>.</a:t>
            </a:r>
            <a:endParaRPr lang="en-US" sz="1800" dirty="0"/>
          </a:p>
          <a:p>
            <a:r>
              <a:rPr lang="en-US" sz="2000" dirty="0"/>
              <a:t>This chapter explores how programmers can evaluate performance, identify bottlenecks, and apply optimization techniques to reduce execution time. </a:t>
            </a:r>
          </a:p>
          <a:p>
            <a:r>
              <a:rPr lang="en-US" sz="2000" dirty="0"/>
              <a:t>By connecting programming decisions to the behavior of the underlying hardware, this chapter shows that performance improvement is a deliberate and measurable process rather than a matter of trial and error.</a:t>
            </a:r>
          </a:p>
        </p:txBody>
      </p:sp>
    </p:spTree>
    <p:extLst>
      <p:ext uri="{BB962C8B-B14F-4D97-AF65-F5344CB8AC3E}">
        <p14:creationId xmlns:p14="http://schemas.microsoft.com/office/powerpoint/2010/main" val="3739260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1107-C509-60CA-FF63-D80F8506D095}"/>
              </a:ext>
            </a:extLst>
          </p:cNvPr>
          <p:cNvSpPr>
            <a:spLocks noGrp="1"/>
          </p:cNvSpPr>
          <p:nvPr>
            <p:ph type="title"/>
          </p:nvPr>
        </p:nvSpPr>
        <p:spPr/>
        <p:txBody>
          <a:bodyPr/>
          <a:lstStyle/>
          <a:p>
            <a:r>
              <a:rPr lang="en-US" dirty="0"/>
              <a:t>The </a:t>
            </a:r>
            <a:r>
              <a:rPr lang="en-US" dirty="0" err="1"/>
              <a:t>Deepseek</a:t>
            </a:r>
            <a:r>
              <a:rPr lang="en-US" dirty="0"/>
              <a:t> Example</a:t>
            </a:r>
          </a:p>
        </p:txBody>
      </p:sp>
      <p:sp>
        <p:nvSpPr>
          <p:cNvPr id="3" name="Content Placeholder 2">
            <a:extLst>
              <a:ext uri="{FF2B5EF4-FFF2-40B4-BE49-F238E27FC236}">
                <a16:creationId xmlns:a16="http://schemas.microsoft.com/office/drawing/2014/main" id="{FD766031-46AB-6EBF-B28A-AC23753353FC}"/>
              </a:ext>
            </a:extLst>
          </p:cNvPr>
          <p:cNvSpPr>
            <a:spLocks noGrp="1"/>
          </p:cNvSpPr>
          <p:nvPr>
            <p:ph idx="1"/>
          </p:nvPr>
        </p:nvSpPr>
        <p:spPr>
          <a:xfrm>
            <a:off x="175565" y="735806"/>
            <a:ext cx="8800185" cy="3671888"/>
          </a:xfrm>
        </p:spPr>
        <p:txBody>
          <a:bodyPr/>
          <a:lstStyle/>
          <a:p>
            <a:r>
              <a:rPr lang="en-US" sz="1800" b="0" i="0" dirty="0" err="1">
                <a:solidFill>
                  <a:srgbClr val="111827"/>
                </a:solidFill>
                <a:effectLst/>
                <a:latin typeface="+mn-lt"/>
              </a:rPr>
              <a:t>DeepSeek</a:t>
            </a:r>
            <a:r>
              <a:rPr lang="en-US" sz="1800" b="0" i="0" dirty="0">
                <a:solidFill>
                  <a:srgbClr val="111827"/>
                </a:solidFill>
                <a:effectLst/>
                <a:latin typeface="+mn-lt"/>
              </a:rPr>
              <a:t> has put strong pressure on the LLM market by showing that highly capable models can be trained and served at much lower cost (2K GPU </a:t>
            </a:r>
            <a:r>
              <a:rPr lang="en-US" sz="1800" b="0" i="1" dirty="0">
                <a:solidFill>
                  <a:srgbClr val="111827"/>
                </a:solidFill>
                <a:effectLst/>
                <a:latin typeface="+mn-lt"/>
              </a:rPr>
              <a:t>vs</a:t>
            </a:r>
            <a:r>
              <a:rPr lang="en-US" sz="1800" i="1" dirty="0">
                <a:solidFill>
                  <a:srgbClr val="111827"/>
                </a:solidFill>
                <a:latin typeface="+mn-lt"/>
              </a:rPr>
              <a:t>.</a:t>
            </a:r>
            <a:r>
              <a:rPr lang="en-US" sz="1800" b="0" i="0" dirty="0">
                <a:solidFill>
                  <a:srgbClr val="111827"/>
                </a:solidFill>
                <a:effectLst/>
                <a:latin typeface="+mn-lt"/>
              </a:rPr>
              <a:t> 16K) </a:t>
            </a:r>
          </a:p>
          <a:p>
            <a:r>
              <a:rPr lang="en-US" sz="1800" i="0" dirty="0" err="1">
                <a:solidFill>
                  <a:srgbClr val="111827"/>
                </a:solidFill>
                <a:effectLst/>
                <a:latin typeface="+mn-lt"/>
              </a:rPr>
              <a:t>DeepSeek’s</a:t>
            </a:r>
            <a:r>
              <a:rPr lang="en-US" sz="1800" i="0" dirty="0">
                <a:solidFill>
                  <a:srgbClr val="111827"/>
                </a:solidFill>
                <a:effectLst/>
                <a:latin typeface="+mn-lt"/>
              </a:rPr>
              <a:t> impact is roughly a 5×–20× improvement in cost efficiency in some comparisons.</a:t>
            </a:r>
          </a:p>
          <a:p>
            <a:r>
              <a:rPr lang="en-US" sz="2000" dirty="0"/>
              <a:t>While many AI experts believe that the major cost-performance improvements come from LLM models (such as </a:t>
            </a:r>
            <a:r>
              <a:rPr lang="en-US" sz="2000" dirty="0" err="1"/>
              <a:t>MoE</a:t>
            </a:r>
            <a:r>
              <a:rPr lang="en-US" sz="2000" dirty="0"/>
              <a:t> and GQA), the actual significant gains in efficiency stemmed from system performance enhancements.</a:t>
            </a:r>
          </a:p>
        </p:txBody>
      </p:sp>
      <p:graphicFrame>
        <p:nvGraphicFramePr>
          <p:cNvPr id="4" name="Table 3">
            <a:extLst>
              <a:ext uri="{FF2B5EF4-FFF2-40B4-BE49-F238E27FC236}">
                <a16:creationId xmlns:a16="http://schemas.microsoft.com/office/drawing/2014/main" id="{B317C494-99E8-65F4-7BBB-AACBE4343610}"/>
              </a:ext>
            </a:extLst>
          </p:cNvPr>
          <p:cNvGraphicFramePr>
            <a:graphicFrameLocks noGrp="1"/>
          </p:cNvGraphicFramePr>
          <p:nvPr>
            <p:extLst>
              <p:ext uri="{D42A27DB-BD31-4B8C-83A1-F6EECF244321}">
                <p14:modId xmlns:p14="http://schemas.microsoft.com/office/powerpoint/2010/main" val="1386016705"/>
              </p:ext>
            </p:extLst>
          </p:nvPr>
        </p:nvGraphicFramePr>
        <p:xfrm>
          <a:off x="490118" y="3052353"/>
          <a:ext cx="8353959" cy="1463767"/>
        </p:xfrm>
        <a:graphic>
          <a:graphicData uri="http://schemas.openxmlformats.org/drawingml/2006/table">
            <a:tbl>
              <a:tblPr/>
              <a:tblGrid>
                <a:gridCol w="2194560">
                  <a:extLst>
                    <a:ext uri="{9D8B030D-6E8A-4147-A177-3AD203B41FA5}">
                      <a16:colId xmlns:a16="http://schemas.microsoft.com/office/drawing/2014/main" val="824314137"/>
                    </a:ext>
                  </a:extLst>
                </a:gridCol>
                <a:gridCol w="2867558">
                  <a:extLst>
                    <a:ext uri="{9D8B030D-6E8A-4147-A177-3AD203B41FA5}">
                      <a16:colId xmlns:a16="http://schemas.microsoft.com/office/drawing/2014/main" val="3138719387"/>
                    </a:ext>
                  </a:extLst>
                </a:gridCol>
                <a:gridCol w="3291841">
                  <a:extLst>
                    <a:ext uri="{9D8B030D-6E8A-4147-A177-3AD203B41FA5}">
                      <a16:colId xmlns:a16="http://schemas.microsoft.com/office/drawing/2014/main" val="4079460363"/>
                    </a:ext>
                  </a:extLst>
                </a:gridCol>
              </a:tblGrid>
              <a:tr h="274826">
                <a:tc>
                  <a:txBody>
                    <a:bodyPr/>
                    <a:lstStyle/>
                    <a:p>
                      <a:pPr algn="l" fontAlgn="b"/>
                      <a:r>
                        <a:rPr lang="en-US" sz="1200" b="1" dirty="0">
                          <a:solidFill>
                            <a:srgbClr val="111827"/>
                          </a:solidFill>
                          <a:effectLst/>
                          <a:latin typeface="Arial" panose="020B0604020202020204" pitchFamily="34" charset="0"/>
                          <a:cs typeface="Arial" panose="020B0604020202020204" pitchFamily="34" charset="0"/>
                        </a:rPr>
                        <a:t>Optimization Type</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
                      <a:r>
                        <a:rPr kumimoji="0" lang="en-US" sz="1200" b="1" i="0" u="none" strike="noStrike" kern="1200" cap="none" spc="0" normalizeH="0" baseline="0" noProof="0" dirty="0">
                          <a:ln>
                            <a:noFill/>
                          </a:ln>
                          <a:solidFill>
                            <a:srgbClr val="111827"/>
                          </a:solidFill>
                          <a:effectLst/>
                          <a:uLnTx/>
                          <a:uFillTx/>
                          <a:latin typeface="Arial" panose="020B0604020202020204" pitchFamily="34" charset="0"/>
                          <a:ea typeface="+mn-ea"/>
                          <a:cs typeface="Arial" panose="020B0604020202020204" pitchFamily="34" charset="0"/>
                        </a:rPr>
                        <a:t>Estimated Performance </a:t>
                      </a:r>
                      <a:r>
                        <a:rPr lang="en-US" sz="1200" b="1" dirty="0">
                          <a:solidFill>
                            <a:srgbClr val="111827"/>
                          </a:solidFill>
                          <a:effectLst/>
                          <a:latin typeface="Arial" panose="020B0604020202020204" pitchFamily="34" charset="0"/>
                          <a:cs typeface="Arial" panose="020B0604020202020204" pitchFamily="34" charset="0"/>
                        </a:rPr>
                        <a:t>Contribution</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
                      <a:r>
                        <a:rPr lang="en-US" sz="1200" b="1">
                          <a:solidFill>
                            <a:srgbClr val="111827"/>
                          </a:solidFill>
                          <a:effectLst/>
                          <a:latin typeface="Arial" panose="020B0604020202020204" pitchFamily="34" charset="0"/>
                          <a:cs typeface="Arial" panose="020B0604020202020204" pitchFamily="34" charset="0"/>
                        </a:rPr>
                        <a:t>Key Technologies</a:t>
                      </a:r>
                    </a:p>
                  </a:txBody>
                  <a:tcPr anchor="b">
                    <a:lnL w="12700" cap="flat" cmpd="sng" algn="ctr">
                      <a:solidFill>
                        <a:srgbClr val="F3F4F6"/>
                      </a:solidFill>
                      <a:prstDash val="solid"/>
                      <a:round/>
                      <a:headEnd type="none" w="med" len="med"/>
                      <a:tailEnd type="none" w="med" len="med"/>
                    </a:lnL>
                    <a:lnR w="12700" cap="flat" cmpd="sng" algn="ctr">
                      <a:solidFill>
                        <a:srgbClr val="F3F4F6"/>
                      </a:solidFill>
                      <a:prstDash val="solid"/>
                      <a:round/>
                      <a:headEnd type="none" w="med" len="med"/>
                      <a:tailEnd type="none" w="med" len="med"/>
                    </a:lnR>
                    <a:lnT w="12700" cap="flat" cmpd="sng" algn="ctr">
                      <a:solidFill>
                        <a:srgbClr val="F3F4F6"/>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extLst>
                  <a:ext uri="{0D108BD9-81ED-4DB2-BD59-A6C34878D82A}">
                    <a16:rowId xmlns:a16="http://schemas.microsoft.com/office/drawing/2014/main" val="2379989885"/>
                  </a:ext>
                </a:extLst>
              </a:tr>
              <a:tr h="426941">
                <a:tc>
                  <a:txBody>
                    <a:bodyPr/>
                    <a:lstStyle/>
                    <a:p>
                      <a:pPr algn="l" fontAlgn="base"/>
                      <a:r>
                        <a:rPr lang="en-US" sz="1300" b="1" dirty="0">
                          <a:solidFill>
                            <a:srgbClr val="111827"/>
                          </a:solidFill>
                          <a:effectLst/>
                          <a:latin typeface="Arial" panose="020B0604020202020204" pitchFamily="34" charset="0"/>
                          <a:cs typeface="Arial" panose="020B0604020202020204" pitchFamily="34" charset="0"/>
                        </a:rPr>
                        <a:t>PTX &amp; System-Level</a:t>
                      </a:r>
                      <a:endParaRPr lang="en-US" sz="1300" b="1" dirty="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300" b="1" dirty="0">
                          <a:solidFill>
                            <a:srgbClr val="111827"/>
                          </a:solidFill>
                          <a:effectLst/>
                          <a:latin typeface="Arial" panose="020B0604020202020204" pitchFamily="34" charset="0"/>
                          <a:cs typeface="Arial" panose="020B0604020202020204" pitchFamily="34" charset="0"/>
                        </a:rPr>
                        <a:t>~60-70%</a:t>
                      </a:r>
                      <a:endParaRPr lang="en-US" sz="1300" b="1" dirty="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300" b="1" dirty="0">
                          <a:effectLst/>
                          <a:latin typeface="Arial" panose="020B0604020202020204" pitchFamily="34" charset="0"/>
                          <a:cs typeface="Arial" panose="020B0604020202020204" pitchFamily="34" charset="0"/>
                        </a:rPr>
                        <a:t>Direct PTX programming, thread optimization, cache management</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extLst>
                  <a:ext uri="{0D108BD9-81ED-4DB2-BD59-A6C34878D82A}">
                    <a16:rowId xmlns:a16="http://schemas.microsoft.com/office/drawing/2014/main" val="2089110622"/>
                  </a:ext>
                </a:extLst>
              </a:tr>
              <a:tr h="256165">
                <a:tc>
                  <a:txBody>
                    <a:bodyPr/>
                    <a:lstStyle/>
                    <a:p>
                      <a:pPr algn="l" fontAlgn="base"/>
                      <a:r>
                        <a:rPr lang="en-US" sz="1200" b="1">
                          <a:solidFill>
                            <a:srgbClr val="111827"/>
                          </a:solidFill>
                          <a:effectLst/>
                          <a:latin typeface="Arial" panose="020B0604020202020204" pitchFamily="34" charset="0"/>
                          <a:cs typeface="Arial" panose="020B0604020202020204" pitchFamily="34" charset="0"/>
                        </a:rPr>
                        <a:t>Model Architecture</a:t>
                      </a:r>
                      <a:endParaRPr lang="en-US" sz="1200" b="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200" b="1">
                          <a:solidFill>
                            <a:srgbClr val="111827"/>
                          </a:solidFill>
                          <a:effectLst/>
                          <a:latin typeface="Arial" panose="020B0604020202020204" pitchFamily="34" charset="0"/>
                          <a:cs typeface="Arial" panose="020B0604020202020204" pitchFamily="34" charset="0"/>
                        </a:rPr>
                        <a:t>~20-30%</a:t>
                      </a:r>
                      <a:endParaRPr lang="en-US" sz="1200" b="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200" b="0" dirty="0" err="1">
                          <a:effectLst/>
                          <a:latin typeface="Arial" panose="020B0604020202020204" pitchFamily="34" charset="0"/>
                          <a:cs typeface="Arial" panose="020B0604020202020204" pitchFamily="34" charset="0"/>
                        </a:rPr>
                        <a:t>MoE</a:t>
                      </a:r>
                      <a:r>
                        <a:rPr lang="en-US" sz="1200" b="0" dirty="0">
                          <a:effectLst/>
                          <a:latin typeface="Arial" panose="020B0604020202020204" pitchFamily="34" charset="0"/>
                          <a:cs typeface="Arial" panose="020B0604020202020204" pitchFamily="34" charset="0"/>
                        </a:rPr>
                        <a:t> design, GQA attention</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extLst>
                  <a:ext uri="{0D108BD9-81ED-4DB2-BD59-A6C34878D82A}">
                    <a16:rowId xmlns:a16="http://schemas.microsoft.com/office/drawing/2014/main" val="403405529"/>
                  </a:ext>
                </a:extLst>
              </a:tr>
              <a:tr h="426941">
                <a:tc>
                  <a:txBody>
                    <a:bodyPr/>
                    <a:lstStyle/>
                    <a:p>
                      <a:pPr algn="l" fontAlgn="base"/>
                      <a:r>
                        <a:rPr lang="en-US" sz="1200" b="1">
                          <a:solidFill>
                            <a:srgbClr val="111827"/>
                          </a:solidFill>
                          <a:effectLst/>
                          <a:latin typeface="Arial" panose="020B0604020202020204" pitchFamily="34" charset="0"/>
                          <a:cs typeface="Arial" panose="020B0604020202020204" pitchFamily="34" charset="0"/>
                        </a:rPr>
                        <a:t>Training Techniques</a:t>
                      </a:r>
                      <a:endParaRPr lang="en-US" sz="1200" b="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200" b="1">
                          <a:solidFill>
                            <a:srgbClr val="111827"/>
                          </a:solidFill>
                          <a:effectLst/>
                          <a:latin typeface="Arial" panose="020B0604020202020204" pitchFamily="34" charset="0"/>
                          <a:cs typeface="Arial" panose="020B0604020202020204" pitchFamily="34" charset="0"/>
                        </a:rPr>
                        <a:t>~10%</a:t>
                      </a:r>
                      <a:endParaRPr lang="en-US" sz="1200" b="0">
                        <a:effectLst/>
                        <a:latin typeface="Arial" panose="020B0604020202020204" pitchFamily="34" charset="0"/>
                        <a:cs typeface="Arial" panose="020B0604020202020204" pitchFamily="34" charset="0"/>
                      </a:endParaRP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tc>
                  <a:txBody>
                    <a:bodyPr/>
                    <a:lstStyle/>
                    <a:p>
                      <a:pPr algn="l" fontAlgn="base"/>
                      <a:r>
                        <a:rPr lang="en-US" sz="1200" b="0" dirty="0">
                          <a:effectLst/>
                          <a:latin typeface="Arial" panose="020B0604020202020204" pitchFamily="34" charset="0"/>
                          <a:cs typeface="Arial" panose="020B0604020202020204" pitchFamily="34" charset="0"/>
                        </a:rPr>
                        <a:t>Multi-step scheduling, reinforcement learning</a:t>
                      </a:r>
                    </a:p>
                  </a:txBody>
                  <a:tcPr anchor="ctr">
                    <a:lnL w="12700" cap="flat" cmpd="sng" algn="ctr">
                      <a:solidFill>
                        <a:srgbClr val="F9FAFB"/>
                      </a:solidFill>
                      <a:prstDash val="solid"/>
                      <a:round/>
                      <a:headEnd type="none" w="med" len="med"/>
                      <a:tailEnd type="none" w="med" len="med"/>
                    </a:lnL>
                    <a:lnR w="12700" cap="flat" cmpd="sng" algn="ctr">
                      <a:solidFill>
                        <a:srgbClr val="F9FAFB"/>
                      </a:solidFill>
                      <a:prstDash val="solid"/>
                      <a:round/>
                      <a:headEnd type="none" w="med" len="med"/>
                      <a:tailEnd type="none" w="med" len="med"/>
                    </a:lnR>
                    <a:lnT w="12700" cap="flat" cmpd="sng" algn="ctr">
                      <a:solidFill>
                        <a:srgbClr val="F9FAFB"/>
                      </a:solidFill>
                      <a:prstDash val="solid"/>
                      <a:round/>
                      <a:headEnd type="none" w="med" len="med"/>
                      <a:tailEnd type="none" w="med" len="med"/>
                    </a:lnT>
                    <a:lnB w="12700" cap="flat" cmpd="sng" algn="ctr">
                      <a:solidFill>
                        <a:srgbClr val="F9FAFB"/>
                      </a:solidFill>
                      <a:prstDash val="solid"/>
                      <a:round/>
                      <a:headEnd type="none" w="med" len="med"/>
                      <a:tailEnd type="none" w="med" len="med"/>
                    </a:lnB>
                    <a:solidFill>
                      <a:srgbClr val="FFFF00"/>
                    </a:solidFill>
                  </a:tcPr>
                </a:tc>
                <a:extLst>
                  <a:ext uri="{0D108BD9-81ED-4DB2-BD59-A6C34878D82A}">
                    <a16:rowId xmlns:a16="http://schemas.microsoft.com/office/drawing/2014/main" val="2817577022"/>
                  </a:ext>
                </a:extLst>
              </a:tr>
            </a:tbl>
          </a:graphicData>
        </a:graphic>
      </p:graphicFrame>
    </p:spTree>
    <p:extLst>
      <p:ext uri="{BB962C8B-B14F-4D97-AF65-F5344CB8AC3E}">
        <p14:creationId xmlns:p14="http://schemas.microsoft.com/office/powerpoint/2010/main" val="2637007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1107-C509-60CA-FF63-D80F8506D095}"/>
              </a:ext>
            </a:extLst>
          </p:cNvPr>
          <p:cNvSpPr>
            <a:spLocks noGrp="1"/>
          </p:cNvSpPr>
          <p:nvPr>
            <p:ph type="title"/>
          </p:nvPr>
        </p:nvSpPr>
        <p:spPr/>
        <p:txBody>
          <a:bodyPr/>
          <a:lstStyle/>
          <a:p>
            <a:r>
              <a:rPr lang="en-US" dirty="0"/>
              <a:t>Is Code Optimization Hard?</a:t>
            </a:r>
          </a:p>
        </p:txBody>
      </p:sp>
      <p:sp>
        <p:nvSpPr>
          <p:cNvPr id="3" name="Content Placeholder 2">
            <a:extLst>
              <a:ext uri="{FF2B5EF4-FFF2-40B4-BE49-F238E27FC236}">
                <a16:creationId xmlns:a16="http://schemas.microsoft.com/office/drawing/2014/main" id="{FD766031-46AB-6EBF-B28A-AC23753353FC}"/>
              </a:ext>
            </a:extLst>
          </p:cNvPr>
          <p:cNvSpPr>
            <a:spLocks noGrp="1"/>
          </p:cNvSpPr>
          <p:nvPr>
            <p:ph idx="1"/>
          </p:nvPr>
        </p:nvSpPr>
        <p:spPr>
          <a:xfrm>
            <a:off x="446405" y="735806"/>
            <a:ext cx="8229600" cy="3671888"/>
          </a:xfrm>
        </p:spPr>
        <p:txBody>
          <a:bodyPr/>
          <a:lstStyle/>
          <a:p>
            <a:r>
              <a:rPr lang="en-US" dirty="0"/>
              <a:t>Code optimization is fun</a:t>
            </a:r>
          </a:p>
          <a:p>
            <a:pPr lvl="1"/>
            <a:r>
              <a:rPr lang="en-US" dirty="0"/>
              <a:t>If you like solving puzzles and mysteries</a:t>
            </a:r>
          </a:p>
          <a:p>
            <a:pPr lvl="1"/>
            <a:r>
              <a:rPr lang="en-US" dirty="0"/>
              <a:t>Measurable wins could sometimes lead to high rewards</a:t>
            </a:r>
          </a:p>
          <a:p>
            <a:pPr lvl="1"/>
            <a:r>
              <a:rPr lang="en-US" dirty="0"/>
              <a:t>Creative constraints (work with limits: time, resource, memory, …)</a:t>
            </a:r>
          </a:p>
          <a:p>
            <a:pPr lvl="1"/>
            <a:r>
              <a:rPr lang="en-US" dirty="0"/>
              <a:t>And you like using </a:t>
            </a:r>
            <a:r>
              <a:rPr lang="en-US" sz="2200" b="1" i="1" dirty="0"/>
              <a:t>all</a:t>
            </a:r>
            <a:r>
              <a:rPr lang="en-US" dirty="0"/>
              <a:t> of your computer science knowledge</a:t>
            </a:r>
          </a:p>
          <a:p>
            <a:r>
              <a:rPr lang="en-US" dirty="0"/>
              <a:t>Performance / Efficiency is critical in every part of the system</a:t>
            </a:r>
          </a:p>
          <a:p>
            <a:pPr lvl="1"/>
            <a:r>
              <a:rPr lang="en-US" dirty="0"/>
              <a:t>Compilers (4180), Parallel Programming (4005), HPC (4107), and Computer architecture (6031) are all related to these objectives</a:t>
            </a:r>
          </a:p>
          <a:p>
            <a:pPr lvl="1"/>
            <a:r>
              <a:rPr lang="en-US" dirty="0"/>
              <a:t>Data structures (3200) and Algorithms (4120) make huge differences</a:t>
            </a:r>
          </a:p>
        </p:txBody>
      </p:sp>
    </p:spTree>
    <p:extLst>
      <p:ext uri="{BB962C8B-B14F-4D97-AF65-F5344CB8AC3E}">
        <p14:creationId xmlns:p14="http://schemas.microsoft.com/office/powerpoint/2010/main" val="3766009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F1107-C509-60CA-FF63-D80F8506D095}"/>
              </a:ext>
            </a:extLst>
          </p:cNvPr>
          <p:cNvSpPr>
            <a:spLocks noGrp="1"/>
          </p:cNvSpPr>
          <p:nvPr>
            <p:ph type="title"/>
          </p:nvPr>
        </p:nvSpPr>
        <p:spPr/>
        <p:txBody>
          <a:bodyPr/>
          <a:lstStyle/>
          <a:p>
            <a:r>
              <a:rPr lang="en-US" dirty="0"/>
              <a:t>Is Code Optimization Hard?</a:t>
            </a:r>
          </a:p>
        </p:txBody>
      </p:sp>
      <p:sp>
        <p:nvSpPr>
          <p:cNvPr id="3" name="Content Placeholder 2">
            <a:extLst>
              <a:ext uri="{FF2B5EF4-FFF2-40B4-BE49-F238E27FC236}">
                <a16:creationId xmlns:a16="http://schemas.microsoft.com/office/drawing/2014/main" id="{FD766031-46AB-6EBF-B28A-AC23753353FC}"/>
              </a:ext>
            </a:extLst>
          </p:cNvPr>
          <p:cNvSpPr>
            <a:spLocks noGrp="1"/>
          </p:cNvSpPr>
          <p:nvPr>
            <p:ph idx="1"/>
          </p:nvPr>
        </p:nvSpPr>
        <p:spPr>
          <a:xfrm>
            <a:off x="446405" y="735806"/>
            <a:ext cx="8229600" cy="3671888"/>
          </a:xfrm>
        </p:spPr>
        <p:txBody>
          <a:bodyPr/>
          <a:lstStyle/>
          <a:p>
            <a:r>
              <a:rPr lang="en-US" dirty="0"/>
              <a:t>Code optimization is fun</a:t>
            </a:r>
          </a:p>
          <a:p>
            <a:pPr lvl="1"/>
            <a:r>
              <a:rPr lang="en-US" dirty="0"/>
              <a:t>If you like solving puzzles and mysteries</a:t>
            </a:r>
          </a:p>
          <a:p>
            <a:pPr lvl="1"/>
            <a:r>
              <a:rPr lang="en-US" dirty="0"/>
              <a:t>Measurable wins could sometimes lead to high rewards</a:t>
            </a:r>
          </a:p>
          <a:p>
            <a:pPr lvl="1"/>
            <a:r>
              <a:rPr lang="en-US" dirty="0"/>
              <a:t>Creative constraints (work with limits: time, resource, memory, …)</a:t>
            </a:r>
          </a:p>
          <a:p>
            <a:pPr lvl="1"/>
            <a:r>
              <a:rPr lang="en-US" dirty="0"/>
              <a:t>And you like using </a:t>
            </a:r>
            <a:r>
              <a:rPr lang="en-US" sz="2200" b="1" i="1" dirty="0"/>
              <a:t>all</a:t>
            </a:r>
            <a:r>
              <a:rPr lang="en-US" dirty="0"/>
              <a:t> of your computer science knowledge</a:t>
            </a:r>
          </a:p>
          <a:p>
            <a:r>
              <a:rPr lang="en-US" dirty="0"/>
              <a:t>Performance / Efficiency is critical in every part of the system</a:t>
            </a:r>
          </a:p>
          <a:p>
            <a:pPr lvl="1"/>
            <a:r>
              <a:rPr lang="en-US" dirty="0"/>
              <a:t>Compilers (4180), Parallel Programming (4005), HPC (4107), and Computer architecture (6031) are all related to these objectives</a:t>
            </a:r>
          </a:p>
          <a:p>
            <a:pPr lvl="1"/>
            <a:r>
              <a:rPr lang="en-US" dirty="0"/>
              <a:t>Data structures (3200) and Algorithms (4120) make huge differences</a:t>
            </a:r>
          </a:p>
        </p:txBody>
      </p:sp>
      <p:sp>
        <p:nvSpPr>
          <p:cNvPr id="4" name="TextBox 3">
            <a:extLst>
              <a:ext uri="{FF2B5EF4-FFF2-40B4-BE49-F238E27FC236}">
                <a16:creationId xmlns:a16="http://schemas.microsoft.com/office/drawing/2014/main" id="{2E7B1659-09C6-A099-121C-67BE33C25D06}"/>
              </a:ext>
            </a:extLst>
          </p:cNvPr>
          <p:cNvSpPr txBox="1"/>
          <p:nvPr/>
        </p:nvSpPr>
        <p:spPr>
          <a:xfrm>
            <a:off x="1821485" y="881130"/>
            <a:ext cx="7190841" cy="2308324"/>
          </a:xfrm>
          <a:prstGeom prst="rect">
            <a:avLst/>
          </a:prstGeom>
          <a:solidFill>
            <a:srgbClr val="FFFF00"/>
          </a:solidFill>
        </p:spPr>
        <p:txBody>
          <a:bodyPr wrap="square" rtlCol="0" anchor="ctr" anchorCtr="1">
            <a:spAutoFit/>
          </a:bodyPr>
          <a:lstStyle/>
          <a:p>
            <a:r>
              <a:rPr lang="en-US" dirty="0">
                <a:ea typeface="標楷體" pitchFamily="65" charset="-120"/>
                <a:cs typeface="Calibri" panose="020F07020304040A0204" pitchFamily="34" charset="0"/>
              </a:rPr>
              <a:t>Examples:</a:t>
            </a:r>
          </a:p>
          <a:p>
            <a:pPr marL="342900" indent="-342900">
              <a:buAutoNum type="arabicParenR"/>
            </a:pPr>
            <a:r>
              <a:rPr lang="en-US" dirty="0">
                <a:ea typeface="標楷體" pitchFamily="65" charset="-120"/>
                <a:cs typeface="Calibri" panose="020F07020304040A0204" pitchFamily="34" charset="0"/>
              </a:rPr>
              <a:t>Google: An extra 0.5 seconds in search page generation reduced traffic by about 20%.</a:t>
            </a:r>
          </a:p>
          <a:p>
            <a:pPr marL="342900" indent="-342900">
              <a:buAutoNum type="arabicParenR"/>
            </a:pPr>
            <a:r>
              <a:rPr lang="en-US" dirty="0">
                <a:solidFill>
                  <a:srgbClr val="374151"/>
                </a:solidFill>
              </a:rPr>
              <a:t>Amazon: E</a:t>
            </a:r>
            <a:r>
              <a:rPr lang="en-US" dirty="0">
                <a:solidFill>
                  <a:srgbClr val="111827"/>
                </a:solidFill>
              </a:rPr>
              <a:t>very 100 </a:t>
            </a:r>
            <a:r>
              <a:rPr lang="en-US" dirty="0" err="1">
                <a:solidFill>
                  <a:srgbClr val="111827"/>
                </a:solidFill>
              </a:rPr>
              <a:t>ms</a:t>
            </a:r>
            <a:r>
              <a:rPr lang="en-US" dirty="0">
                <a:solidFill>
                  <a:srgbClr val="111827"/>
                </a:solidFill>
              </a:rPr>
              <a:t> of latency can cost about 1% in sales</a:t>
            </a:r>
            <a:r>
              <a:rPr lang="en-US" dirty="0">
                <a:solidFill>
                  <a:srgbClr val="374151"/>
                </a:solidFill>
                <a:latin typeface="ui-sans-serif"/>
              </a:rPr>
              <a:t>.</a:t>
            </a:r>
          </a:p>
          <a:p>
            <a:pPr marL="342900" indent="-342900">
              <a:buAutoNum type="arabicParenR"/>
            </a:pPr>
            <a:r>
              <a:rPr lang="en-US" dirty="0">
                <a:solidFill>
                  <a:srgbClr val="374151"/>
                </a:solidFill>
              </a:rPr>
              <a:t>High-frequency trading: Microseconds to milliseconds of execution system improvement matters a lot.</a:t>
            </a:r>
          </a:p>
          <a:p>
            <a:pPr marL="342900" indent="-342900">
              <a:buAutoNum type="arabicParenR"/>
            </a:pPr>
            <a:r>
              <a:rPr lang="en-US" dirty="0">
                <a:solidFill>
                  <a:srgbClr val="374151"/>
                </a:solidFill>
              </a:rPr>
              <a:t>Netflix: Even small percentage improvements in video encoding can save </a:t>
            </a:r>
            <a:r>
              <a:rPr lang="en-US" dirty="0">
                <a:solidFill>
                  <a:srgbClr val="111827"/>
                </a:solidFill>
              </a:rPr>
              <a:t>millions of dollars in CDN annually.</a:t>
            </a:r>
            <a:endParaRPr lang="en-US" dirty="0">
              <a:solidFill>
                <a:srgbClr val="374151"/>
              </a:solidFill>
            </a:endParaRPr>
          </a:p>
        </p:txBody>
      </p:sp>
    </p:spTree>
    <p:extLst>
      <p:ext uri="{BB962C8B-B14F-4D97-AF65-F5344CB8AC3E}">
        <p14:creationId xmlns:p14="http://schemas.microsoft.com/office/powerpoint/2010/main" val="851354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119355" y="29261"/>
            <a:ext cx="7871025" cy="571500"/>
          </a:xfrm>
        </p:spPr>
        <p:txBody>
          <a:bodyPr/>
          <a:lstStyle/>
          <a:p>
            <a:r>
              <a:rPr lang="en-US" dirty="0"/>
              <a:t>Using the Compiler in Program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58521" y="795929"/>
            <a:ext cx="9026957" cy="3833164"/>
          </a:xfrm>
        </p:spPr>
        <p:txBody>
          <a:bodyPr/>
          <a:lstStyle/>
          <a:p>
            <a:pPr marL="342900" lvl="1" indent="0">
              <a:buSzPct val="200000"/>
              <a:buNone/>
            </a:pPr>
            <a:r>
              <a:rPr lang="en-US" b="0" i="0" dirty="0">
                <a:solidFill>
                  <a:srgbClr val="111827"/>
                </a:solidFill>
                <a:effectLst/>
                <a:latin typeface="+mn-lt"/>
              </a:rPr>
              <a:t>An optimizing compiler is one of your most important partners in performance optimization work. It can automatically apply many low-level improvements. The first step is to e</a:t>
            </a:r>
            <a:r>
              <a:rPr lang="en-US" dirty="0">
                <a:solidFill>
                  <a:srgbClr val="111827"/>
                </a:solidFill>
                <a:latin typeface="+mn-lt"/>
              </a:rPr>
              <a:t>nable compiler optimizations</a:t>
            </a:r>
          </a:p>
          <a:p>
            <a:pPr marL="685800" lvl="2" indent="0">
              <a:buSzPct val="100000"/>
              <a:buNone/>
            </a:pPr>
            <a:r>
              <a:rPr lang="en-US" b="0" i="0" dirty="0">
                <a:solidFill>
                  <a:srgbClr val="111827"/>
                </a:solidFill>
                <a:effectLst/>
                <a:latin typeface="+mn-lt"/>
              </a:rPr>
              <a:t>	-O</a:t>
            </a:r>
            <a:r>
              <a:rPr lang="en-US" b="1" i="0" dirty="0">
                <a:solidFill>
                  <a:srgbClr val="111827"/>
                </a:solidFill>
                <a:effectLst/>
                <a:latin typeface="+mn-lt"/>
              </a:rPr>
              <a:t>n</a:t>
            </a:r>
            <a:r>
              <a:rPr lang="en-US" b="0" i="0" dirty="0">
                <a:solidFill>
                  <a:srgbClr val="111827"/>
                </a:solidFill>
                <a:effectLst/>
                <a:latin typeface="+mn-lt"/>
              </a:rPr>
              <a:t>, n is 0, 1, 2, 3, or 4 (in older compilers) </a:t>
            </a:r>
          </a:p>
          <a:p>
            <a:pPr marL="685800" lvl="2" indent="0">
              <a:buSzPct val="100000"/>
              <a:buNone/>
            </a:pPr>
            <a:r>
              <a:rPr lang="en-US" dirty="0">
                <a:solidFill>
                  <a:srgbClr val="111827"/>
                </a:solidFill>
                <a:latin typeface="+mn-lt"/>
              </a:rPr>
              <a:t>	-O0 : No optimizations, very fast compilation. Generated code is for debugging</a:t>
            </a:r>
          </a:p>
          <a:p>
            <a:pPr marL="685800" lvl="2" indent="0">
              <a:buSzPct val="100000"/>
              <a:buNone/>
            </a:pPr>
            <a:r>
              <a:rPr lang="en-US" b="0" i="0" dirty="0">
                <a:solidFill>
                  <a:srgbClr val="111827"/>
                </a:solidFill>
                <a:effectLst/>
                <a:latin typeface="+mn-lt"/>
              </a:rPr>
              <a:t>	-O1 : Basic optimizations. –O is also –O1</a:t>
            </a:r>
          </a:p>
          <a:p>
            <a:pPr marL="685800" lvl="2" indent="0">
              <a:buSzPct val="100000"/>
              <a:buNone/>
            </a:pPr>
            <a:r>
              <a:rPr lang="en-US" dirty="0">
                <a:solidFill>
                  <a:srgbClr val="111827"/>
                </a:solidFill>
                <a:latin typeface="+mn-lt"/>
              </a:rPr>
              <a:t>	-O2 : This is the recommended default for optimizations. It provides highly 	 optimized code that is safe, stable, and does not increase code size by much.   </a:t>
            </a:r>
          </a:p>
          <a:p>
            <a:pPr marL="0" indent="0" algn="l">
              <a:buNone/>
            </a:pPr>
            <a:r>
              <a:rPr lang="en-US" sz="1800" dirty="0">
                <a:solidFill>
                  <a:srgbClr val="111827"/>
                </a:solidFill>
                <a:latin typeface="+mn-lt"/>
              </a:rPr>
              <a:t>	</a:t>
            </a:r>
            <a:r>
              <a:rPr lang="en-US" sz="1800" b="0" i="0" dirty="0">
                <a:solidFill>
                  <a:srgbClr val="111827"/>
                </a:solidFill>
                <a:effectLst/>
                <a:latin typeface="+mn-lt"/>
              </a:rPr>
              <a:t>-O3: </a:t>
            </a:r>
            <a:r>
              <a:rPr lang="en-US" sz="1800" b="1" i="1" dirty="0">
                <a:solidFill>
                  <a:srgbClr val="111827"/>
                </a:solidFill>
                <a:effectLst/>
                <a:latin typeface="+mn-lt"/>
                <a:ea typeface="Calibri" panose="020F0502020204030204" pitchFamily="34" charset="0"/>
                <a:cs typeface="Calibri" panose="020F0502020204030204" pitchFamily="34" charset="0"/>
              </a:rPr>
              <a:t>Aggressive</a:t>
            </a:r>
            <a:r>
              <a:rPr lang="en-US" sz="1800" i="0" dirty="0">
                <a:solidFill>
                  <a:srgbClr val="111827"/>
                </a:solidFill>
                <a:effectLst/>
                <a:latin typeface="+mn-lt"/>
                <a:ea typeface="Calibri" panose="020F0502020204030204" pitchFamily="34" charset="0"/>
                <a:cs typeface="Calibri" panose="020F0502020204030204" pitchFamily="34" charset="0"/>
              </a:rPr>
              <a:t> Optimizations, including loop unrolling and </a:t>
            </a:r>
            <a:r>
              <a:rPr lang="en-US" sz="1800" i="0" dirty="0" err="1">
                <a:solidFill>
                  <a:srgbClr val="111827"/>
                </a:solidFill>
                <a:effectLst/>
                <a:latin typeface="+mn-lt"/>
                <a:ea typeface="Calibri" panose="020F0502020204030204" pitchFamily="34" charset="0"/>
                <a:cs typeface="Calibri" panose="020F0502020204030204" pitchFamily="34" charset="0"/>
              </a:rPr>
              <a:t>SIMDilization</a:t>
            </a:r>
            <a:r>
              <a:rPr lang="en-US" sz="1800" i="0" dirty="0">
                <a:solidFill>
                  <a:srgbClr val="111827"/>
                </a:solidFill>
                <a:effectLst/>
                <a:latin typeface="+mn-lt"/>
                <a:ea typeface="Calibri" panose="020F0502020204030204" pitchFamily="34" charset="0"/>
                <a:cs typeface="Calibri" panose="020F0502020204030204" pitchFamily="34" charset="0"/>
              </a:rPr>
              <a:t>. </a:t>
            </a:r>
          </a:p>
          <a:p>
            <a:pPr marL="0" indent="0" algn="l">
              <a:buNone/>
            </a:pPr>
            <a:r>
              <a:rPr lang="en-US" sz="1800" dirty="0">
                <a:solidFill>
                  <a:srgbClr val="111827"/>
                </a:solidFill>
                <a:latin typeface="+mn-lt"/>
                <a:ea typeface="Calibri" panose="020F0502020204030204" pitchFamily="34" charset="0"/>
                <a:cs typeface="Calibri" panose="020F0502020204030204" pitchFamily="34" charset="0"/>
              </a:rPr>
              <a:t>	-O4: Previously, -O4 enabled Link-Time Optimization (LTO); now, -O4 also 	implies -O3 along with LTO (-O3 -</a:t>
            </a:r>
            <a:r>
              <a:rPr lang="en-US" sz="1800" dirty="0" err="1">
                <a:solidFill>
                  <a:srgbClr val="111827"/>
                </a:solidFill>
                <a:latin typeface="+mn-lt"/>
                <a:ea typeface="Calibri" panose="020F0502020204030204" pitchFamily="34" charset="0"/>
                <a:cs typeface="Calibri" panose="020F0502020204030204" pitchFamily="34" charset="0"/>
              </a:rPr>
              <a:t>flto</a:t>
            </a:r>
            <a:r>
              <a:rPr lang="en-US" sz="1800" dirty="0">
                <a:solidFill>
                  <a:srgbClr val="111827"/>
                </a:solidFill>
                <a:latin typeface="+mn-lt"/>
                <a:ea typeface="Calibri" panose="020F0502020204030204" pitchFamily="34" charset="0"/>
                <a:cs typeface="Calibri" panose="020F0502020204030204" pitchFamily="34" charset="0"/>
              </a:rPr>
              <a:t>).</a:t>
            </a:r>
            <a:endParaRPr lang="en-US" sz="1800" b="1" i="0" dirty="0">
              <a:solidFill>
                <a:srgbClr val="111827"/>
              </a:solidFill>
              <a:effectLst/>
              <a:latin typeface="+mn-lt"/>
            </a:endParaRPr>
          </a:p>
        </p:txBody>
      </p:sp>
    </p:spTree>
    <p:extLst>
      <p:ext uri="{BB962C8B-B14F-4D97-AF65-F5344CB8AC3E}">
        <p14:creationId xmlns:p14="http://schemas.microsoft.com/office/powerpoint/2010/main" val="15956307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119355" y="29261"/>
            <a:ext cx="7871025" cy="571500"/>
          </a:xfrm>
        </p:spPr>
        <p:txBody>
          <a:bodyPr/>
          <a:lstStyle/>
          <a:p>
            <a:r>
              <a:rPr lang="en-US" dirty="0"/>
              <a:t>Using the Compiler in Program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58521" y="795929"/>
            <a:ext cx="9026957" cy="3833164"/>
          </a:xfrm>
        </p:spPr>
        <p:txBody>
          <a:bodyPr/>
          <a:lstStyle/>
          <a:p>
            <a:pPr marL="342900" lvl="1" indent="0">
              <a:buSzPct val="200000"/>
              <a:buNone/>
            </a:pPr>
            <a:r>
              <a:rPr lang="en-US" b="0" i="0" dirty="0">
                <a:solidFill>
                  <a:srgbClr val="111827"/>
                </a:solidFill>
                <a:effectLst/>
                <a:latin typeface="+mn-lt"/>
              </a:rPr>
              <a:t>An optimizing compiler is one of your most important partners in performance optimization work. It can automatically apply many low-level improvements. The first step is to e</a:t>
            </a:r>
            <a:r>
              <a:rPr lang="en-US" dirty="0">
                <a:solidFill>
                  <a:srgbClr val="111827"/>
                </a:solidFill>
                <a:latin typeface="+mn-lt"/>
              </a:rPr>
              <a:t>nable compiler optimizations</a:t>
            </a:r>
          </a:p>
          <a:p>
            <a:pPr marL="685800" lvl="2" indent="0">
              <a:buSzPct val="100000"/>
              <a:buNone/>
            </a:pPr>
            <a:r>
              <a:rPr lang="en-US" b="0" i="0" dirty="0">
                <a:solidFill>
                  <a:srgbClr val="111827"/>
                </a:solidFill>
                <a:effectLst/>
                <a:latin typeface="+mn-lt"/>
              </a:rPr>
              <a:t>	-O</a:t>
            </a:r>
            <a:r>
              <a:rPr lang="en-US" b="1" i="0" dirty="0">
                <a:solidFill>
                  <a:srgbClr val="111827"/>
                </a:solidFill>
                <a:effectLst/>
                <a:latin typeface="+mn-lt"/>
              </a:rPr>
              <a:t>n</a:t>
            </a:r>
            <a:r>
              <a:rPr lang="en-US" b="0" i="0" dirty="0">
                <a:solidFill>
                  <a:srgbClr val="111827"/>
                </a:solidFill>
                <a:effectLst/>
                <a:latin typeface="+mn-lt"/>
              </a:rPr>
              <a:t>, n is 0, 1, 2, 3, or 4 (in older compilers) </a:t>
            </a:r>
          </a:p>
          <a:p>
            <a:pPr marL="685800" lvl="2" indent="0">
              <a:buSzPct val="100000"/>
              <a:buNone/>
            </a:pPr>
            <a:r>
              <a:rPr lang="en-US" dirty="0">
                <a:solidFill>
                  <a:srgbClr val="111827"/>
                </a:solidFill>
                <a:latin typeface="+mn-lt"/>
              </a:rPr>
              <a:t>	-O0 : No optimizations, very fast compilation. Generated code is for debugging</a:t>
            </a:r>
          </a:p>
          <a:p>
            <a:pPr marL="685800" lvl="2" indent="0">
              <a:buSzPct val="100000"/>
              <a:buNone/>
            </a:pPr>
            <a:r>
              <a:rPr lang="en-US" b="0" i="0" dirty="0">
                <a:solidFill>
                  <a:srgbClr val="111827"/>
                </a:solidFill>
                <a:effectLst/>
                <a:latin typeface="+mn-lt"/>
              </a:rPr>
              <a:t>	-O1 : Basic optimizations. –O is also –O1</a:t>
            </a:r>
          </a:p>
          <a:p>
            <a:pPr marL="685800" lvl="2" indent="0">
              <a:buSzPct val="100000"/>
              <a:buNone/>
            </a:pPr>
            <a:r>
              <a:rPr lang="en-US" dirty="0">
                <a:solidFill>
                  <a:srgbClr val="111827"/>
                </a:solidFill>
                <a:latin typeface="+mn-lt"/>
              </a:rPr>
              <a:t>	-O2 : This is the recommended default for optimizations. It provides highly 	 optimized code that is safe, stable, and does not increase code size by much.   </a:t>
            </a:r>
          </a:p>
          <a:p>
            <a:pPr marL="0" indent="0" algn="l">
              <a:buNone/>
            </a:pPr>
            <a:r>
              <a:rPr lang="en-US" sz="1800" dirty="0">
                <a:solidFill>
                  <a:srgbClr val="111827"/>
                </a:solidFill>
                <a:latin typeface="+mn-lt"/>
              </a:rPr>
              <a:t>	</a:t>
            </a:r>
            <a:r>
              <a:rPr lang="en-US" sz="1800" b="0" i="0" dirty="0">
                <a:solidFill>
                  <a:srgbClr val="111827"/>
                </a:solidFill>
                <a:effectLst/>
                <a:latin typeface="+mn-lt"/>
              </a:rPr>
              <a:t>-O3: </a:t>
            </a:r>
            <a:r>
              <a:rPr lang="en-US" sz="1800" b="1" i="1" dirty="0">
                <a:solidFill>
                  <a:srgbClr val="111827"/>
                </a:solidFill>
                <a:effectLst/>
                <a:latin typeface="+mn-lt"/>
                <a:ea typeface="Calibri" panose="020F0502020204030204" pitchFamily="34" charset="0"/>
                <a:cs typeface="Calibri" panose="020F0502020204030204" pitchFamily="34" charset="0"/>
              </a:rPr>
              <a:t>Aggressive</a:t>
            </a:r>
            <a:r>
              <a:rPr lang="en-US" sz="1800" i="0" dirty="0">
                <a:solidFill>
                  <a:srgbClr val="111827"/>
                </a:solidFill>
                <a:effectLst/>
                <a:latin typeface="+mn-lt"/>
                <a:ea typeface="Calibri" panose="020F0502020204030204" pitchFamily="34" charset="0"/>
                <a:cs typeface="Calibri" panose="020F0502020204030204" pitchFamily="34" charset="0"/>
              </a:rPr>
              <a:t> Optimizations, including loop unrolling and </a:t>
            </a:r>
            <a:r>
              <a:rPr lang="en-US" sz="1800" i="0" dirty="0" err="1">
                <a:solidFill>
                  <a:srgbClr val="111827"/>
                </a:solidFill>
                <a:effectLst/>
                <a:latin typeface="+mn-lt"/>
                <a:ea typeface="Calibri" panose="020F0502020204030204" pitchFamily="34" charset="0"/>
                <a:cs typeface="Calibri" panose="020F0502020204030204" pitchFamily="34" charset="0"/>
              </a:rPr>
              <a:t>SIMDilization</a:t>
            </a:r>
            <a:r>
              <a:rPr lang="en-US" sz="1800" i="0" dirty="0">
                <a:solidFill>
                  <a:srgbClr val="111827"/>
                </a:solidFill>
                <a:effectLst/>
                <a:latin typeface="+mn-lt"/>
                <a:ea typeface="Calibri" panose="020F0502020204030204" pitchFamily="34" charset="0"/>
                <a:cs typeface="Calibri" panose="020F0502020204030204" pitchFamily="34" charset="0"/>
              </a:rPr>
              <a:t>. </a:t>
            </a:r>
          </a:p>
          <a:p>
            <a:pPr marL="0" indent="0" algn="l">
              <a:buNone/>
            </a:pPr>
            <a:r>
              <a:rPr lang="en-US" sz="1800" dirty="0">
                <a:solidFill>
                  <a:srgbClr val="111827"/>
                </a:solidFill>
                <a:latin typeface="+mn-lt"/>
                <a:ea typeface="Calibri" panose="020F0502020204030204" pitchFamily="34" charset="0"/>
                <a:cs typeface="Calibri" panose="020F0502020204030204" pitchFamily="34" charset="0"/>
              </a:rPr>
              <a:t>	-O4: Previously, -O4 enabled Link-Time Optimization (LTO); now, -O4 also 	implies -O3 along with LTO (-O3 -</a:t>
            </a:r>
            <a:r>
              <a:rPr lang="en-US" sz="1800" dirty="0" err="1">
                <a:solidFill>
                  <a:srgbClr val="111827"/>
                </a:solidFill>
                <a:latin typeface="+mn-lt"/>
                <a:ea typeface="Calibri" panose="020F0502020204030204" pitchFamily="34" charset="0"/>
                <a:cs typeface="Calibri" panose="020F0502020204030204" pitchFamily="34" charset="0"/>
              </a:rPr>
              <a:t>flto</a:t>
            </a:r>
            <a:r>
              <a:rPr lang="en-US" sz="1800" dirty="0">
                <a:solidFill>
                  <a:srgbClr val="111827"/>
                </a:solidFill>
                <a:latin typeface="+mn-lt"/>
                <a:ea typeface="Calibri" panose="020F0502020204030204" pitchFamily="34" charset="0"/>
                <a:cs typeface="Calibri" panose="020F0502020204030204" pitchFamily="34" charset="0"/>
              </a:rPr>
              <a:t>).</a:t>
            </a:r>
            <a:endParaRPr lang="en-US" sz="1800" b="1" i="0" dirty="0">
              <a:solidFill>
                <a:srgbClr val="111827"/>
              </a:solidFill>
              <a:effectLst/>
              <a:latin typeface="+mn-lt"/>
            </a:endParaRPr>
          </a:p>
        </p:txBody>
      </p:sp>
      <p:sp>
        <p:nvSpPr>
          <p:cNvPr id="4" name="TextBox 3">
            <a:extLst>
              <a:ext uri="{FF2B5EF4-FFF2-40B4-BE49-F238E27FC236}">
                <a16:creationId xmlns:a16="http://schemas.microsoft.com/office/drawing/2014/main" id="{881EE280-D306-D6E3-B979-EFDDE2CB9450}"/>
              </a:ext>
            </a:extLst>
          </p:cNvPr>
          <p:cNvSpPr txBox="1"/>
          <p:nvPr/>
        </p:nvSpPr>
        <p:spPr>
          <a:xfrm>
            <a:off x="285293" y="3248319"/>
            <a:ext cx="8909913" cy="646331"/>
          </a:xfrm>
          <a:prstGeom prst="rect">
            <a:avLst/>
          </a:prstGeom>
          <a:solidFill>
            <a:srgbClr val="FFFF00"/>
          </a:solidFill>
        </p:spPr>
        <p:txBody>
          <a:bodyPr wrap="square" rtlCol="0" anchor="ctr" anchorCtr="1">
            <a:spAutoFit/>
          </a:bodyPr>
          <a:lstStyle/>
          <a:p>
            <a:r>
              <a:rPr lang="en-US" i="1" dirty="0">
                <a:solidFill>
                  <a:srgbClr val="111827"/>
                </a:solidFill>
                <a:latin typeface="ui-sans-serif"/>
              </a:rPr>
              <a:t>O3 trades </a:t>
            </a:r>
            <a:r>
              <a:rPr lang="en-US" b="1" i="1" dirty="0">
                <a:solidFill>
                  <a:srgbClr val="111827"/>
                </a:solidFill>
                <a:latin typeface="ui-sans-serif"/>
              </a:rPr>
              <a:t>more aggressive transformations</a:t>
            </a:r>
            <a:r>
              <a:rPr lang="en-US" i="1" dirty="0">
                <a:solidFill>
                  <a:srgbClr val="111827"/>
                </a:solidFill>
                <a:latin typeface="ui-sans-serif"/>
              </a:rPr>
              <a:t> for </a:t>
            </a:r>
            <a:r>
              <a:rPr lang="en-US" b="1" i="1" dirty="0">
                <a:solidFill>
                  <a:srgbClr val="111827"/>
                </a:solidFill>
                <a:latin typeface="ui-sans-serif"/>
              </a:rPr>
              <a:t>larger code, higher compile time, harder debugging, and sometimes worse runtime performance</a:t>
            </a:r>
            <a:endParaRPr lang="en-US" dirty="0">
              <a:solidFill>
                <a:srgbClr val="374151"/>
              </a:solidFill>
            </a:endParaRPr>
          </a:p>
        </p:txBody>
      </p:sp>
    </p:spTree>
    <p:extLst>
      <p:ext uri="{BB962C8B-B14F-4D97-AF65-F5344CB8AC3E}">
        <p14:creationId xmlns:p14="http://schemas.microsoft.com/office/powerpoint/2010/main" val="469815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119355" y="29261"/>
            <a:ext cx="7871025" cy="571500"/>
          </a:xfrm>
        </p:spPr>
        <p:txBody>
          <a:bodyPr/>
          <a:lstStyle/>
          <a:p>
            <a:r>
              <a:rPr lang="en-US" dirty="0"/>
              <a:t>More Optimization Flags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58521" y="795929"/>
            <a:ext cx="9026957" cy="3833164"/>
          </a:xfrm>
        </p:spPr>
        <p:txBody>
          <a:bodyPr/>
          <a:lstStyle/>
          <a:p>
            <a:pPr marL="342900" lvl="1" indent="0">
              <a:buSzPct val="200000"/>
              <a:buNone/>
            </a:pPr>
            <a:r>
              <a:rPr lang="en-US" i="0" dirty="0">
                <a:solidFill>
                  <a:srgbClr val="111827"/>
                </a:solidFill>
                <a:effectLst/>
                <a:latin typeface="+mn-lt"/>
              </a:rPr>
              <a:t>Other than the tiered optimization flags, here are some additional flags that might be useful:</a:t>
            </a:r>
          </a:p>
          <a:p>
            <a:pPr marL="342900" lvl="1" indent="0">
              <a:buSzPct val="200000"/>
              <a:buNone/>
            </a:pPr>
            <a:r>
              <a:rPr lang="en-US" sz="1800" i="0" dirty="0">
                <a:solidFill>
                  <a:srgbClr val="111827"/>
                </a:solidFill>
                <a:effectLst/>
                <a:latin typeface="+mn-lt"/>
              </a:rPr>
              <a:t>-O3 -</a:t>
            </a:r>
            <a:r>
              <a:rPr lang="en-US" sz="1800" i="0" dirty="0" err="1">
                <a:solidFill>
                  <a:srgbClr val="111827"/>
                </a:solidFill>
                <a:effectLst/>
                <a:latin typeface="+mn-lt"/>
              </a:rPr>
              <a:t>flto</a:t>
            </a:r>
            <a:r>
              <a:rPr lang="en-US" sz="1800" i="0" dirty="0">
                <a:solidFill>
                  <a:srgbClr val="111827"/>
                </a:solidFill>
                <a:effectLst/>
                <a:latin typeface="+mn-lt"/>
              </a:rPr>
              <a:t> (Link-Time Optimization) Enable whole program optimization</a:t>
            </a:r>
          </a:p>
          <a:p>
            <a:pPr marL="342900" lvl="1" indent="0">
              <a:buSzPct val="200000"/>
              <a:buNone/>
            </a:pPr>
            <a:r>
              <a:rPr lang="en-US" sz="1800" i="0" dirty="0">
                <a:solidFill>
                  <a:srgbClr val="111827"/>
                </a:solidFill>
                <a:effectLst/>
                <a:latin typeface="+mn-lt"/>
              </a:rPr>
              <a:t>-march=native (Target CPU-specific instructions)</a:t>
            </a:r>
          </a:p>
          <a:p>
            <a:pPr marL="342900" lvl="1" indent="0">
              <a:buSzPct val="200000"/>
              <a:buNone/>
            </a:pPr>
            <a:r>
              <a:rPr lang="en-US" sz="1800" b="1" dirty="0">
                <a:solidFill>
                  <a:srgbClr val="111827"/>
                </a:solidFill>
                <a:latin typeface="+mn-lt"/>
              </a:rPr>
              <a:t>-march=native </a:t>
            </a:r>
            <a:r>
              <a:rPr lang="en-US" sz="1800" b="0" i="0" dirty="0">
                <a:solidFill>
                  <a:srgbClr val="374151"/>
                </a:solidFill>
                <a:effectLst/>
                <a:latin typeface="ui-sans-serif"/>
              </a:rPr>
              <a:t>Tells the compiler to generate code optimized </a:t>
            </a:r>
            <a:r>
              <a:rPr lang="en-US" sz="1800" b="0" i="1" dirty="0">
                <a:solidFill>
                  <a:srgbClr val="374151"/>
                </a:solidFill>
                <a:effectLst/>
                <a:latin typeface="ui-sans-serif"/>
              </a:rPr>
              <a:t>specifically</a:t>
            </a:r>
            <a:r>
              <a:rPr lang="en-US" sz="1800" b="0" i="0" dirty="0">
                <a:solidFill>
                  <a:srgbClr val="374151"/>
                </a:solidFill>
                <a:effectLst/>
                <a:latin typeface="ui-sans-serif"/>
              </a:rPr>
              <a:t> for the CPU architecture it is currently compiling on.</a:t>
            </a:r>
          </a:p>
          <a:p>
            <a:pPr marL="342900" lvl="1" indent="0">
              <a:buSzPct val="200000"/>
              <a:buNone/>
            </a:pPr>
            <a:r>
              <a:rPr lang="en-US" sz="1800" b="1" dirty="0">
                <a:solidFill>
                  <a:srgbClr val="374151"/>
                </a:solidFill>
                <a:latin typeface="ui-sans-serif"/>
              </a:rPr>
              <a:t>-</a:t>
            </a:r>
            <a:r>
              <a:rPr lang="en-US" sz="1800" b="1" dirty="0" err="1">
                <a:solidFill>
                  <a:srgbClr val="374151"/>
                </a:solidFill>
                <a:latin typeface="ui-sans-serif"/>
              </a:rPr>
              <a:t>mtune</a:t>
            </a:r>
            <a:r>
              <a:rPr lang="en-US" sz="1800" b="1" dirty="0">
                <a:solidFill>
                  <a:srgbClr val="374151"/>
                </a:solidFill>
                <a:latin typeface="ui-sans-serif"/>
              </a:rPr>
              <a:t>=native</a:t>
            </a:r>
            <a:r>
              <a:rPr lang="en-US" sz="1800" dirty="0">
                <a:solidFill>
                  <a:srgbClr val="374151"/>
                </a:solidFill>
                <a:latin typeface="ui-sans-serif"/>
              </a:rPr>
              <a:t>	Optimizes the scheduling of instructions for the current CPU without breaking compatibility with older CPUs</a:t>
            </a:r>
          </a:p>
          <a:p>
            <a:pPr marL="342900" lvl="1" indent="0">
              <a:buSzPct val="200000"/>
              <a:buNone/>
            </a:pPr>
            <a:r>
              <a:rPr lang="en-US" sz="1800" dirty="0">
                <a:solidFill>
                  <a:srgbClr val="374151"/>
                </a:solidFill>
                <a:latin typeface="Arial" panose="020B0604020202020204" pitchFamily="34" charset="0"/>
                <a:cs typeface="Arial" panose="020B0604020202020204" pitchFamily="34" charset="0"/>
              </a:rPr>
              <a:t>-</a:t>
            </a:r>
            <a:r>
              <a:rPr lang="en-US" sz="1800" dirty="0" err="1">
                <a:solidFill>
                  <a:srgbClr val="374151"/>
                </a:solidFill>
                <a:latin typeface="Arial" panose="020B0604020202020204" pitchFamily="34" charset="0"/>
                <a:cs typeface="Arial" panose="020B0604020202020204" pitchFamily="34" charset="0"/>
              </a:rPr>
              <a:t>fprofile</a:t>
            </a:r>
            <a:r>
              <a:rPr lang="en-US" sz="1800" dirty="0">
                <a:solidFill>
                  <a:srgbClr val="374151"/>
                </a:solidFill>
                <a:latin typeface="Arial" panose="020B0604020202020204" pitchFamily="34" charset="0"/>
                <a:cs typeface="Arial" panose="020B0604020202020204" pitchFamily="34" charset="0"/>
              </a:rPr>
              <a:t>-use (Profile-Guided Optimization)</a:t>
            </a:r>
          </a:p>
          <a:p>
            <a:pPr marL="342900" lvl="1" indent="0">
              <a:buSzPct val="200000"/>
              <a:buNone/>
            </a:pPr>
            <a:r>
              <a:rPr lang="en-US" sz="1800" dirty="0">
                <a:solidFill>
                  <a:srgbClr val="374151"/>
                </a:solidFill>
                <a:latin typeface="Arial" panose="020B0604020202020204" pitchFamily="34" charset="0"/>
                <a:cs typeface="Arial" panose="020B0604020202020204" pitchFamily="34" charset="0"/>
              </a:rPr>
              <a:t>-</a:t>
            </a:r>
            <a:r>
              <a:rPr lang="en-US" sz="1800" b="1" dirty="0" err="1">
                <a:solidFill>
                  <a:srgbClr val="374151"/>
                </a:solidFill>
                <a:latin typeface="Arial" panose="020B0604020202020204" pitchFamily="34" charset="0"/>
                <a:cs typeface="Arial" panose="020B0604020202020204" pitchFamily="34" charset="0"/>
              </a:rPr>
              <a:t>fprofile</a:t>
            </a:r>
            <a:r>
              <a:rPr lang="en-US" sz="1800" b="1" dirty="0">
                <a:solidFill>
                  <a:srgbClr val="374151"/>
                </a:solidFill>
                <a:latin typeface="Arial" panose="020B0604020202020204" pitchFamily="34" charset="0"/>
                <a:cs typeface="Arial" panose="020B0604020202020204" pitchFamily="34" charset="0"/>
              </a:rPr>
              <a:t>-generate</a:t>
            </a:r>
            <a:r>
              <a:rPr lang="en-US" sz="1800" dirty="0">
                <a:solidFill>
                  <a:srgbClr val="374151"/>
                </a:solidFill>
                <a:latin typeface="Arial" panose="020B0604020202020204" pitchFamily="34" charset="0"/>
                <a:cs typeface="Arial" panose="020B0604020202020204" pitchFamily="34" charset="0"/>
              </a:rPr>
              <a:t>: compile an instrumented code to generate profiles </a:t>
            </a:r>
          </a:p>
          <a:p>
            <a:pPr marL="342900" lvl="1" indent="0">
              <a:buSzPct val="200000"/>
              <a:buNone/>
            </a:pPr>
            <a:r>
              <a:rPr kumimoji="1" lang="en-US" sz="1800" b="0" i="0" u="none" strike="noStrike" kern="0" cap="none" spc="0" normalizeH="0" baseline="0" noProof="0" dirty="0">
                <a:ln>
                  <a:noFill/>
                </a:ln>
                <a:solidFill>
                  <a:srgbClr val="374151"/>
                </a:solidFill>
                <a:effectLst/>
                <a:uLnTx/>
                <a:uFillTx/>
                <a:latin typeface="Arial" panose="020B0604020202020204" pitchFamily="34" charset="0"/>
                <a:ea typeface="標楷體" pitchFamily="65" charset="-120"/>
                <a:cs typeface="Arial" panose="020B0604020202020204" pitchFamily="34" charset="0"/>
              </a:rPr>
              <a:t>-</a:t>
            </a:r>
            <a:r>
              <a:rPr kumimoji="1" lang="en-US" sz="1800" b="1" i="0" u="none" strike="noStrike" kern="0" cap="none" spc="0" normalizeH="0" baseline="0" noProof="0" dirty="0" err="1">
                <a:ln>
                  <a:noFill/>
                </a:ln>
                <a:solidFill>
                  <a:srgbClr val="374151"/>
                </a:solidFill>
                <a:effectLst/>
                <a:uLnTx/>
                <a:uFillTx/>
                <a:latin typeface="Arial" panose="020B0604020202020204" pitchFamily="34" charset="0"/>
                <a:ea typeface="標楷體" pitchFamily="65" charset="-120"/>
                <a:cs typeface="Arial" panose="020B0604020202020204" pitchFamily="34" charset="0"/>
              </a:rPr>
              <a:t>fprofile</a:t>
            </a:r>
            <a:r>
              <a:rPr kumimoji="1" lang="en-US" sz="1800" b="1" i="0" u="none" strike="noStrike" kern="0" cap="none" spc="0" normalizeH="0" baseline="0" noProof="0" dirty="0">
                <a:ln>
                  <a:noFill/>
                </a:ln>
                <a:solidFill>
                  <a:srgbClr val="374151"/>
                </a:solidFill>
                <a:effectLst/>
                <a:uLnTx/>
                <a:uFillTx/>
                <a:latin typeface="Arial" panose="020B0604020202020204" pitchFamily="34" charset="0"/>
                <a:ea typeface="標楷體" pitchFamily="65" charset="-120"/>
                <a:cs typeface="Arial" panose="020B0604020202020204" pitchFamily="34" charset="0"/>
              </a:rPr>
              <a:t>-use: </a:t>
            </a:r>
            <a:r>
              <a:rPr kumimoji="1" lang="en-US" sz="1800" b="0" i="0" u="none" strike="noStrike" kern="0" cap="none" spc="0" normalizeH="0" baseline="0" noProof="0" dirty="0">
                <a:ln>
                  <a:noFill/>
                </a:ln>
                <a:solidFill>
                  <a:srgbClr val="374151"/>
                </a:solidFill>
                <a:effectLst/>
                <a:uLnTx/>
                <a:uFillTx/>
                <a:latin typeface="Arial" panose="020B0604020202020204" pitchFamily="34" charset="0"/>
                <a:ea typeface="標楷體" pitchFamily="65" charset="-120"/>
                <a:cs typeface="Arial" panose="020B0604020202020204" pitchFamily="34" charset="0"/>
              </a:rPr>
              <a:t>use profile data to guide the code optimizations.</a:t>
            </a:r>
          </a:p>
          <a:p>
            <a:pPr marL="342900" lvl="1" indent="0">
              <a:buSzPct val="200000"/>
              <a:buNone/>
            </a:pPr>
            <a:r>
              <a:rPr lang="en-US" sz="1800" dirty="0">
                <a:solidFill>
                  <a:srgbClr val="374151"/>
                </a:solidFill>
                <a:latin typeface="Arial" panose="020B0604020202020204" pitchFamily="34" charset="0"/>
                <a:cs typeface="Arial" panose="020B0604020202020204" pitchFamily="34" charset="0"/>
              </a:rPr>
              <a:t>-</a:t>
            </a:r>
            <a:r>
              <a:rPr lang="en-US" sz="1800" dirty="0" err="1">
                <a:solidFill>
                  <a:srgbClr val="374151"/>
                </a:solidFill>
                <a:latin typeface="Arial" panose="020B0604020202020204" pitchFamily="34" charset="0"/>
                <a:cs typeface="Arial" panose="020B0604020202020204" pitchFamily="34" charset="0"/>
              </a:rPr>
              <a:t>Ofast</a:t>
            </a:r>
            <a:r>
              <a:rPr lang="en-US" sz="1800" dirty="0">
                <a:solidFill>
                  <a:srgbClr val="374151"/>
                </a:solidFill>
                <a:latin typeface="Arial" panose="020B0604020202020204" pitchFamily="34" charset="0"/>
                <a:cs typeface="Arial" panose="020B0604020202020204" pitchFamily="34" charset="0"/>
              </a:rPr>
              <a:t> is simply –O3 </a:t>
            </a:r>
            <a:r>
              <a:rPr lang="en-US" sz="1800" b="1" dirty="0">
                <a:solidFill>
                  <a:srgbClr val="374151"/>
                </a:solidFill>
                <a:latin typeface="Arial" panose="020B0604020202020204" pitchFamily="34" charset="0"/>
                <a:cs typeface="Arial" panose="020B0604020202020204" pitchFamily="34" charset="0"/>
              </a:rPr>
              <a:t>-</a:t>
            </a:r>
            <a:r>
              <a:rPr lang="en-US" sz="1800" b="1" dirty="0" err="1">
                <a:solidFill>
                  <a:srgbClr val="374151"/>
                </a:solidFill>
                <a:latin typeface="Arial" panose="020B0604020202020204" pitchFamily="34" charset="0"/>
                <a:cs typeface="Arial" panose="020B0604020202020204" pitchFamily="34" charset="0"/>
              </a:rPr>
              <a:t>ffast</a:t>
            </a:r>
            <a:r>
              <a:rPr lang="en-US" sz="1800" b="1" dirty="0">
                <a:solidFill>
                  <a:srgbClr val="374151"/>
                </a:solidFill>
                <a:latin typeface="Arial" panose="020B0604020202020204" pitchFamily="34" charset="0"/>
                <a:cs typeface="Arial" panose="020B0604020202020204" pitchFamily="34" charset="0"/>
              </a:rPr>
              <a:t>-math</a:t>
            </a:r>
            <a:r>
              <a:rPr lang="en-US" sz="1800" dirty="0">
                <a:solidFill>
                  <a:srgbClr val="374151"/>
                </a:solidFill>
                <a:latin typeface="Arial" panose="020B0604020202020204" pitchFamily="34" charset="0"/>
                <a:cs typeface="Arial" panose="020B0604020202020204" pitchFamily="34" charset="0"/>
              </a:rPr>
              <a:t>. This allows the compiler to reorder FP ops.</a:t>
            </a:r>
            <a:endParaRPr lang="en-US" sz="1800" dirty="0">
              <a:solidFill>
                <a:srgbClr val="374151"/>
              </a:solidFill>
              <a:latin typeface="ui-sans-serif"/>
            </a:endParaRPr>
          </a:p>
        </p:txBody>
      </p:sp>
    </p:spTree>
    <p:extLst>
      <p:ext uri="{BB962C8B-B14F-4D97-AF65-F5344CB8AC3E}">
        <p14:creationId xmlns:p14="http://schemas.microsoft.com/office/powerpoint/2010/main" val="21635443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731520" y="0"/>
            <a:ext cx="8075981" cy="571500"/>
          </a:xfrm>
        </p:spPr>
        <p:txBody>
          <a:bodyPr/>
          <a:lstStyle/>
          <a:p>
            <a:r>
              <a:rPr lang="en-US" dirty="0"/>
              <a:t>Why not let the Compiler do all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153619" y="885139"/>
            <a:ext cx="8924544" cy="3833164"/>
          </a:xfrm>
        </p:spPr>
        <p:txBody>
          <a:bodyPr/>
          <a:lstStyle/>
          <a:p>
            <a:pPr marL="43180" indent="0">
              <a:buNone/>
            </a:pPr>
            <a:r>
              <a:rPr lang="en-US" sz="2200" dirty="0"/>
              <a:t>While compilers are very powerful and sophisticated, they have their </a:t>
            </a:r>
            <a:r>
              <a:rPr lang="en-US" sz="2200" dirty="0">
                <a:solidFill>
                  <a:srgbClr val="FF0000"/>
                </a:solidFill>
              </a:rPr>
              <a:t>limits</a:t>
            </a:r>
            <a:r>
              <a:rPr lang="en-US" sz="2200" dirty="0"/>
              <a:t>:</a:t>
            </a:r>
          </a:p>
          <a:p>
            <a:pPr lvl="1">
              <a:buSzPct val="200000"/>
              <a:buFont typeface="Arial" panose="020B0604020202020204" pitchFamily="34" charset="0"/>
              <a:buChar char="•"/>
            </a:pPr>
            <a:r>
              <a:rPr lang="en-US" sz="1800" dirty="0"/>
              <a:t>Compilers Cannot Change Your Algorithm (</a:t>
            </a:r>
            <a:r>
              <a:rPr lang="en-US" sz="1800" i="1" dirty="0"/>
              <a:t>this may change in the future</a:t>
            </a:r>
            <a:r>
              <a:rPr lang="en-US" sz="1800" dirty="0"/>
              <a:t>)</a:t>
            </a:r>
          </a:p>
          <a:p>
            <a:pPr lvl="1">
              <a:buSzPct val="200000"/>
              <a:buFont typeface="Arial" panose="020B0604020202020204" pitchFamily="34" charset="0"/>
              <a:buChar char="•"/>
            </a:pPr>
            <a:r>
              <a:rPr lang="en-US" sz="1800" dirty="0"/>
              <a:t>Compilers must obey the rules and semantics of the programming language. The compiler can only apply optimizations if the resulting program behaves exactly as if it were executing the unoptimized code.</a:t>
            </a:r>
          </a:p>
          <a:p>
            <a:pPr lvl="2">
              <a:buSzPct val="100000"/>
              <a:buFont typeface="Wingdings" panose="05000000000000000000" pitchFamily="2" charset="2"/>
              <a:buChar char="Ø"/>
            </a:pPr>
            <a:r>
              <a:rPr lang="en-US" sz="1600" dirty="0"/>
              <a:t> Memory aliasing, FP associativity, Function side effects, Volatile variables, Memory consistency</a:t>
            </a:r>
          </a:p>
          <a:p>
            <a:pPr lvl="1">
              <a:buSzPct val="200000"/>
              <a:buFont typeface="Arial" panose="020B0604020202020204" pitchFamily="34" charset="0"/>
              <a:buChar char="•"/>
            </a:pPr>
            <a:r>
              <a:rPr lang="en-US" sz="180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Lack of Runtime and Domain Knowledge (</a:t>
            </a:r>
            <a:r>
              <a:rPr lang="en-US" sz="1800" i="1"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this may demand dynamic translators)</a:t>
            </a:r>
            <a:endParaRPr lang="en-US" sz="1800" i="0" dirty="0">
              <a:solidFill>
                <a:srgbClr val="111827"/>
              </a:solidFill>
              <a:effectLst/>
              <a:latin typeface="Calibri" panose="020F0502020204030204" pitchFamily="34" charset="0"/>
              <a:ea typeface="Calibri" panose="020F0502020204030204" pitchFamily="34" charset="0"/>
              <a:cs typeface="Calibri" panose="020F0502020204030204" pitchFamily="34" charset="0"/>
            </a:endParaRPr>
          </a:p>
          <a:p>
            <a:pPr lvl="1">
              <a:buSzPct val="200000"/>
              <a:buFont typeface="Arial" panose="020B0604020202020204" pitchFamily="34" charset="0"/>
              <a:buChar char="•"/>
            </a:pPr>
            <a:r>
              <a:rPr lang="en-US" sz="180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 Many specific optimization problems are NP-hard.</a:t>
            </a:r>
          </a:p>
          <a:p>
            <a:pPr lvl="2">
              <a:buSzPct val="100000"/>
              <a:buFont typeface="Wingdings" panose="05000000000000000000" pitchFamily="2" charset="2"/>
              <a:buChar char="Ø"/>
            </a:pPr>
            <a:r>
              <a:rPr lang="en-US" sz="160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 optimal register allocation, optimal code scheduling, memory layout and packing, phase ordering. </a:t>
            </a:r>
          </a:p>
          <a:p>
            <a:pPr lvl="1">
              <a:buSzPct val="200000"/>
              <a:buFont typeface="Arial" panose="020B0604020202020204" pitchFamily="34" charset="0"/>
              <a:buChar char="•"/>
            </a:pPr>
            <a:r>
              <a:rPr lang="en-US" sz="1800" dirty="0">
                <a:solidFill>
                  <a:srgbClr val="111827"/>
                </a:solidFill>
                <a:latin typeface="Calibri" panose="020F0502020204030204" pitchFamily="34" charset="0"/>
                <a:ea typeface="Calibri" panose="020F0502020204030204" pitchFamily="34" charset="0"/>
                <a:cs typeface="Calibri" panose="020F0502020204030204" pitchFamily="34" charset="0"/>
              </a:rPr>
              <a:t>Boundary crossing issues (</a:t>
            </a:r>
            <a:r>
              <a:rPr lang="en-US" sz="1800" i="1" dirty="0">
                <a:solidFill>
                  <a:srgbClr val="111827"/>
                </a:solidFill>
                <a:latin typeface="Calibri" panose="020F0502020204030204" pitchFamily="34" charset="0"/>
                <a:ea typeface="Calibri" panose="020F0502020204030204" pitchFamily="34" charset="0"/>
                <a:cs typeface="Calibri" panose="020F0502020204030204" pitchFamily="34" charset="0"/>
              </a:rPr>
              <a:t>separate compilation</a:t>
            </a:r>
            <a:r>
              <a:rPr lang="en-US" sz="1800" dirty="0">
                <a:solidFill>
                  <a:srgbClr val="111827"/>
                </a:solidFill>
                <a:latin typeface="Calibri" panose="020F0502020204030204" pitchFamily="34" charset="0"/>
                <a:ea typeface="Calibri" panose="020F0502020204030204" pitchFamily="34" charset="0"/>
                <a:cs typeface="Calibri" panose="020F0502020204030204" pitchFamily="34" charset="0"/>
              </a:rPr>
              <a:t>)</a:t>
            </a:r>
          </a:p>
          <a:p>
            <a:pPr lvl="2">
              <a:buSzPct val="100000"/>
              <a:buFont typeface="Wingdings" panose="05000000000000000000" pitchFamily="2" charset="2"/>
              <a:buChar char="Ø"/>
            </a:pPr>
            <a:r>
              <a:rPr lang="en-US" sz="1600" i="0" dirty="0">
                <a:solidFill>
                  <a:srgbClr val="111827"/>
                </a:solidFill>
                <a:effectLst/>
                <a:latin typeface="Calibri" panose="020F0502020204030204" pitchFamily="34" charset="0"/>
                <a:ea typeface="Calibri" panose="020F0502020204030204" pitchFamily="34" charset="0"/>
                <a:cs typeface="Calibri" panose="020F0502020204030204" pitchFamily="34" charset="0"/>
              </a:rPr>
              <a:t> Link-time optimizations</a:t>
            </a:r>
          </a:p>
          <a:p>
            <a:pPr lvl="1">
              <a:buSzPct val="200000"/>
              <a:buFont typeface="Arial" panose="020B0604020202020204" pitchFamily="34" charset="0"/>
              <a:buChar char="•"/>
            </a:pPr>
            <a:endParaRPr lang="en-US" sz="1800" dirty="0"/>
          </a:p>
          <a:p>
            <a:pPr lvl="1">
              <a:buSzPct val="200000"/>
              <a:buFont typeface="Arial" panose="020B0604020202020204" pitchFamily="34" charset="0"/>
              <a:buChar char="•"/>
            </a:pPr>
            <a:endParaRPr lang="en-US" sz="1800" dirty="0"/>
          </a:p>
        </p:txBody>
      </p:sp>
    </p:spTree>
    <p:extLst>
      <p:ext uri="{BB962C8B-B14F-4D97-AF65-F5344CB8AC3E}">
        <p14:creationId xmlns:p14="http://schemas.microsoft.com/office/powerpoint/2010/main" val="5470060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360757" y="0"/>
            <a:ext cx="7007832" cy="571500"/>
          </a:xfrm>
        </p:spPr>
        <p:txBody>
          <a:bodyPr/>
          <a:lstStyle/>
          <a:p>
            <a:r>
              <a:rPr lang="en-US" dirty="0"/>
              <a:t>AI-assisted Compiler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153619" y="885139"/>
            <a:ext cx="8924544" cy="3833164"/>
          </a:xfrm>
        </p:spPr>
        <p:txBody>
          <a:bodyPr/>
          <a:lstStyle/>
          <a:p>
            <a:pPr lvl="1">
              <a:buSzPct val="200000"/>
              <a:buFont typeface="Arial" panose="020B0604020202020204" pitchFamily="34" charset="0"/>
              <a:buChar char="•"/>
            </a:pPr>
            <a:r>
              <a:rPr lang="en-US" b="0" i="0" dirty="0">
                <a:solidFill>
                  <a:srgbClr val="111827"/>
                </a:solidFill>
                <a:effectLst/>
                <a:latin typeface="+mn-lt"/>
              </a:rPr>
              <a:t>An optimizing compiler can automatically apply many low-level improvements, </a:t>
            </a:r>
            <a:r>
              <a:rPr lang="en-US" b="0" i="1" dirty="0">
                <a:solidFill>
                  <a:srgbClr val="FF0000"/>
                </a:solidFill>
                <a:effectLst/>
                <a:latin typeface="+mn-lt"/>
              </a:rPr>
              <a:t>but it cannot replace good algorithms, good data layout, or measurement-driven engineering</a:t>
            </a:r>
            <a:r>
              <a:rPr lang="en-US" b="0" i="0" dirty="0">
                <a:solidFill>
                  <a:srgbClr val="111827"/>
                </a:solidFill>
                <a:effectLst/>
                <a:latin typeface="+mn-lt"/>
              </a:rPr>
              <a:t>. </a:t>
            </a:r>
            <a:endParaRPr lang="en-US" b="0" i="0" dirty="0">
              <a:solidFill>
                <a:srgbClr val="111827"/>
              </a:solidFill>
              <a:effectLst/>
              <a:latin typeface="ui-sans-serif"/>
            </a:endParaRPr>
          </a:p>
          <a:p>
            <a:pPr lvl="2">
              <a:buSzPct val="100000"/>
              <a:buFont typeface="Wingdings" panose="05000000000000000000" pitchFamily="2" charset="2"/>
              <a:buChar char="Ø"/>
            </a:pPr>
            <a:r>
              <a:rPr lang="en-US" sz="1600" dirty="0">
                <a:solidFill>
                  <a:srgbClr val="111827"/>
                </a:solidFill>
                <a:latin typeface="ui-sans-serif"/>
              </a:rPr>
              <a:t>Today’s autotuning system may search for a more efficient data layout</a:t>
            </a:r>
          </a:p>
          <a:p>
            <a:pPr lvl="2">
              <a:buSzPct val="100000"/>
              <a:buFont typeface="Wingdings" panose="05000000000000000000" pitchFamily="2" charset="2"/>
              <a:buChar char="Ø"/>
            </a:pPr>
            <a:r>
              <a:rPr lang="en-US" sz="1600" i="0" dirty="0">
                <a:solidFill>
                  <a:srgbClr val="111827"/>
                </a:solidFill>
                <a:effectLst/>
                <a:latin typeface="ui-sans-serif"/>
              </a:rPr>
              <a:t>AI-assisted optimization has made real progress, especially in compiler heuristics tuning</a:t>
            </a:r>
            <a:r>
              <a:rPr lang="en-US" sz="1600" dirty="0">
                <a:solidFill>
                  <a:srgbClr val="374151"/>
                </a:solidFill>
                <a:latin typeface="ui-sans-serif"/>
              </a:rPr>
              <a:t>, </a:t>
            </a:r>
            <a:r>
              <a:rPr lang="en-US" sz="1600" i="0" dirty="0">
                <a:solidFill>
                  <a:srgbClr val="111827"/>
                </a:solidFill>
                <a:effectLst/>
                <a:latin typeface="ui-sans-serif"/>
              </a:rPr>
              <a:t>optimization pass selection/phase ordering</a:t>
            </a:r>
            <a:r>
              <a:rPr lang="en-US" sz="1600" dirty="0">
                <a:solidFill>
                  <a:srgbClr val="374151"/>
                </a:solidFill>
                <a:latin typeface="ui-sans-serif"/>
              </a:rPr>
              <a:t>, </a:t>
            </a:r>
            <a:r>
              <a:rPr lang="en-US" sz="1600" i="0" dirty="0">
                <a:solidFill>
                  <a:srgbClr val="111827"/>
                </a:solidFill>
                <a:effectLst/>
                <a:latin typeface="ui-sans-serif"/>
              </a:rPr>
              <a:t>inlining and register-allocation heuristics</a:t>
            </a:r>
            <a:r>
              <a:rPr lang="en-US" sz="1600" dirty="0">
                <a:solidFill>
                  <a:srgbClr val="374151"/>
                </a:solidFill>
                <a:latin typeface="ui-sans-serif"/>
              </a:rPr>
              <a:t>, </a:t>
            </a:r>
            <a:r>
              <a:rPr lang="en-US" sz="1600" i="0" dirty="0">
                <a:solidFill>
                  <a:srgbClr val="111827"/>
                </a:solidFill>
                <a:effectLst/>
                <a:latin typeface="ui-sans-serif"/>
              </a:rPr>
              <a:t>code generation cost models</a:t>
            </a:r>
            <a:r>
              <a:rPr lang="en-US" sz="1600" dirty="0">
                <a:solidFill>
                  <a:srgbClr val="374151"/>
                </a:solidFill>
                <a:latin typeface="ui-sans-serif"/>
              </a:rPr>
              <a:t>, </a:t>
            </a:r>
            <a:r>
              <a:rPr lang="en-US" sz="1600" i="0" dirty="0">
                <a:solidFill>
                  <a:srgbClr val="111827"/>
                </a:solidFill>
                <a:effectLst/>
                <a:latin typeface="ui-sans-serif"/>
              </a:rPr>
              <a:t>autotuning kernels</a:t>
            </a:r>
            <a:r>
              <a:rPr lang="en-US" sz="1600" i="0" dirty="0">
                <a:solidFill>
                  <a:srgbClr val="374151"/>
                </a:solidFill>
                <a:effectLst/>
                <a:latin typeface="ui-sans-serif"/>
              </a:rPr>
              <a:t> for CPUs/GPUs/TPUs, and </a:t>
            </a:r>
            <a:r>
              <a:rPr lang="en-US" sz="1600" i="0" dirty="0">
                <a:solidFill>
                  <a:srgbClr val="111827"/>
                </a:solidFill>
                <a:effectLst/>
                <a:latin typeface="ui-sans-serif"/>
              </a:rPr>
              <a:t>ML-guided scheduling</a:t>
            </a:r>
            <a:r>
              <a:rPr lang="en-US" sz="1600" dirty="0">
                <a:solidFill>
                  <a:srgbClr val="374151"/>
                </a:solidFill>
                <a:latin typeface="ui-sans-serif"/>
              </a:rPr>
              <a:t>.</a:t>
            </a:r>
          </a:p>
          <a:p>
            <a:pPr marL="857250" marR="0" lvl="2" indent="-171450" algn="l" defTabSz="914400" rtl="0" eaLnBrk="1" fontAlgn="base" latinLnBrk="0" hangingPunct="1">
              <a:lnSpc>
                <a:spcPct val="100000"/>
              </a:lnSpc>
              <a:spcBef>
                <a:spcPct val="20000"/>
              </a:spcBef>
              <a:spcAft>
                <a:spcPct val="0"/>
              </a:spcAft>
              <a:buClrTx/>
              <a:buSzPct val="100000"/>
              <a:buFont typeface="Wingdings" panose="05000000000000000000" pitchFamily="2" charset="2"/>
              <a:buChar char="Ø"/>
              <a:tabLst/>
              <a:defRPr/>
            </a:pPr>
            <a:r>
              <a:rPr kumimoji="1" lang="en-US" sz="1600" b="0" i="0" u="none" strike="noStrike" kern="0" cap="none" spc="0" normalizeH="0" baseline="0" noProof="0" dirty="0">
                <a:ln>
                  <a:noFill/>
                </a:ln>
                <a:solidFill>
                  <a:srgbClr val="111827"/>
                </a:solidFill>
                <a:effectLst/>
                <a:uLnTx/>
                <a:uFillTx/>
                <a:latin typeface="ui-sans-serif"/>
                <a:ea typeface="標楷體" pitchFamily="65" charset="-120"/>
                <a:cs typeface="Calibri" panose="020F07020304040A0204" pitchFamily="34" charset="0"/>
              </a:rPr>
              <a:t>AI may understand the algorithm you implemented and substitute it with a more suitable or better-performing one in the future</a:t>
            </a:r>
            <a:endParaRPr lang="en-US" sz="1600" dirty="0">
              <a:solidFill>
                <a:srgbClr val="374151"/>
              </a:solidFill>
              <a:latin typeface="ui-sans-serif"/>
            </a:endParaRPr>
          </a:p>
          <a:p>
            <a:pPr lvl="1">
              <a:buSzPct val="200000"/>
              <a:buFont typeface="Arial" panose="020B0604020202020204" pitchFamily="34" charset="0"/>
              <a:buChar char="•"/>
            </a:pPr>
            <a:r>
              <a:rPr lang="en-US" dirty="0">
                <a:solidFill>
                  <a:srgbClr val="374151"/>
                </a:solidFill>
                <a:latin typeface="ui-sans-serif"/>
              </a:rPr>
              <a:t>Today, there is no end-to-end AI compiler yet, but such compilers may come out in the future. </a:t>
            </a:r>
            <a:endParaRPr lang="en-US" dirty="0"/>
          </a:p>
          <a:p>
            <a:pPr lvl="1"/>
            <a:endParaRPr lang="en-US" sz="1800" dirty="0"/>
          </a:p>
        </p:txBody>
      </p:sp>
    </p:spTree>
    <p:extLst>
      <p:ext uri="{BB962C8B-B14F-4D97-AF65-F5344CB8AC3E}">
        <p14:creationId xmlns:p14="http://schemas.microsoft.com/office/powerpoint/2010/main" val="7941712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79CD92-D975-4534-A20F-607B0ADC7230}"/>
              </a:ext>
            </a:extLst>
          </p:cNvPr>
          <p:cNvSpPr>
            <a:spLocks noGrp="1"/>
          </p:cNvSpPr>
          <p:nvPr>
            <p:ph type="title"/>
          </p:nvPr>
        </p:nvSpPr>
        <p:spPr>
          <a:xfrm>
            <a:off x="1038823" y="80467"/>
            <a:ext cx="7154136" cy="571500"/>
          </a:xfrm>
        </p:spPr>
        <p:txBody>
          <a:bodyPr/>
          <a:lstStyle/>
          <a:p>
            <a:r>
              <a:rPr lang="en-US" dirty="0"/>
              <a:t>General Goals of Compiler Optimizations</a:t>
            </a:r>
          </a:p>
        </p:txBody>
      </p:sp>
      <p:sp>
        <p:nvSpPr>
          <p:cNvPr id="3" name="Content Placeholder 2">
            <a:extLst>
              <a:ext uri="{FF2B5EF4-FFF2-40B4-BE49-F238E27FC236}">
                <a16:creationId xmlns:a16="http://schemas.microsoft.com/office/drawing/2014/main" id="{C3DFDDBF-32A2-49EB-AF91-BAF4EFF1E6DE}"/>
              </a:ext>
            </a:extLst>
          </p:cNvPr>
          <p:cNvSpPr>
            <a:spLocks noGrp="1"/>
          </p:cNvSpPr>
          <p:nvPr>
            <p:ph idx="1"/>
          </p:nvPr>
        </p:nvSpPr>
        <p:spPr>
          <a:xfrm>
            <a:off x="153619" y="707230"/>
            <a:ext cx="8924544" cy="4011073"/>
          </a:xfrm>
        </p:spPr>
        <p:txBody>
          <a:bodyPr/>
          <a:lstStyle/>
          <a:p>
            <a:r>
              <a:rPr lang="en-US" sz="2200" dirty="0"/>
              <a:t>Minimize the number of instructions</a:t>
            </a:r>
          </a:p>
          <a:p>
            <a:pPr lvl="1"/>
            <a:r>
              <a:rPr lang="en-US" sz="1600" dirty="0"/>
              <a:t>Don’t do calculations more than once (CSE – Common Subexpression Elimination)</a:t>
            </a:r>
          </a:p>
          <a:p>
            <a:pPr lvl="1"/>
            <a:r>
              <a:rPr lang="en-US" sz="1600" dirty="0"/>
              <a:t>Don’t do unnecessary calculations at all (DCE – Dead Code Elimination)</a:t>
            </a:r>
          </a:p>
          <a:p>
            <a:pPr lvl="1"/>
            <a:r>
              <a:rPr lang="en-US" sz="1600" dirty="0"/>
              <a:t>Avoid slow instructions (multiplication, division) (SR -- Strength Reduction)</a:t>
            </a:r>
          </a:p>
          <a:p>
            <a:r>
              <a:rPr lang="en-US" sz="2200" dirty="0"/>
              <a:t>Minimize the execution cycles</a:t>
            </a:r>
          </a:p>
          <a:p>
            <a:pPr lvl="1"/>
            <a:r>
              <a:rPr lang="en-US" sz="1600" dirty="0"/>
              <a:t>Keep everything in registers whenever possible (RA – Register Allocation)</a:t>
            </a:r>
          </a:p>
          <a:p>
            <a:pPr lvl="1"/>
            <a:r>
              <a:rPr lang="en-US" sz="1600" dirty="0"/>
              <a:t>Exploit ILP to hide latencies (CS: Code Scheduling)</a:t>
            </a:r>
          </a:p>
          <a:p>
            <a:pPr lvl="1"/>
            <a:r>
              <a:rPr lang="en-US" sz="1600" dirty="0"/>
              <a:t>Access memory in cache-friendly patterns (Locality Improvement)</a:t>
            </a:r>
          </a:p>
          <a:p>
            <a:pPr lvl="1"/>
            <a:r>
              <a:rPr lang="en-US" sz="1600" dirty="0"/>
              <a:t>Load data from memory early, and only once (Preload &amp; Redundant Load Elimination)</a:t>
            </a:r>
          </a:p>
          <a:p>
            <a:r>
              <a:rPr lang="en-US" sz="2200" dirty="0"/>
              <a:t>Avoid branching</a:t>
            </a:r>
          </a:p>
          <a:p>
            <a:pPr lvl="1"/>
            <a:r>
              <a:rPr lang="en-US" sz="1600" dirty="0"/>
              <a:t>Avoid branching (conditional move in x86, conditional execution in ARM)</a:t>
            </a:r>
          </a:p>
          <a:p>
            <a:pPr lvl="1"/>
            <a:r>
              <a:rPr lang="en-US" sz="1600" dirty="0"/>
              <a:t>Loop unrolling, procedure inlining, and </a:t>
            </a:r>
            <a:r>
              <a:rPr lang="en-US" sz="1600" dirty="0" err="1"/>
              <a:t>unswitching</a:t>
            </a:r>
            <a:r>
              <a:rPr lang="en-US" sz="1600" dirty="0"/>
              <a:t> can reduce branches. </a:t>
            </a:r>
          </a:p>
          <a:p>
            <a:pPr lvl="1"/>
            <a:endParaRPr lang="en-US" sz="1800" dirty="0"/>
          </a:p>
          <a:p>
            <a:pPr lvl="1"/>
            <a:endParaRPr lang="en-US" sz="1800" dirty="0"/>
          </a:p>
        </p:txBody>
      </p:sp>
    </p:spTree>
    <p:extLst>
      <p:ext uri="{BB962C8B-B14F-4D97-AF65-F5344CB8AC3E}">
        <p14:creationId xmlns:p14="http://schemas.microsoft.com/office/powerpoint/2010/main" val="9364411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4002" name="Rectangle 2"/>
          <p:cNvSpPr>
            <a:spLocks noGrp="1" noChangeArrowheads="1"/>
          </p:cNvSpPr>
          <p:nvPr>
            <p:ph type="title"/>
          </p:nvPr>
        </p:nvSpPr>
        <p:spPr>
          <a:xfrm>
            <a:off x="1440657" y="83872"/>
            <a:ext cx="5694070" cy="571500"/>
          </a:xfrm>
        </p:spPr>
        <p:txBody>
          <a:bodyPr/>
          <a:lstStyle/>
          <a:p>
            <a:r>
              <a:rPr lang="en-US" dirty="0"/>
              <a:t>Limits to Compiler Optimization</a:t>
            </a:r>
          </a:p>
        </p:txBody>
      </p:sp>
      <p:sp>
        <p:nvSpPr>
          <p:cNvPr id="384003" name="Rectangle 3"/>
          <p:cNvSpPr>
            <a:spLocks noGrp="1" noChangeArrowheads="1"/>
          </p:cNvSpPr>
          <p:nvPr>
            <p:ph idx="1"/>
          </p:nvPr>
        </p:nvSpPr>
        <p:spPr>
          <a:xfrm>
            <a:off x="431596" y="799071"/>
            <a:ext cx="8397850" cy="3950495"/>
          </a:xfrm>
        </p:spPr>
        <p:txBody>
          <a:bodyPr vert="horz" wrap="square" lIns="67865" tIns="33338" rIns="67865" bIns="33338" numCol="1" anchor="t" anchorCtr="0" compatLnSpc="1">
            <a:normAutofit fontScale="70000" lnSpcReduction="20000"/>
          </a:bodyPr>
          <a:lstStyle/>
          <a:p>
            <a:pPr>
              <a:lnSpc>
                <a:spcPct val="120000"/>
              </a:lnSpc>
              <a:spcBef>
                <a:spcPts val="0"/>
              </a:spcBef>
            </a:pPr>
            <a:r>
              <a:rPr lang="en-US" dirty="0"/>
              <a:t>Generally cannot improve algorithmic complexity</a:t>
            </a:r>
          </a:p>
          <a:p>
            <a:pPr>
              <a:lnSpc>
                <a:spcPct val="120000"/>
              </a:lnSpc>
            </a:pPr>
            <a:r>
              <a:rPr lang="en-US" dirty="0"/>
              <a:t>Must not cause </a:t>
            </a:r>
            <a:r>
              <a:rPr lang="en-US" i="1" dirty="0"/>
              <a:t>any</a:t>
            </a:r>
            <a:r>
              <a:rPr lang="en-US" dirty="0"/>
              <a:t> change in program behavior</a:t>
            </a:r>
          </a:p>
          <a:p>
            <a:pPr lvl="1">
              <a:lnSpc>
                <a:spcPct val="120000"/>
              </a:lnSpc>
            </a:pPr>
            <a:r>
              <a:rPr lang="en-US" dirty="0"/>
              <a:t> A programmer may not care about “edge case” behavior,</a:t>
            </a:r>
            <a:br>
              <a:rPr lang="en-US" dirty="0"/>
            </a:br>
            <a:r>
              <a:rPr lang="en-US" dirty="0"/>
              <a:t>But the compiler does not know that</a:t>
            </a:r>
          </a:p>
          <a:p>
            <a:pPr lvl="1">
              <a:lnSpc>
                <a:spcPct val="120000"/>
              </a:lnSpc>
            </a:pPr>
            <a:r>
              <a:rPr lang="en-US" dirty="0"/>
              <a:t>e.g., Exceptions, Aliasing</a:t>
            </a:r>
          </a:p>
          <a:p>
            <a:pPr>
              <a:lnSpc>
                <a:spcPct val="120000"/>
              </a:lnSpc>
            </a:pPr>
            <a:r>
              <a:rPr lang="en-US" dirty="0"/>
              <a:t>Often only analyze one function at a time</a:t>
            </a:r>
          </a:p>
          <a:p>
            <a:pPr lvl="1">
              <a:lnSpc>
                <a:spcPct val="120000"/>
              </a:lnSpc>
            </a:pPr>
            <a:r>
              <a:rPr lang="en-US" dirty="0"/>
              <a:t>Whole-program analysis (“LTO”) is expensive, but gaining popularity (e.g., GCC and LLVM)</a:t>
            </a:r>
          </a:p>
          <a:p>
            <a:pPr lvl="1">
              <a:lnSpc>
                <a:spcPct val="120000"/>
              </a:lnSpc>
            </a:pPr>
            <a:r>
              <a:rPr lang="en-US" dirty="0"/>
              <a:t>Exception: </a:t>
            </a:r>
            <a:r>
              <a:rPr lang="en-US" i="1" dirty="0"/>
              <a:t>inlining</a:t>
            </a:r>
            <a:r>
              <a:rPr lang="en-US" dirty="0"/>
              <a:t> merges many functions into one</a:t>
            </a:r>
          </a:p>
          <a:p>
            <a:pPr>
              <a:lnSpc>
                <a:spcPct val="120000"/>
              </a:lnSpc>
            </a:pPr>
            <a:r>
              <a:rPr lang="en-US" dirty="0"/>
              <a:t>Tricky to anticipate run-time inputs</a:t>
            </a:r>
          </a:p>
          <a:p>
            <a:pPr lvl="1">
              <a:lnSpc>
                <a:spcPct val="120000"/>
              </a:lnSpc>
            </a:pPr>
            <a:r>
              <a:rPr lang="en-US" dirty="0"/>
              <a:t>Profile-guided optimization can help with common cases, but…</a:t>
            </a:r>
          </a:p>
          <a:p>
            <a:pPr lvl="1">
              <a:lnSpc>
                <a:spcPct val="120000"/>
              </a:lnSpc>
            </a:pPr>
            <a:r>
              <a:rPr lang="en-US" dirty="0"/>
              <a:t>“Worst case” performance can be just as important as “normal.”</a:t>
            </a:r>
          </a:p>
          <a:p>
            <a:pPr lvl="1">
              <a:lnSpc>
                <a:spcPct val="120000"/>
              </a:lnSpc>
            </a:pPr>
            <a:r>
              <a:rPr lang="en-US" dirty="0"/>
              <a:t>Especially for code exposed to </a:t>
            </a:r>
            <a:r>
              <a:rPr lang="en-US" i="1" dirty="0"/>
              <a:t>malicious</a:t>
            </a:r>
            <a:r>
              <a:rPr lang="en-US" dirty="0"/>
              <a:t> input (e.g., network servers)</a:t>
            </a:r>
          </a:p>
          <a:p>
            <a:pPr>
              <a:lnSpc>
                <a:spcPct val="120000"/>
              </a:lnSpc>
            </a:pPr>
            <a:r>
              <a:rPr lang="en-US" dirty="0"/>
              <a:t>Memory dependencies are often unknown (e.g., memory aliasing)</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9E4F3B5-221B-43A5-8D1E-1D6A94A22621}"/>
              </a:ext>
            </a:extLst>
          </p:cNvPr>
          <p:cNvSpPr>
            <a:spLocks noGrp="1"/>
          </p:cNvSpPr>
          <p:nvPr>
            <p:ph type="title"/>
          </p:nvPr>
        </p:nvSpPr>
        <p:spPr>
          <a:xfrm>
            <a:off x="1387939" y="32416"/>
            <a:ext cx="5693569" cy="571500"/>
          </a:xfrm>
        </p:spPr>
        <p:txBody>
          <a:bodyPr/>
          <a:lstStyle/>
          <a:p>
            <a:r>
              <a:rPr lang="en-US" dirty="0"/>
              <a:t>Basic Compiler Optimizations</a:t>
            </a:r>
          </a:p>
        </p:txBody>
      </p:sp>
      <p:sp>
        <p:nvSpPr>
          <p:cNvPr id="7" name="Text Placeholder 6">
            <a:extLst>
              <a:ext uri="{FF2B5EF4-FFF2-40B4-BE49-F238E27FC236}">
                <a16:creationId xmlns:a16="http://schemas.microsoft.com/office/drawing/2014/main" id="{68409CA1-660C-4286-992F-8E03329CDCEE}"/>
              </a:ext>
            </a:extLst>
          </p:cNvPr>
          <p:cNvSpPr>
            <a:spLocks noGrp="1"/>
          </p:cNvSpPr>
          <p:nvPr>
            <p:ph sz="half" idx="1"/>
          </p:nvPr>
        </p:nvSpPr>
        <p:spPr>
          <a:xfrm>
            <a:off x="395021" y="864613"/>
            <a:ext cx="4798483" cy="3729038"/>
          </a:xfrm>
        </p:spPr>
        <p:txBody>
          <a:bodyPr>
            <a:normAutofit fontScale="92500" lnSpcReduction="20000"/>
          </a:bodyPr>
          <a:lstStyle/>
          <a:p>
            <a:r>
              <a:rPr lang="en-US" dirty="0">
                <a:solidFill>
                  <a:srgbClr val="00B050"/>
                </a:solidFill>
              </a:rPr>
              <a:t>Local optimizations</a:t>
            </a:r>
          </a:p>
          <a:p>
            <a:pPr marL="0" indent="0">
              <a:buNone/>
            </a:pPr>
            <a:r>
              <a:rPr lang="en-US" sz="2600" dirty="0"/>
              <a:t>work inside a single </a:t>
            </a:r>
            <a:r>
              <a:rPr lang="en-US" sz="2600" i="1" dirty="0">
                <a:solidFill>
                  <a:srgbClr val="FF0000"/>
                </a:solidFill>
              </a:rPr>
              <a:t>basic block</a:t>
            </a:r>
            <a:r>
              <a:rPr lang="en-US" sz="2600" dirty="0">
                <a:solidFill>
                  <a:srgbClr val="FF0000"/>
                </a:solidFill>
              </a:rPr>
              <a:t> </a:t>
            </a:r>
          </a:p>
          <a:p>
            <a:pPr>
              <a:buFont typeface="Wingdings" panose="05000000000000000000" pitchFamily="2" charset="2"/>
              <a:buChar char="Ø"/>
            </a:pPr>
            <a:r>
              <a:rPr lang="en-US" sz="2600" dirty="0"/>
              <a:t>constant folding, strength reduction, dead code elimination, (local) CSE, …</a:t>
            </a:r>
          </a:p>
          <a:p>
            <a:r>
              <a:rPr lang="en-US" dirty="0">
                <a:solidFill>
                  <a:srgbClr val="00B050"/>
                </a:solidFill>
              </a:rPr>
              <a:t>Global optimizations </a:t>
            </a:r>
          </a:p>
          <a:p>
            <a:pPr marL="0" indent="0">
              <a:buNone/>
            </a:pPr>
            <a:r>
              <a:rPr lang="en-US" sz="2600" dirty="0"/>
              <a:t>process the entire </a:t>
            </a:r>
            <a:r>
              <a:rPr lang="en-US" sz="2600" i="1" dirty="0"/>
              <a:t>control flow graph</a:t>
            </a:r>
            <a:r>
              <a:rPr lang="en-US" sz="2600" dirty="0"/>
              <a:t> of a </a:t>
            </a:r>
            <a:r>
              <a:rPr lang="en-US" sz="2600" dirty="0">
                <a:solidFill>
                  <a:srgbClr val="FF0000"/>
                </a:solidFill>
              </a:rPr>
              <a:t>function</a:t>
            </a:r>
          </a:p>
          <a:p>
            <a:pPr>
              <a:buFont typeface="Wingdings" panose="05000000000000000000" pitchFamily="2" charset="2"/>
              <a:buChar char="Ø"/>
            </a:pPr>
            <a:r>
              <a:rPr lang="en-US" sz="2600" dirty="0"/>
              <a:t>Loop transformations, code motion, (global) CSE, …</a:t>
            </a:r>
          </a:p>
        </p:txBody>
      </p:sp>
      <p:sp>
        <p:nvSpPr>
          <p:cNvPr id="12" name="Flowchart: Process 11">
            <a:extLst>
              <a:ext uri="{FF2B5EF4-FFF2-40B4-BE49-F238E27FC236}">
                <a16:creationId xmlns:a16="http://schemas.microsoft.com/office/drawing/2014/main" id="{52CE3181-E8C2-4DCF-969B-7BD30D04EF55}"/>
              </a:ext>
            </a:extLst>
          </p:cNvPr>
          <p:cNvSpPr/>
          <p:nvPr/>
        </p:nvSpPr>
        <p:spPr bwMode="auto">
          <a:xfrm>
            <a:off x="6123265" y="1317371"/>
            <a:ext cx="914400" cy="285750"/>
          </a:xfrm>
          <a:prstGeom prst="flowChartProcess">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setup</a:t>
            </a:r>
          </a:p>
        </p:txBody>
      </p:sp>
      <p:sp>
        <p:nvSpPr>
          <p:cNvPr id="13" name="Flowchart: Decision 12">
            <a:extLst>
              <a:ext uri="{FF2B5EF4-FFF2-40B4-BE49-F238E27FC236}">
                <a16:creationId xmlns:a16="http://schemas.microsoft.com/office/drawing/2014/main" id="{1055303D-84E7-4C4E-BEE7-AAEEC7C52F56}"/>
              </a:ext>
            </a:extLst>
          </p:cNvPr>
          <p:cNvSpPr/>
          <p:nvPr/>
        </p:nvSpPr>
        <p:spPr bwMode="auto">
          <a:xfrm>
            <a:off x="6079422" y="1855436"/>
            <a:ext cx="1002086" cy="400050"/>
          </a:xfrm>
          <a:prstGeom prst="flowChartDecision">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Easy?</a:t>
            </a:r>
          </a:p>
        </p:txBody>
      </p:sp>
      <p:sp>
        <p:nvSpPr>
          <p:cNvPr id="14" name="Flowchart: Preparation 13">
            <a:extLst>
              <a:ext uri="{FF2B5EF4-FFF2-40B4-BE49-F238E27FC236}">
                <a16:creationId xmlns:a16="http://schemas.microsoft.com/office/drawing/2014/main" id="{4961D036-508A-4C7D-BB05-90F36E6186B0}"/>
              </a:ext>
            </a:extLst>
          </p:cNvPr>
          <p:cNvSpPr/>
          <p:nvPr/>
        </p:nvSpPr>
        <p:spPr bwMode="auto">
          <a:xfrm>
            <a:off x="6094690" y="639256"/>
            <a:ext cx="971550" cy="400050"/>
          </a:xfrm>
          <a:prstGeom prst="flowChartPreparation">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entry</a:t>
            </a:r>
          </a:p>
        </p:txBody>
      </p:sp>
      <p:sp>
        <p:nvSpPr>
          <p:cNvPr id="15" name="Flowchart: Process 14">
            <a:extLst>
              <a:ext uri="{FF2B5EF4-FFF2-40B4-BE49-F238E27FC236}">
                <a16:creationId xmlns:a16="http://schemas.microsoft.com/office/drawing/2014/main" id="{96E7FFD1-1A88-4EE9-B054-66DEEEEDB68D}"/>
              </a:ext>
            </a:extLst>
          </p:cNvPr>
          <p:cNvSpPr/>
          <p:nvPr/>
        </p:nvSpPr>
        <p:spPr bwMode="auto">
          <a:xfrm>
            <a:off x="5582841" y="2559302"/>
            <a:ext cx="778669" cy="371475"/>
          </a:xfrm>
          <a:prstGeom prst="flowChartProcess">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easy</a:t>
            </a:r>
          </a:p>
        </p:txBody>
      </p:sp>
      <p:sp>
        <p:nvSpPr>
          <p:cNvPr id="16" name="Flowchart: Process 15">
            <a:extLst>
              <a:ext uri="{FF2B5EF4-FFF2-40B4-BE49-F238E27FC236}">
                <a16:creationId xmlns:a16="http://schemas.microsoft.com/office/drawing/2014/main" id="{836812DF-ABD3-43B6-8B3D-F773F315BAD3}"/>
              </a:ext>
            </a:extLst>
          </p:cNvPr>
          <p:cNvSpPr/>
          <p:nvPr/>
        </p:nvSpPr>
        <p:spPr bwMode="auto">
          <a:xfrm>
            <a:off x="6631544" y="2559302"/>
            <a:ext cx="778669" cy="400050"/>
          </a:xfrm>
          <a:prstGeom prst="flowChartProcess">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complex</a:t>
            </a:r>
          </a:p>
        </p:txBody>
      </p:sp>
      <p:sp>
        <p:nvSpPr>
          <p:cNvPr id="17" name="Rectangle 16">
            <a:extLst>
              <a:ext uri="{FF2B5EF4-FFF2-40B4-BE49-F238E27FC236}">
                <a16:creationId xmlns:a16="http://schemas.microsoft.com/office/drawing/2014/main" id="{910F0F45-00E3-42A9-86F6-CD455FE42143}"/>
              </a:ext>
            </a:extLst>
          </p:cNvPr>
          <p:cNvSpPr/>
          <p:nvPr/>
        </p:nvSpPr>
        <p:spPr bwMode="auto">
          <a:xfrm>
            <a:off x="6631544" y="3237418"/>
            <a:ext cx="778669" cy="400050"/>
          </a:xfrm>
          <a:prstGeom prst="rect">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loop</a:t>
            </a:r>
          </a:p>
        </p:txBody>
      </p:sp>
      <p:sp>
        <p:nvSpPr>
          <p:cNvPr id="18" name="Flowchart: Decision 17">
            <a:extLst>
              <a:ext uri="{FF2B5EF4-FFF2-40B4-BE49-F238E27FC236}">
                <a16:creationId xmlns:a16="http://schemas.microsoft.com/office/drawing/2014/main" id="{C6211210-E200-4FC5-B6F6-4BDB1DFE98EA}"/>
              </a:ext>
            </a:extLst>
          </p:cNvPr>
          <p:cNvSpPr/>
          <p:nvPr/>
        </p:nvSpPr>
        <p:spPr bwMode="auto">
          <a:xfrm>
            <a:off x="6463665" y="3929821"/>
            <a:ext cx="1114425" cy="400050"/>
          </a:xfrm>
          <a:prstGeom prst="flowChartDecision">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Done?</a:t>
            </a:r>
          </a:p>
        </p:txBody>
      </p:sp>
      <p:sp>
        <p:nvSpPr>
          <p:cNvPr id="19" name="Flowchart: Terminator 18">
            <a:extLst>
              <a:ext uri="{FF2B5EF4-FFF2-40B4-BE49-F238E27FC236}">
                <a16:creationId xmlns:a16="http://schemas.microsoft.com/office/drawing/2014/main" id="{6C29924A-D663-4F73-9197-D73AA37388A0}"/>
              </a:ext>
            </a:extLst>
          </p:cNvPr>
          <p:cNvSpPr/>
          <p:nvPr/>
        </p:nvSpPr>
        <p:spPr bwMode="auto">
          <a:xfrm>
            <a:off x="6123265" y="4593651"/>
            <a:ext cx="914400" cy="400050"/>
          </a:xfrm>
          <a:prstGeom prst="flowChartTerminator">
            <a:avLst/>
          </a:prstGeom>
          <a:solidFill>
            <a:schemeClr val="bg1">
              <a:lumMod val="85000"/>
            </a:schemeClr>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200" dirty="0">
                <a:latin typeface="Calibri" pitchFamily="34" charset="0"/>
              </a:rPr>
              <a:t>exit</a:t>
            </a:r>
          </a:p>
        </p:txBody>
      </p:sp>
      <p:cxnSp>
        <p:nvCxnSpPr>
          <p:cNvPr id="24" name="Straight Arrow Connector 23">
            <a:extLst>
              <a:ext uri="{FF2B5EF4-FFF2-40B4-BE49-F238E27FC236}">
                <a16:creationId xmlns:a16="http://schemas.microsoft.com/office/drawing/2014/main" id="{57F4197A-B06F-42E7-BB65-8A650A728DF2}"/>
              </a:ext>
            </a:extLst>
          </p:cNvPr>
          <p:cNvCxnSpPr>
            <a:stCxn id="14" idx="2"/>
            <a:endCxn id="12" idx="0"/>
          </p:cNvCxnSpPr>
          <p:nvPr/>
        </p:nvCxnSpPr>
        <p:spPr bwMode="auto">
          <a:xfrm>
            <a:off x="6580465" y="1039306"/>
            <a:ext cx="0" cy="278066"/>
          </a:xfrm>
          <a:prstGeom prst="straightConnector1">
            <a:avLst/>
          </a:prstGeom>
          <a:noFill/>
          <a:ln w="25400" cap="flat" cmpd="sng" algn="ctr">
            <a:solidFill>
              <a:schemeClr val="tx1">
                <a:lumMod val="50000"/>
                <a:lumOff val="50000"/>
              </a:schemeClr>
            </a:solidFill>
            <a:prstDash val="solid"/>
            <a:round/>
            <a:headEnd type="none" w="med" len="med"/>
            <a:tailEnd type="triangle"/>
          </a:ln>
          <a:effectLst/>
        </p:spPr>
      </p:cxnSp>
      <p:cxnSp>
        <p:nvCxnSpPr>
          <p:cNvPr id="27" name="Straight Arrow Connector 26">
            <a:extLst>
              <a:ext uri="{FF2B5EF4-FFF2-40B4-BE49-F238E27FC236}">
                <a16:creationId xmlns:a16="http://schemas.microsoft.com/office/drawing/2014/main" id="{8B41A5E7-FF42-4D37-9C91-2F152266DEE8}"/>
              </a:ext>
            </a:extLst>
          </p:cNvPr>
          <p:cNvCxnSpPr>
            <a:stCxn id="12" idx="2"/>
            <a:endCxn id="13" idx="0"/>
          </p:cNvCxnSpPr>
          <p:nvPr/>
        </p:nvCxnSpPr>
        <p:spPr bwMode="auto">
          <a:xfrm>
            <a:off x="6580465" y="1603122"/>
            <a:ext cx="0" cy="252314"/>
          </a:xfrm>
          <a:prstGeom prst="straightConnector1">
            <a:avLst/>
          </a:prstGeom>
          <a:noFill/>
          <a:ln w="25400" cap="flat" cmpd="sng" algn="ctr">
            <a:solidFill>
              <a:schemeClr val="tx1">
                <a:lumMod val="50000"/>
                <a:lumOff val="50000"/>
              </a:schemeClr>
            </a:solidFill>
            <a:prstDash val="solid"/>
            <a:round/>
            <a:headEnd type="none" w="med" len="med"/>
            <a:tailEnd type="triangle"/>
          </a:ln>
          <a:effectLst/>
        </p:spPr>
      </p:cxnSp>
      <p:cxnSp>
        <p:nvCxnSpPr>
          <p:cNvPr id="29" name="Connector: Elbow 28">
            <a:extLst>
              <a:ext uri="{FF2B5EF4-FFF2-40B4-BE49-F238E27FC236}">
                <a16:creationId xmlns:a16="http://schemas.microsoft.com/office/drawing/2014/main" id="{16FCEDD0-D9D1-4795-9A1A-352A6EAD2F65}"/>
              </a:ext>
            </a:extLst>
          </p:cNvPr>
          <p:cNvCxnSpPr>
            <a:stCxn id="13" idx="1"/>
            <a:endCxn id="15" idx="0"/>
          </p:cNvCxnSpPr>
          <p:nvPr/>
        </p:nvCxnSpPr>
        <p:spPr bwMode="auto">
          <a:xfrm rot="10800000" flipV="1">
            <a:off x="5972175" y="2055460"/>
            <a:ext cx="107247" cy="503842"/>
          </a:xfrm>
          <a:prstGeom prst="bentConnector2">
            <a:avLst/>
          </a:prstGeom>
          <a:noFill/>
          <a:ln w="25400" cap="flat" cmpd="sng" algn="ctr">
            <a:solidFill>
              <a:schemeClr val="tx1">
                <a:lumMod val="50000"/>
                <a:lumOff val="50000"/>
              </a:schemeClr>
            </a:solidFill>
            <a:prstDash val="solid"/>
            <a:round/>
            <a:headEnd type="none" w="med" len="med"/>
            <a:tailEnd type="triangle"/>
          </a:ln>
          <a:effectLst/>
        </p:spPr>
      </p:cxnSp>
      <p:cxnSp>
        <p:nvCxnSpPr>
          <p:cNvPr id="31" name="Connector: Elbow 30">
            <a:extLst>
              <a:ext uri="{FF2B5EF4-FFF2-40B4-BE49-F238E27FC236}">
                <a16:creationId xmlns:a16="http://schemas.microsoft.com/office/drawing/2014/main" id="{052CCD6A-20F6-4730-A50A-58D80CF62EAD}"/>
              </a:ext>
            </a:extLst>
          </p:cNvPr>
          <p:cNvCxnSpPr>
            <a:stCxn id="15" idx="2"/>
            <a:endCxn id="19" idx="0"/>
          </p:cNvCxnSpPr>
          <p:nvPr/>
        </p:nvCxnSpPr>
        <p:spPr bwMode="auto">
          <a:xfrm rot="16200000" flipH="1">
            <a:off x="5444883" y="3458069"/>
            <a:ext cx="1662874" cy="608290"/>
          </a:xfrm>
          <a:prstGeom prst="bentConnector3">
            <a:avLst>
              <a:gd name="adj1" fmla="val 90211"/>
            </a:avLst>
          </a:prstGeom>
          <a:noFill/>
          <a:ln w="25400" cap="flat" cmpd="sng" algn="ctr">
            <a:solidFill>
              <a:schemeClr val="tx1">
                <a:lumMod val="50000"/>
                <a:lumOff val="50000"/>
              </a:schemeClr>
            </a:solidFill>
            <a:prstDash val="solid"/>
            <a:round/>
            <a:headEnd type="none" w="med" len="med"/>
            <a:tailEnd type="triangle"/>
          </a:ln>
          <a:effectLst/>
        </p:spPr>
      </p:cxnSp>
      <p:cxnSp>
        <p:nvCxnSpPr>
          <p:cNvPr id="34" name="Connector: Elbow 33">
            <a:extLst>
              <a:ext uri="{FF2B5EF4-FFF2-40B4-BE49-F238E27FC236}">
                <a16:creationId xmlns:a16="http://schemas.microsoft.com/office/drawing/2014/main" id="{D3B66247-BE24-4031-94B5-30F596A63A58}"/>
              </a:ext>
            </a:extLst>
          </p:cNvPr>
          <p:cNvCxnSpPr>
            <a:stCxn id="18" idx="2"/>
            <a:endCxn id="19" idx="0"/>
          </p:cNvCxnSpPr>
          <p:nvPr/>
        </p:nvCxnSpPr>
        <p:spPr bwMode="auto">
          <a:xfrm rot="5400000">
            <a:off x="6668782" y="4241555"/>
            <a:ext cx="263780" cy="440413"/>
          </a:xfrm>
          <a:prstGeom prst="bentConnector3">
            <a:avLst>
              <a:gd name="adj1" fmla="val 38445"/>
            </a:avLst>
          </a:prstGeom>
          <a:noFill/>
          <a:ln w="25400" cap="flat" cmpd="sng" algn="ctr">
            <a:solidFill>
              <a:schemeClr val="tx1">
                <a:lumMod val="50000"/>
                <a:lumOff val="50000"/>
              </a:schemeClr>
            </a:solidFill>
            <a:prstDash val="solid"/>
            <a:round/>
            <a:headEnd type="none" w="med" len="med"/>
            <a:tailEnd type="triangle"/>
          </a:ln>
          <a:effectLst/>
        </p:spPr>
      </p:cxnSp>
      <p:cxnSp>
        <p:nvCxnSpPr>
          <p:cNvPr id="37" name="Connector: Elbow 36">
            <a:extLst>
              <a:ext uri="{FF2B5EF4-FFF2-40B4-BE49-F238E27FC236}">
                <a16:creationId xmlns:a16="http://schemas.microsoft.com/office/drawing/2014/main" id="{A9D726F0-CF27-448F-8F1F-230D689B8AE5}"/>
              </a:ext>
            </a:extLst>
          </p:cNvPr>
          <p:cNvCxnSpPr>
            <a:cxnSpLocks/>
            <a:stCxn id="18" idx="3"/>
            <a:endCxn id="17" idx="0"/>
          </p:cNvCxnSpPr>
          <p:nvPr/>
        </p:nvCxnSpPr>
        <p:spPr bwMode="auto">
          <a:xfrm flipH="1" flipV="1">
            <a:off x="7020879" y="3237418"/>
            <a:ext cx="557212" cy="892428"/>
          </a:xfrm>
          <a:prstGeom prst="bentConnector4">
            <a:avLst>
              <a:gd name="adj1" fmla="val -30769"/>
              <a:gd name="adj2" fmla="val 119212"/>
            </a:avLst>
          </a:prstGeom>
          <a:noFill/>
          <a:ln w="25400" cap="flat" cmpd="sng" algn="ctr">
            <a:solidFill>
              <a:schemeClr val="tx1">
                <a:lumMod val="50000"/>
                <a:lumOff val="50000"/>
              </a:schemeClr>
            </a:solidFill>
            <a:prstDash val="solid"/>
            <a:round/>
            <a:headEnd type="none" w="med" len="med"/>
            <a:tailEnd type="triangle"/>
          </a:ln>
          <a:effectLst/>
        </p:spPr>
      </p:cxnSp>
      <p:cxnSp>
        <p:nvCxnSpPr>
          <p:cNvPr id="40" name="Connector: Elbow 39">
            <a:extLst>
              <a:ext uri="{FF2B5EF4-FFF2-40B4-BE49-F238E27FC236}">
                <a16:creationId xmlns:a16="http://schemas.microsoft.com/office/drawing/2014/main" id="{AFE38D3F-6124-429D-A414-B24EC46534A0}"/>
              </a:ext>
            </a:extLst>
          </p:cNvPr>
          <p:cNvCxnSpPr>
            <a:stCxn id="13" idx="3"/>
            <a:endCxn id="16" idx="0"/>
          </p:cNvCxnSpPr>
          <p:nvPr/>
        </p:nvCxnSpPr>
        <p:spPr bwMode="auto">
          <a:xfrm flipH="1">
            <a:off x="7020879" y="2055461"/>
            <a:ext cx="60629" cy="503842"/>
          </a:xfrm>
          <a:prstGeom prst="bentConnector4">
            <a:avLst>
              <a:gd name="adj1" fmla="val -282784"/>
              <a:gd name="adj2" fmla="val 69850"/>
            </a:avLst>
          </a:prstGeom>
          <a:noFill/>
          <a:ln w="25400" cap="flat" cmpd="sng" algn="ctr">
            <a:solidFill>
              <a:schemeClr val="tx1">
                <a:lumMod val="50000"/>
                <a:lumOff val="50000"/>
              </a:schemeClr>
            </a:solidFill>
            <a:prstDash val="solid"/>
            <a:round/>
            <a:headEnd type="none" w="med" len="med"/>
            <a:tailEnd type="triangle"/>
          </a:ln>
          <a:effectLst/>
        </p:spPr>
      </p:cxnSp>
      <p:cxnSp>
        <p:nvCxnSpPr>
          <p:cNvPr id="42" name="Straight Arrow Connector 41">
            <a:extLst>
              <a:ext uri="{FF2B5EF4-FFF2-40B4-BE49-F238E27FC236}">
                <a16:creationId xmlns:a16="http://schemas.microsoft.com/office/drawing/2014/main" id="{4E34FB3E-DCA5-4A75-B55D-B2E874D036E2}"/>
              </a:ext>
            </a:extLst>
          </p:cNvPr>
          <p:cNvCxnSpPr>
            <a:stCxn id="16" idx="2"/>
            <a:endCxn id="17" idx="0"/>
          </p:cNvCxnSpPr>
          <p:nvPr/>
        </p:nvCxnSpPr>
        <p:spPr bwMode="auto">
          <a:xfrm>
            <a:off x="7020878" y="2959352"/>
            <a:ext cx="0" cy="278066"/>
          </a:xfrm>
          <a:prstGeom prst="straightConnector1">
            <a:avLst/>
          </a:prstGeom>
          <a:noFill/>
          <a:ln w="25400" cap="flat" cmpd="sng" algn="ctr">
            <a:solidFill>
              <a:schemeClr val="tx1">
                <a:lumMod val="50000"/>
                <a:lumOff val="50000"/>
              </a:schemeClr>
            </a:solidFill>
            <a:prstDash val="solid"/>
            <a:round/>
            <a:headEnd type="none" w="med" len="med"/>
            <a:tailEnd type="triangle"/>
          </a:ln>
          <a:effectLst/>
        </p:spPr>
      </p:cxnSp>
      <p:cxnSp>
        <p:nvCxnSpPr>
          <p:cNvPr id="44" name="Straight Arrow Connector 43">
            <a:extLst>
              <a:ext uri="{FF2B5EF4-FFF2-40B4-BE49-F238E27FC236}">
                <a16:creationId xmlns:a16="http://schemas.microsoft.com/office/drawing/2014/main" id="{C65F4A83-1D34-45BB-B5ED-354A6592F364}"/>
              </a:ext>
            </a:extLst>
          </p:cNvPr>
          <p:cNvCxnSpPr>
            <a:stCxn id="17" idx="2"/>
            <a:endCxn id="18" idx="0"/>
          </p:cNvCxnSpPr>
          <p:nvPr/>
        </p:nvCxnSpPr>
        <p:spPr bwMode="auto">
          <a:xfrm flipH="1">
            <a:off x="7020878" y="3637468"/>
            <a:ext cx="1" cy="292353"/>
          </a:xfrm>
          <a:prstGeom prst="straightConnector1">
            <a:avLst/>
          </a:prstGeom>
          <a:noFill/>
          <a:ln w="25400" cap="flat" cmpd="sng" algn="ctr">
            <a:solidFill>
              <a:schemeClr val="tx1">
                <a:lumMod val="50000"/>
                <a:lumOff val="50000"/>
              </a:schemeClr>
            </a:solidFill>
            <a:prstDash val="solid"/>
            <a:round/>
            <a:headEnd type="none" w="med" len="med"/>
            <a:tailEnd type="triangle"/>
          </a:ln>
          <a:effectLst/>
        </p:spPr>
      </p:cxnSp>
    </p:spTree>
    <p:extLst>
      <p:ext uri="{BB962C8B-B14F-4D97-AF65-F5344CB8AC3E}">
        <p14:creationId xmlns:p14="http://schemas.microsoft.com/office/powerpoint/2010/main" val="32278137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8B903-BE46-4463-B218-AE526925C611}"/>
              </a:ext>
            </a:extLst>
          </p:cNvPr>
          <p:cNvSpPr>
            <a:spLocks noGrp="1"/>
          </p:cNvSpPr>
          <p:nvPr>
            <p:ph type="title"/>
          </p:nvPr>
        </p:nvSpPr>
        <p:spPr>
          <a:xfrm>
            <a:off x="658369" y="107156"/>
            <a:ext cx="8485631" cy="571500"/>
          </a:xfrm>
        </p:spPr>
        <p:txBody>
          <a:bodyPr/>
          <a:lstStyle/>
          <a:p>
            <a:r>
              <a:rPr lang="en-US" dirty="0"/>
              <a:t>Data Dependence Graph and Control Flow Graph</a:t>
            </a:r>
          </a:p>
        </p:txBody>
      </p:sp>
      <p:sp>
        <p:nvSpPr>
          <p:cNvPr id="3" name="Content Placeholder 2">
            <a:extLst>
              <a:ext uri="{FF2B5EF4-FFF2-40B4-BE49-F238E27FC236}">
                <a16:creationId xmlns:a16="http://schemas.microsoft.com/office/drawing/2014/main" id="{C20D84FD-5DAD-46DE-AFB2-CFDA62FED04E}"/>
              </a:ext>
            </a:extLst>
          </p:cNvPr>
          <p:cNvSpPr>
            <a:spLocks noGrp="1"/>
          </p:cNvSpPr>
          <p:nvPr>
            <p:ph idx="1"/>
          </p:nvPr>
        </p:nvSpPr>
        <p:spPr>
          <a:xfrm>
            <a:off x="292607" y="792955"/>
            <a:ext cx="8697773" cy="3808305"/>
          </a:xfrm>
        </p:spPr>
        <p:txBody>
          <a:bodyPr/>
          <a:lstStyle/>
          <a:p>
            <a:r>
              <a:rPr lang="en-US" sz="2000" b="1" i="0" dirty="0">
                <a:solidFill>
                  <a:srgbClr val="111827"/>
                </a:solidFill>
                <a:effectLst/>
                <a:latin typeface="Arial" panose="020B0604020202020204" pitchFamily="34" charset="0"/>
                <a:cs typeface="Arial" panose="020B0604020202020204" pitchFamily="34" charset="0"/>
              </a:rPr>
              <a:t>Control Flow Graph (CFG)</a:t>
            </a:r>
            <a:r>
              <a:rPr lang="en-US" sz="2000" b="0" i="0" dirty="0">
                <a:solidFill>
                  <a:srgbClr val="111827"/>
                </a:solidFill>
                <a:effectLst/>
                <a:latin typeface="Arial" panose="020B0604020202020204" pitchFamily="34" charset="0"/>
                <a:cs typeface="Arial" panose="020B0604020202020204" pitchFamily="34" charset="0"/>
              </a:rPr>
              <a:t> and the </a:t>
            </a:r>
            <a:r>
              <a:rPr lang="en-US" sz="2000" b="1" i="0" dirty="0">
                <a:solidFill>
                  <a:srgbClr val="111827"/>
                </a:solidFill>
                <a:effectLst/>
                <a:latin typeface="Arial" panose="020B0604020202020204" pitchFamily="34" charset="0"/>
                <a:cs typeface="Arial" panose="020B0604020202020204" pitchFamily="34" charset="0"/>
              </a:rPr>
              <a:t>Data Flow Graph (DFG)</a:t>
            </a:r>
            <a:r>
              <a:rPr lang="en-US" sz="2000" b="0" i="0" dirty="0">
                <a:solidFill>
                  <a:srgbClr val="111827"/>
                </a:solidFill>
                <a:effectLst/>
                <a:latin typeface="Arial" panose="020B0604020202020204" pitchFamily="34" charset="0"/>
                <a:cs typeface="Arial" panose="020B0604020202020204" pitchFamily="34" charset="0"/>
              </a:rPr>
              <a:t> are the two most critical data structures used to understand and optimize your code. While the CFG models the </a:t>
            </a:r>
            <a:r>
              <a:rPr lang="en-US" sz="2000" b="0" i="1" dirty="0">
                <a:solidFill>
                  <a:srgbClr val="FF0000"/>
                </a:solidFill>
                <a:effectLst/>
                <a:latin typeface="Arial" panose="020B0604020202020204" pitchFamily="34" charset="0"/>
                <a:cs typeface="Arial" panose="020B0604020202020204" pitchFamily="34" charset="0"/>
              </a:rPr>
              <a:t>paths of execution</a:t>
            </a:r>
            <a:r>
              <a:rPr lang="en-US" sz="2000" b="0" i="0" dirty="0">
                <a:solidFill>
                  <a:srgbClr val="111827"/>
                </a:solidFill>
                <a:effectLst/>
                <a:latin typeface="Arial" panose="020B0604020202020204" pitchFamily="34" charset="0"/>
                <a:cs typeface="Arial" panose="020B0604020202020204" pitchFamily="34" charset="0"/>
              </a:rPr>
              <a:t>, the DFG models the </a:t>
            </a:r>
            <a:r>
              <a:rPr lang="en-US" sz="2000" b="0" i="1" dirty="0">
                <a:solidFill>
                  <a:srgbClr val="FF0000"/>
                </a:solidFill>
                <a:effectLst/>
                <a:latin typeface="Arial" panose="020B0604020202020204" pitchFamily="34" charset="0"/>
                <a:cs typeface="Arial" panose="020B0604020202020204" pitchFamily="34" charset="0"/>
              </a:rPr>
              <a:t>movement of information</a:t>
            </a:r>
            <a:r>
              <a:rPr lang="en-US" sz="2000" b="0" i="0" dirty="0">
                <a:solidFill>
                  <a:srgbClr val="111827"/>
                </a:solidFill>
                <a:effectLst/>
                <a:latin typeface="Arial" panose="020B0604020202020204" pitchFamily="34" charset="0"/>
                <a:cs typeface="Arial" panose="020B0604020202020204" pitchFamily="34" charset="0"/>
              </a:rPr>
              <a:t>.</a:t>
            </a:r>
          </a:p>
          <a:p>
            <a:r>
              <a:rPr lang="en-US" sz="2000" dirty="0">
                <a:latin typeface="Arial" panose="020B0604020202020204" pitchFamily="34" charset="0"/>
                <a:cs typeface="Arial" panose="020B0604020202020204" pitchFamily="34" charset="0"/>
              </a:rPr>
              <a:t>By looking at both graphs simultaneously, the compiler knows exactly where the program is going (CFG) and what it is carrying along the way (DFG), which forms the mathematical foundation for almost all -O1, -O2, and -O3 optimizations.</a:t>
            </a:r>
          </a:p>
          <a:p>
            <a:r>
              <a:rPr lang="en-US" sz="2000" dirty="0">
                <a:latin typeface="Arial" panose="020B0604020202020204" pitchFamily="34" charset="0"/>
                <a:cs typeface="Arial" panose="020B0604020202020204" pitchFamily="34" charset="0"/>
              </a:rPr>
              <a:t>The Data Dependency Graph (DDG) we used in code scheduling is a graph to track instruction execution order constraints. DFG is used to determine the values of the variable flow. It enables various optimizations such as CSE, DCE, Reaching definitions and register allocations.</a:t>
            </a:r>
          </a:p>
        </p:txBody>
      </p:sp>
    </p:spTree>
    <p:extLst>
      <p:ext uri="{BB962C8B-B14F-4D97-AF65-F5344CB8AC3E}">
        <p14:creationId xmlns:p14="http://schemas.microsoft.com/office/powerpoint/2010/main" val="15698976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8B903-BE46-4463-B218-AE526925C611}"/>
              </a:ext>
            </a:extLst>
          </p:cNvPr>
          <p:cNvSpPr>
            <a:spLocks noGrp="1"/>
          </p:cNvSpPr>
          <p:nvPr>
            <p:ph type="title"/>
          </p:nvPr>
        </p:nvSpPr>
        <p:spPr>
          <a:xfrm>
            <a:off x="1367902" y="107156"/>
            <a:ext cx="5694070" cy="571500"/>
          </a:xfrm>
        </p:spPr>
        <p:txBody>
          <a:bodyPr/>
          <a:lstStyle/>
          <a:p>
            <a:r>
              <a:rPr lang="en-US" dirty="0"/>
              <a:t>Constant folding</a:t>
            </a:r>
          </a:p>
        </p:txBody>
      </p:sp>
      <p:sp>
        <p:nvSpPr>
          <p:cNvPr id="3" name="Content Placeholder 2">
            <a:extLst>
              <a:ext uri="{FF2B5EF4-FFF2-40B4-BE49-F238E27FC236}">
                <a16:creationId xmlns:a16="http://schemas.microsoft.com/office/drawing/2014/main" id="{C20D84FD-5DAD-46DE-AFB2-CFDA62FED04E}"/>
              </a:ext>
            </a:extLst>
          </p:cNvPr>
          <p:cNvSpPr>
            <a:spLocks noGrp="1"/>
          </p:cNvSpPr>
          <p:nvPr>
            <p:ph idx="1"/>
          </p:nvPr>
        </p:nvSpPr>
        <p:spPr>
          <a:xfrm>
            <a:off x="957264" y="792956"/>
            <a:ext cx="7243762" cy="3729038"/>
          </a:xfrm>
        </p:spPr>
        <p:txBody>
          <a:bodyPr/>
          <a:lstStyle/>
          <a:p>
            <a:r>
              <a:rPr lang="en-US" dirty="0"/>
              <a:t>Do arithmetic in the compiler</a:t>
            </a:r>
            <a:br>
              <a:rPr lang="en-US" dirty="0"/>
            </a:br>
            <a:r>
              <a:rPr lang="en-US" b="0" dirty="0">
                <a:latin typeface="Consolas" panose="020B0609020204030204" pitchFamily="49" charset="0"/>
              </a:rPr>
              <a:t>long mask = </a:t>
            </a:r>
            <a:r>
              <a:rPr lang="en-US" b="0" dirty="0">
                <a:solidFill>
                  <a:srgbClr val="C00000"/>
                </a:solidFill>
                <a:latin typeface="Consolas" panose="020B0609020204030204" pitchFamily="49" charset="0"/>
              </a:rPr>
              <a:t>0xFF &lt;&lt; 8</a:t>
            </a:r>
            <a:r>
              <a:rPr lang="en-US" b="0" dirty="0">
                <a:latin typeface="Consolas" panose="020B0609020204030204" pitchFamily="49" charset="0"/>
              </a:rPr>
              <a:t>;    </a:t>
            </a:r>
            <a:r>
              <a:rPr lang="en-US" b="0" dirty="0"/>
              <a:t>→</a:t>
            </a:r>
            <a:br>
              <a:rPr lang="en-US" b="0" dirty="0"/>
            </a:br>
            <a:r>
              <a:rPr lang="en-US" b="0" dirty="0">
                <a:latin typeface="Consolas" panose="020B0609020204030204" pitchFamily="49" charset="0"/>
              </a:rPr>
              <a:t>long mask = </a:t>
            </a:r>
            <a:r>
              <a:rPr lang="en-US" b="0" dirty="0">
                <a:solidFill>
                  <a:srgbClr val="0070C0"/>
                </a:solidFill>
                <a:latin typeface="Consolas" panose="020B0609020204030204" pitchFamily="49" charset="0"/>
              </a:rPr>
              <a:t>0xFF00</a:t>
            </a:r>
            <a:r>
              <a:rPr lang="en-US" b="0" dirty="0">
                <a:latin typeface="Consolas" panose="020B0609020204030204" pitchFamily="49" charset="0"/>
              </a:rPr>
              <a:t>;</a:t>
            </a:r>
            <a:endParaRPr lang="en-US" dirty="0"/>
          </a:p>
          <a:p>
            <a:r>
              <a:rPr lang="en-US" dirty="0"/>
              <a:t>Any expression with constant inputs can be folded</a:t>
            </a:r>
          </a:p>
          <a:p>
            <a:r>
              <a:rPr lang="en-US" dirty="0"/>
              <a:t>Might even be able to remove library calls…</a:t>
            </a:r>
            <a:br>
              <a:rPr lang="en-US" dirty="0"/>
            </a:br>
            <a:br>
              <a:rPr lang="en-US" dirty="0"/>
            </a:br>
            <a:r>
              <a:rPr lang="en-US" b="0" dirty="0" err="1">
                <a:latin typeface="Consolas" panose="020B0609020204030204" pitchFamily="49" charset="0"/>
              </a:rPr>
              <a:t>size_t</a:t>
            </a:r>
            <a:r>
              <a:rPr lang="en-US" b="0" dirty="0">
                <a:latin typeface="Consolas" panose="020B0609020204030204" pitchFamily="49" charset="0"/>
              </a:rPr>
              <a:t> </a:t>
            </a:r>
            <a:r>
              <a:rPr lang="en-US" b="0" dirty="0" err="1">
                <a:latin typeface="Consolas" panose="020B0609020204030204" pitchFamily="49" charset="0"/>
              </a:rPr>
              <a:t>namelen</a:t>
            </a:r>
            <a:r>
              <a:rPr lang="en-US" b="0" dirty="0">
                <a:latin typeface="Consolas" panose="020B0609020204030204" pitchFamily="49" charset="0"/>
              </a:rPr>
              <a:t> = </a:t>
            </a:r>
            <a:r>
              <a:rPr lang="en-US" b="0" dirty="0" err="1">
                <a:solidFill>
                  <a:srgbClr val="C00000"/>
                </a:solidFill>
                <a:latin typeface="Consolas" panose="020B0609020204030204" pitchFamily="49" charset="0"/>
              </a:rPr>
              <a:t>strlen</a:t>
            </a:r>
            <a:r>
              <a:rPr lang="en-US" b="0" dirty="0">
                <a:solidFill>
                  <a:srgbClr val="C00000"/>
                </a:solidFill>
                <a:latin typeface="Consolas" panose="020B0609020204030204" pitchFamily="49" charset="0"/>
              </a:rPr>
              <a:t>("Harry </a:t>
            </a:r>
            <a:r>
              <a:rPr lang="en-US" b="0" dirty="0" err="1">
                <a:solidFill>
                  <a:srgbClr val="C00000"/>
                </a:solidFill>
                <a:latin typeface="Consolas" panose="020B0609020204030204" pitchFamily="49" charset="0"/>
              </a:rPr>
              <a:t>Bovik</a:t>
            </a:r>
            <a:r>
              <a:rPr lang="en-US" b="0" dirty="0">
                <a:solidFill>
                  <a:srgbClr val="C00000"/>
                </a:solidFill>
                <a:latin typeface="Consolas" panose="020B0609020204030204" pitchFamily="49" charset="0"/>
              </a:rPr>
              <a:t>")</a:t>
            </a:r>
            <a:r>
              <a:rPr lang="en-US" b="0" dirty="0">
                <a:latin typeface="Consolas" panose="020B0609020204030204" pitchFamily="49" charset="0"/>
              </a:rPr>
              <a:t>;   </a:t>
            </a:r>
            <a:endParaRPr lang="en-US" dirty="0">
              <a:latin typeface="Consolas" panose="020B0609020204030204" pitchFamily="49" charset="0"/>
            </a:endParaRPr>
          </a:p>
          <a:p>
            <a:pPr marL="0" indent="0">
              <a:buNone/>
            </a:pPr>
            <a:r>
              <a:rPr lang="en-US" b="0" dirty="0">
                <a:latin typeface="Consolas" panose="020B0609020204030204" pitchFamily="49" charset="0"/>
                <a:sym typeface="Wingdings" panose="05000000000000000000" pitchFamily="2" charset="2"/>
              </a:rPr>
              <a:t></a:t>
            </a:r>
            <a:r>
              <a:rPr lang="en-US" b="0" dirty="0" err="1">
                <a:latin typeface="Consolas" panose="020B0609020204030204" pitchFamily="49" charset="0"/>
              </a:rPr>
              <a:t>size_t</a:t>
            </a:r>
            <a:r>
              <a:rPr lang="en-US" b="0" dirty="0">
                <a:latin typeface="Consolas" panose="020B0609020204030204" pitchFamily="49" charset="0"/>
              </a:rPr>
              <a:t> </a:t>
            </a:r>
            <a:r>
              <a:rPr lang="en-US" b="0" dirty="0" err="1">
                <a:latin typeface="Consolas" panose="020B0609020204030204" pitchFamily="49" charset="0"/>
              </a:rPr>
              <a:t>namelen</a:t>
            </a:r>
            <a:r>
              <a:rPr lang="en-US" b="0" dirty="0">
                <a:latin typeface="Consolas" panose="020B0609020204030204" pitchFamily="49" charset="0"/>
              </a:rPr>
              <a:t> = </a:t>
            </a:r>
            <a:r>
              <a:rPr lang="en-US" b="0" dirty="0">
                <a:solidFill>
                  <a:srgbClr val="0070C0"/>
                </a:solidFill>
                <a:latin typeface="Consolas" panose="020B0609020204030204" pitchFamily="49" charset="0"/>
              </a:rPr>
              <a:t>11</a:t>
            </a:r>
            <a:r>
              <a:rPr lang="en-US" b="0" dirty="0">
                <a:latin typeface="Consolas" panose="020B0609020204030204" pitchFamily="49" charset="0"/>
              </a:rPr>
              <a:t>;</a:t>
            </a:r>
          </a:p>
          <a:p>
            <a:endParaRPr lang="en-US" dirty="0"/>
          </a:p>
        </p:txBody>
      </p:sp>
    </p:spTree>
    <p:extLst>
      <p:ext uri="{BB962C8B-B14F-4D97-AF65-F5344CB8AC3E}">
        <p14:creationId xmlns:p14="http://schemas.microsoft.com/office/powerpoint/2010/main" val="223544192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B9E82A-8937-4124-99A7-CFAF3E39585D}"/>
              </a:ext>
            </a:extLst>
          </p:cNvPr>
          <p:cNvSpPr>
            <a:spLocks noGrp="1"/>
          </p:cNvSpPr>
          <p:nvPr>
            <p:ph type="title"/>
          </p:nvPr>
        </p:nvSpPr>
        <p:spPr>
          <a:xfrm>
            <a:off x="1353614" y="107156"/>
            <a:ext cx="5694070" cy="571500"/>
          </a:xfrm>
        </p:spPr>
        <p:txBody>
          <a:bodyPr/>
          <a:lstStyle/>
          <a:p>
            <a:r>
              <a:rPr lang="en-US" dirty="0"/>
              <a:t>Dead Code Elimination (DCE)</a:t>
            </a:r>
          </a:p>
        </p:txBody>
      </p:sp>
      <p:sp>
        <p:nvSpPr>
          <p:cNvPr id="3" name="Content Placeholder 2">
            <a:extLst>
              <a:ext uri="{FF2B5EF4-FFF2-40B4-BE49-F238E27FC236}">
                <a16:creationId xmlns:a16="http://schemas.microsoft.com/office/drawing/2014/main" id="{9DF98A81-C75D-483E-96F4-16DCCE3FEA4E}"/>
              </a:ext>
            </a:extLst>
          </p:cNvPr>
          <p:cNvSpPr>
            <a:spLocks noGrp="1"/>
          </p:cNvSpPr>
          <p:nvPr>
            <p:ph idx="1"/>
          </p:nvPr>
        </p:nvSpPr>
        <p:spPr>
          <a:xfrm>
            <a:off x="771526" y="792956"/>
            <a:ext cx="7436644" cy="3729038"/>
          </a:xfrm>
        </p:spPr>
        <p:txBody>
          <a:bodyPr/>
          <a:lstStyle/>
          <a:p>
            <a:r>
              <a:rPr lang="en-US" dirty="0"/>
              <a:t>Don’t emit code that will never be executed</a:t>
            </a:r>
            <a:br>
              <a:rPr lang="en-US" dirty="0"/>
            </a:br>
            <a:r>
              <a:rPr lang="en-US" sz="2000" b="0" strike="sngStrike" dirty="0">
                <a:solidFill>
                  <a:srgbClr val="C00000"/>
                </a:solidFill>
                <a:latin typeface="Consolas" panose="020B0609020204030204" pitchFamily="49" charset="0"/>
              </a:rPr>
              <a:t>if (0) { puts("Kilroy was here"); }</a:t>
            </a:r>
            <a:br>
              <a:rPr lang="en-US" sz="2000" b="0" strike="sngStrike" dirty="0">
                <a:solidFill>
                  <a:srgbClr val="C00000"/>
                </a:solidFill>
                <a:latin typeface="Consolas" panose="020B0609020204030204" pitchFamily="49" charset="0"/>
              </a:rPr>
            </a:br>
            <a:r>
              <a:rPr lang="en-US" sz="2000" b="0" strike="sngStrike" dirty="0">
                <a:solidFill>
                  <a:srgbClr val="C00000"/>
                </a:solidFill>
                <a:latin typeface="Consolas" panose="020B0609020204030204" pitchFamily="49" charset="0"/>
              </a:rPr>
              <a:t>if (1) {</a:t>
            </a:r>
            <a:r>
              <a:rPr lang="en-US" sz="2000" b="0" dirty="0">
                <a:latin typeface="Consolas" panose="020B0609020204030204" pitchFamily="49" charset="0"/>
              </a:rPr>
              <a:t> puts("Only bozos on this bus"); </a:t>
            </a:r>
            <a:r>
              <a:rPr lang="en-US" sz="2000" b="0" strike="sngStrike" dirty="0">
                <a:solidFill>
                  <a:srgbClr val="C00000"/>
                </a:solidFill>
                <a:latin typeface="Consolas" panose="020B0609020204030204" pitchFamily="49" charset="0"/>
              </a:rPr>
              <a:t>}</a:t>
            </a:r>
            <a:endParaRPr lang="en-US" dirty="0"/>
          </a:p>
          <a:p>
            <a:r>
              <a:rPr lang="en-US" dirty="0"/>
              <a:t>Don’t emit code whose result is overwritten</a:t>
            </a:r>
            <a:br>
              <a:rPr lang="en-US" dirty="0"/>
            </a:br>
            <a:r>
              <a:rPr lang="en-US" b="0" strike="sngStrike" dirty="0">
                <a:solidFill>
                  <a:srgbClr val="C00000"/>
                </a:solidFill>
                <a:latin typeface="Consolas" panose="020B0609020204030204" pitchFamily="49" charset="0"/>
              </a:rPr>
              <a:t>x = 23;</a:t>
            </a:r>
            <a:br>
              <a:rPr lang="en-US" b="0" strike="sngStrike" dirty="0">
                <a:solidFill>
                  <a:srgbClr val="C00000"/>
                </a:solidFill>
                <a:latin typeface="Consolas" panose="020B0609020204030204" pitchFamily="49" charset="0"/>
              </a:rPr>
            </a:br>
            <a:r>
              <a:rPr lang="en-US" b="0" dirty="0">
                <a:latin typeface="Consolas" panose="020B0609020204030204" pitchFamily="49" charset="0"/>
              </a:rPr>
              <a:t>x = 42</a:t>
            </a:r>
            <a:r>
              <a:rPr lang="en-US" dirty="0">
                <a:latin typeface="Consolas" panose="020B0609020204030204" pitchFamily="49" charset="0"/>
              </a:rPr>
              <a:t>;</a:t>
            </a:r>
            <a:endParaRPr lang="en-US" dirty="0"/>
          </a:p>
          <a:p>
            <a:r>
              <a:rPr lang="en-US" dirty="0"/>
              <a:t>These may look silly, but...</a:t>
            </a:r>
          </a:p>
          <a:p>
            <a:pPr lvl="1"/>
            <a:r>
              <a:rPr lang="en-US" dirty="0"/>
              <a:t>Can be </a:t>
            </a:r>
            <a:r>
              <a:rPr lang="en-US" b="1" dirty="0"/>
              <a:t>produced by other optimizations</a:t>
            </a:r>
          </a:p>
          <a:p>
            <a:pPr lvl="1"/>
            <a:r>
              <a:rPr lang="en-US" dirty="0"/>
              <a:t>Can be produced by conditional compilations</a:t>
            </a:r>
          </a:p>
          <a:p>
            <a:pPr lvl="1"/>
            <a:r>
              <a:rPr lang="en-US" dirty="0"/>
              <a:t>Assignments to </a:t>
            </a:r>
            <a:r>
              <a:rPr lang="en-US" dirty="0">
                <a:latin typeface="Consolas" panose="020B0609020204030204" pitchFamily="49" charset="0"/>
              </a:rPr>
              <a:t>x</a:t>
            </a:r>
            <a:r>
              <a:rPr lang="en-US" dirty="0"/>
              <a:t> might be far apart</a:t>
            </a:r>
          </a:p>
        </p:txBody>
      </p:sp>
    </p:spTree>
    <p:extLst>
      <p:ext uri="{BB962C8B-B14F-4D97-AF65-F5344CB8AC3E}">
        <p14:creationId xmlns:p14="http://schemas.microsoft.com/office/powerpoint/2010/main" val="11218821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2E06D-3DEB-4BF2-BE7A-E0CD6FCC1C44}"/>
              </a:ext>
            </a:extLst>
          </p:cNvPr>
          <p:cNvSpPr>
            <a:spLocks noGrp="1"/>
          </p:cNvSpPr>
          <p:nvPr>
            <p:ph type="title"/>
          </p:nvPr>
        </p:nvSpPr>
        <p:spPr/>
        <p:txBody>
          <a:bodyPr/>
          <a:lstStyle/>
          <a:p>
            <a:r>
              <a:rPr lang="en-US" dirty="0"/>
              <a:t>Common Subexpression Elimination (CSE)</a:t>
            </a:r>
          </a:p>
        </p:txBody>
      </p:sp>
      <p:sp>
        <p:nvSpPr>
          <p:cNvPr id="3" name="Content Placeholder 2">
            <a:extLst>
              <a:ext uri="{FF2B5EF4-FFF2-40B4-BE49-F238E27FC236}">
                <a16:creationId xmlns:a16="http://schemas.microsoft.com/office/drawing/2014/main" id="{75F0F01F-D58B-4E18-861A-D3F65BB9B82B}"/>
              </a:ext>
            </a:extLst>
          </p:cNvPr>
          <p:cNvSpPr>
            <a:spLocks noGrp="1"/>
          </p:cNvSpPr>
          <p:nvPr>
            <p:ph idx="1"/>
          </p:nvPr>
        </p:nvSpPr>
        <p:spPr/>
        <p:txBody>
          <a:bodyPr/>
          <a:lstStyle/>
          <a:p>
            <a:r>
              <a:rPr lang="en-US" dirty="0"/>
              <a:t>Factor out repeated calculations, only do them once</a:t>
            </a:r>
            <a:br>
              <a:rPr lang="en-US" dirty="0"/>
            </a:br>
            <a:endParaRPr lang="en-US" dirty="0"/>
          </a:p>
          <a:p>
            <a:pPr marL="300038" lvl="1" indent="0">
              <a:buNone/>
            </a:pPr>
            <a:r>
              <a:rPr lang="en-US" sz="1800" dirty="0">
                <a:latin typeface="Consolas" panose="020B0609020204030204" pitchFamily="49" charset="0"/>
              </a:rPr>
              <a:t>norm[</a:t>
            </a:r>
            <a:r>
              <a:rPr lang="en-US" sz="1800" dirty="0" err="1">
                <a:latin typeface="Consolas" panose="020B0609020204030204" pitchFamily="49" charset="0"/>
              </a:rPr>
              <a:t>i</a:t>
            </a:r>
            <a:r>
              <a:rPr lang="en-US" sz="1800" dirty="0">
                <a:latin typeface="Consolas" panose="020B0609020204030204" pitchFamily="49" charset="0"/>
              </a:rPr>
              <a:t>] = </a:t>
            </a:r>
            <a:r>
              <a:rPr lang="en-US" sz="1800" dirty="0">
                <a:solidFill>
                  <a:schemeClr val="accent1">
                    <a:lumMod val="75000"/>
                  </a:schemeClr>
                </a:solidFill>
                <a:latin typeface="Consolas" panose="020B0609020204030204" pitchFamily="49" charset="0"/>
              </a:rPr>
              <a:t>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solidFill>
                  <a:srgbClr val="00B0F0"/>
                </a:solidFill>
                <a:latin typeface="Consolas" panose="020B0609020204030204" pitchFamily="49" charset="0"/>
              </a:rPr>
              <a:t>.x</a:t>
            </a:r>
            <a:r>
              <a:rPr lang="en-US" sz="1800" dirty="0">
                <a:latin typeface="Consolas" panose="020B0609020204030204" pitchFamily="49" charset="0"/>
              </a:rPr>
              <a:t>*</a:t>
            </a:r>
            <a:r>
              <a:rPr lang="en-US" sz="1800" dirty="0">
                <a:solidFill>
                  <a:schemeClr val="accent1">
                    <a:lumMod val="75000"/>
                  </a:schemeClr>
                </a:solidFill>
                <a:latin typeface="Consolas" panose="020B0609020204030204" pitchFamily="49" charset="0"/>
              </a:rPr>
              <a:t>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solidFill>
                  <a:srgbClr val="00B0F0"/>
                </a:solidFill>
                <a:latin typeface="Consolas" panose="020B0609020204030204" pitchFamily="49" charset="0"/>
              </a:rPr>
              <a:t>.x</a:t>
            </a:r>
            <a:r>
              <a:rPr lang="en-US" sz="1800" dirty="0">
                <a:latin typeface="Consolas" panose="020B0609020204030204" pitchFamily="49" charset="0"/>
              </a:rPr>
              <a:t> + </a:t>
            </a:r>
            <a:r>
              <a:rPr lang="en-US" sz="1800" dirty="0">
                <a:solidFill>
                  <a:schemeClr val="accent1">
                    <a:lumMod val="75000"/>
                  </a:schemeClr>
                </a:solidFill>
                <a:latin typeface="Consolas" panose="020B0609020204030204" pitchFamily="49" charset="0"/>
              </a:rPr>
              <a:t>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solidFill>
                  <a:srgbClr val="7030A0"/>
                </a:solidFill>
                <a:latin typeface="Consolas" panose="020B0609020204030204" pitchFamily="49" charset="0"/>
              </a:rPr>
              <a:t>.y</a:t>
            </a:r>
            <a:r>
              <a:rPr lang="en-US" sz="1800" dirty="0">
                <a:latin typeface="Consolas" panose="020B0609020204030204" pitchFamily="49" charset="0"/>
              </a:rPr>
              <a:t>*</a:t>
            </a:r>
            <a:r>
              <a:rPr lang="en-US" sz="1800" dirty="0">
                <a:solidFill>
                  <a:schemeClr val="accent1">
                    <a:lumMod val="75000"/>
                  </a:schemeClr>
                </a:solidFill>
                <a:latin typeface="Consolas" panose="020B0609020204030204" pitchFamily="49" charset="0"/>
              </a:rPr>
              <a:t>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solidFill>
                  <a:srgbClr val="7030A0"/>
                </a:solidFill>
                <a:latin typeface="Consolas" panose="020B0609020204030204" pitchFamily="49" charset="0"/>
              </a:rPr>
              <a:t>.y</a:t>
            </a:r>
            <a:r>
              <a:rPr lang="en-US" sz="1800" dirty="0">
                <a:latin typeface="Consolas" panose="020B0609020204030204" pitchFamily="49" charset="0"/>
              </a:rPr>
              <a:t>;</a:t>
            </a:r>
          </a:p>
          <a:p>
            <a:pPr marL="300038" lvl="1" indent="0">
              <a:buNone/>
            </a:pPr>
            <a:r>
              <a:rPr lang="en-US" sz="1800" dirty="0">
                <a:latin typeface="Consolas" panose="020B0609020204030204" pitchFamily="49" charset="0"/>
              </a:rPr>
              <a:t>  </a:t>
            </a:r>
            <a:r>
              <a:rPr lang="en-US" sz="1800" dirty="0">
                <a:sym typeface="Wingdings" panose="05000000000000000000" pitchFamily="2" charset="2"/>
              </a:rPr>
              <a:t></a:t>
            </a:r>
            <a:r>
              <a:rPr lang="en-US" sz="1800" dirty="0">
                <a:latin typeface="Consolas" panose="020B0609020204030204" pitchFamily="49" charset="0"/>
              </a:rPr>
              <a:t>  </a:t>
            </a:r>
          </a:p>
          <a:p>
            <a:pPr marL="300038" lvl="1" indent="0">
              <a:buNone/>
            </a:pPr>
            <a:r>
              <a:rPr lang="en-US" sz="1800" dirty="0" err="1">
                <a:latin typeface="Consolas" panose="020B0609020204030204" pitchFamily="49" charset="0"/>
              </a:rPr>
              <a:t>elt</a:t>
            </a:r>
            <a:r>
              <a:rPr lang="en-US" sz="1800" dirty="0">
                <a:latin typeface="Consolas" panose="020B0609020204030204" pitchFamily="49" charset="0"/>
              </a:rPr>
              <a:t> = </a:t>
            </a:r>
            <a:r>
              <a:rPr lang="en-US" sz="1800" dirty="0">
                <a:solidFill>
                  <a:schemeClr val="accent1">
                    <a:lumMod val="75000"/>
                  </a:schemeClr>
                </a:solidFill>
                <a:latin typeface="Consolas" panose="020B0609020204030204" pitchFamily="49" charset="0"/>
              </a:rPr>
              <a:t>&amp;v[</a:t>
            </a:r>
            <a:r>
              <a:rPr lang="en-US" sz="1800" dirty="0" err="1">
                <a:solidFill>
                  <a:schemeClr val="accent1">
                    <a:lumMod val="75000"/>
                  </a:schemeClr>
                </a:solidFill>
                <a:latin typeface="Consolas" panose="020B0609020204030204" pitchFamily="49" charset="0"/>
              </a:rPr>
              <a:t>i</a:t>
            </a:r>
            <a:r>
              <a:rPr lang="en-US" sz="1800" dirty="0">
                <a:solidFill>
                  <a:schemeClr val="accent1">
                    <a:lumMod val="75000"/>
                  </a:schemeClr>
                </a:solidFill>
                <a:latin typeface="Consolas" panose="020B0609020204030204" pitchFamily="49" charset="0"/>
              </a:rPr>
              <a:t>]</a:t>
            </a:r>
            <a:r>
              <a:rPr lang="en-US" sz="1800" dirty="0">
                <a:latin typeface="Consolas" panose="020B0609020204030204" pitchFamily="49" charset="0"/>
              </a:rPr>
              <a:t>;</a:t>
            </a:r>
          </a:p>
          <a:p>
            <a:pPr marL="300038" lvl="1" indent="0">
              <a:buNone/>
            </a:pPr>
            <a:r>
              <a:rPr lang="en-US" sz="1800" dirty="0">
                <a:latin typeface="Consolas" panose="020B0609020204030204" pitchFamily="49" charset="0"/>
              </a:rPr>
              <a:t>x = </a:t>
            </a:r>
            <a:r>
              <a:rPr lang="en-US" sz="1800" dirty="0" err="1">
                <a:solidFill>
                  <a:srgbClr val="00B0F0"/>
                </a:solidFill>
                <a:latin typeface="Consolas" panose="020B0609020204030204" pitchFamily="49" charset="0"/>
              </a:rPr>
              <a:t>elt</a:t>
            </a:r>
            <a:r>
              <a:rPr lang="en-US" sz="1800" dirty="0">
                <a:solidFill>
                  <a:srgbClr val="00B0F0"/>
                </a:solidFill>
                <a:latin typeface="Consolas" panose="020B0609020204030204" pitchFamily="49" charset="0"/>
              </a:rPr>
              <a:t>-&gt;x</a:t>
            </a:r>
            <a:r>
              <a:rPr lang="en-US" sz="1800" dirty="0">
                <a:latin typeface="Consolas" panose="020B0609020204030204" pitchFamily="49" charset="0"/>
              </a:rPr>
              <a:t>;</a:t>
            </a:r>
          </a:p>
          <a:p>
            <a:pPr marL="300038" lvl="1" indent="0">
              <a:buNone/>
            </a:pPr>
            <a:r>
              <a:rPr lang="en-US" sz="1800" dirty="0">
                <a:latin typeface="Consolas" panose="020B0609020204030204" pitchFamily="49" charset="0"/>
              </a:rPr>
              <a:t>y = </a:t>
            </a:r>
            <a:r>
              <a:rPr lang="en-US" sz="1800" dirty="0" err="1">
                <a:solidFill>
                  <a:srgbClr val="7030A0"/>
                </a:solidFill>
                <a:latin typeface="Consolas" panose="020B0609020204030204" pitchFamily="49" charset="0"/>
              </a:rPr>
              <a:t>elt</a:t>
            </a:r>
            <a:r>
              <a:rPr lang="en-US" sz="1800" dirty="0">
                <a:solidFill>
                  <a:srgbClr val="7030A0"/>
                </a:solidFill>
                <a:latin typeface="Consolas" panose="020B0609020204030204" pitchFamily="49" charset="0"/>
              </a:rPr>
              <a:t>-&gt;y</a:t>
            </a:r>
            <a:r>
              <a:rPr lang="en-US" sz="1800" dirty="0">
                <a:latin typeface="Consolas" panose="020B0609020204030204" pitchFamily="49" charset="0"/>
              </a:rPr>
              <a:t>;</a:t>
            </a:r>
          </a:p>
          <a:p>
            <a:pPr marL="300038" lvl="1" indent="0">
              <a:buNone/>
            </a:pPr>
            <a:r>
              <a:rPr lang="en-US" sz="1800" dirty="0">
                <a:latin typeface="Consolas" panose="020B0609020204030204" pitchFamily="49" charset="0"/>
              </a:rPr>
              <a:t>norm[</a:t>
            </a:r>
            <a:r>
              <a:rPr lang="en-US" sz="1800" dirty="0" err="1">
                <a:latin typeface="Consolas" panose="020B0609020204030204" pitchFamily="49" charset="0"/>
              </a:rPr>
              <a:t>i</a:t>
            </a:r>
            <a:r>
              <a:rPr lang="en-US" sz="1800" dirty="0">
                <a:latin typeface="Consolas" panose="020B0609020204030204" pitchFamily="49" charset="0"/>
              </a:rPr>
              <a:t>] = x*x + y*y;</a:t>
            </a:r>
          </a:p>
          <a:p>
            <a:pPr marL="0" indent="0">
              <a:buNone/>
            </a:pPr>
            <a:endParaRPr lang="en-US" dirty="0"/>
          </a:p>
        </p:txBody>
      </p:sp>
      <p:sp>
        <p:nvSpPr>
          <p:cNvPr id="4" name="TextBox 3">
            <a:extLst>
              <a:ext uri="{FF2B5EF4-FFF2-40B4-BE49-F238E27FC236}">
                <a16:creationId xmlns:a16="http://schemas.microsoft.com/office/drawing/2014/main" id="{62B24955-C615-DAE7-72AE-9659CD777C4D}"/>
              </a:ext>
            </a:extLst>
          </p:cNvPr>
          <p:cNvSpPr txBox="1"/>
          <p:nvPr/>
        </p:nvSpPr>
        <p:spPr>
          <a:xfrm>
            <a:off x="3752518" y="3454211"/>
            <a:ext cx="4852610" cy="923330"/>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anose="020F07020304040A0204" pitchFamily="34" charset="0"/>
              </a:rPr>
              <a:t>Note that the compiler is very good at </a:t>
            </a:r>
          </a:p>
          <a:p>
            <a:r>
              <a:rPr lang="en-US" dirty="0">
                <a:ea typeface="標楷體" pitchFamily="65" charset="-120"/>
                <a:cs typeface="Calibri" panose="020F07020304040A0204" pitchFamily="34" charset="0"/>
              </a:rPr>
              <a:t>CSE (Common Sub-expression Elimination).</a:t>
            </a:r>
          </a:p>
          <a:p>
            <a:r>
              <a:rPr lang="en-US" dirty="0">
                <a:ea typeface="標楷體" pitchFamily="65" charset="-120"/>
                <a:cs typeface="Calibri" panose="020F07020304040A0204" pitchFamily="34" charset="0"/>
              </a:rPr>
              <a:t>Programmers are not supposed to do it.</a:t>
            </a:r>
          </a:p>
        </p:txBody>
      </p:sp>
    </p:spTree>
    <p:extLst>
      <p:ext uri="{BB962C8B-B14F-4D97-AF65-F5344CB8AC3E}">
        <p14:creationId xmlns:p14="http://schemas.microsoft.com/office/powerpoint/2010/main" val="10259776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2E06D-3DEB-4BF2-BE7A-E0CD6FCC1C44}"/>
              </a:ext>
            </a:extLst>
          </p:cNvPr>
          <p:cNvSpPr>
            <a:spLocks noGrp="1"/>
          </p:cNvSpPr>
          <p:nvPr>
            <p:ph type="title"/>
          </p:nvPr>
        </p:nvSpPr>
        <p:spPr/>
        <p:txBody>
          <a:bodyPr/>
          <a:lstStyle/>
          <a:p>
            <a:r>
              <a:rPr lang="en-US" dirty="0"/>
              <a:t>More Common Subexpressions</a:t>
            </a:r>
          </a:p>
        </p:txBody>
      </p:sp>
      <p:sp>
        <p:nvSpPr>
          <p:cNvPr id="3" name="Content Placeholder 2">
            <a:extLst>
              <a:ext uri="{FF2B5EF4-FFF2-40B4-BE49-F238E27FC236}">
                <a16:creationId xmlns:a16="http://schemas.microsoft.com/office/drawing/2014/main" id="{75F0F01F-D58B-4E18-861A-D3F65BB9B82B}"/>
              </a:ext>
            </a:extLst>
          </p:cNvPr>
          <p:cNvSpPr>
            <a:spLocks noGrp="1"/>
          </p:cNvSpPr>
          <p:nvPr>
            <p:ph idx="1"/>
          </p:nvPr>
        </p:nvSpPr>
        <p:spPr/>
        <p:txBody>
          <a:bodyPr/>
          <a:lstStyle/>
          <a:p>
            <a:pPr marL="0" indent="0">
              <a:buNone/>
            </a:pPr>
            <a:r>
              <a:rPr lang="en-US" dirty="0"/>
              <a:t>More CSE Examples</a:t>
            </a:r>
          </a:p>
          <a:p>
            <a:pPr>
              <a:buSzPct val="200000"/>
              <a:buFont typeface="Arial" panose="020B0604020202020204" pitchFamily="34" charset="0"/>
              <a:buChar char="•"/>
            </a:pPr>
            <a:r>
              <a:rPr lang="es-ES" dirty="0" err="1"/>
              <a:t>float</a:t>
            </a:r>
            <a:r>
              <a:rPr lang="es-ES" dirty="0"/>
              <a:t> dist2 = (x1 - x2) * (x1 - x2) + (y1 - y2) * (y1 - y2);</a:t>
            </a:r>
          </a:p>
          <a:p>
            <a:pPr>
              <a:buSzPct val="200000"/>
              <a:buFont typeface="Arial" panose="020B0604020202020204" pitchFamily="34" charset="0"/>
              <a:buChar char="•"/>
            </a:pPr>
            <a:r>
              <a:rPr lang="en-US" dirty="0"/>
              <a:t>A = (A+B+C) * (A+B+D) – (A+D+B) 	//A,B,C,D are integers, A+B is a common subexpression</a:t>
            </a:r>
          </a:p>
          <a:p>
            <a:pPr>
              <a:buSzPct val="200000"/>
              <a:buFont typeface="Arial" panose="020B0604020202020204" pitchFamily="34" charset="0"/>
              <a:buChar char="•"/>
            </a:pPr>
            <a:r>
              <a:rPr lang="en-US" dirty="0"/>
              <a:t>A = B[</a:t>
            </a:r>
            <a:r>
              <a:rPr lang="en-US" dirty="0" err="1"/>
              <a:t>i</a:t>
            </a:r>
            <a:r>
              <a:rPr lang="en-US" dirty="0"/>
              <a:t>][j][k] + C[</a:t>
            </a:r>
            <a:r>
              <a:rPr lang="en-US" dirty="0" err="1"/>
              <a:t>i</a:t>
            </a:r>
            <a:r>
              <a:rPr lang="en-US" dirty="0"/>
              <a:t>][j][k];		//B,C are float [L][M][N]; </a:t>
            </a:r>
            <a:r>
              <a:rPr lang="en-US" dirty="0" err="1"/>
              <a:t>i</a:t>
            </a:r>
            <a:r>
              <a:rPr lang="en-US" dirty="0"/>
              <a:t>* (M*N) + j*N + k is a common subexpression.</a:t>
            </a:r>
          </a:p>
          <a:p>
            <a:pPr>
              <a:buSzPct val="200000"/>
              <a:buFont typeface="Arial" panose="020B0604020202020204" pitchFamily="34" charset="0"/>
              <a:buChar char="•"/>
            </a:pPr>
            <a:r>
              <a:rPr lang="en-US" dirty="0"/>
              <a:t>A = A-&gt;b-&gt;c-&gt;e + A-&gt;b-&gt;c-&gt;d;	//A-&gt;b-&gt;c is a common subexpression</a:t>
            </a:r>
          </a:p>
          <a:p>
            <a:pPr>
              <a:buSzPct val="200000"/>
              <a:buFont typeface="Arial" panose="020B0604020202020204" pitchFamily="34" charset="0"/>
              <a:buChar char="•"/>
            </a:pPr>
            <a:endParaRPr lang="en-US" dirty="0"/>
          </a:p>
        </p:txBody>
      </p:sp>
    </p:spTree>
    <p:extLst>
      <p:ext uri="{BB962C8B-B14F-4D97-AF65-F5344CB8AC3E}">
        <p14:creationId xmlns:p14="http://schemas.microsoft.com/office/powerpoint/2010/main" val="4196783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5026" name="Rectangle 2"/>
          <p:cNvSpPr>
            <a:spLocks noGrp="1" noChangeArrowheads="1"/>
          </p:cNvSpPr>
          <p:nvPr>
            <p:ph type="title"/>
          </p:nvPr>
        </p:nvSpPr>
        <p:spPr>
          <a:xfrm>
            <a:off x="1289319" y="107156"/>
            <a:ext cx="7457441" cy="571500"/>
          </a:xfrm>
        </p:spPr>
        <p:txBody>
          <a:bodyPr/>
          <a:lstStyle/>
          <a:p>
            <a:r>
              <a:rPr lang="en-US" dirty="0"/>
              <a:t>LICM (Loop Invariant Code Motion)</a:t>
            </a:r>
          </a:p>
        </p:txBody>
      </p:sp>
      <p:sp>
        <p:nvSpPr>
          <p:cNvPr id="385027" name="Rectangle 3"/>
          <p:cNvSpPr>
            <a:spLocks noGrp="1" noChangeArrowheads="1"/>
          </p:cNvSpPr>
          <p:nvPr>
            <p:ph idx="1"/>
          </p:nvPr>
        </p:nvSpPr>
        <p:spPr>
          <a:xfrm>
            <a:off x="728664" y="785812"/>
            <a:ext cx="7929562" cy="3729038"/>
          </a:xfrm>
        </p:spPr>
        <p:txBody>
          <a:bodyPr vert="horz" wrap="square" lIns="67865" tIns="33338" rIns="67865" bIns="33338" numCol="1" anchor="t" anchorCtr="0" compatLnSpc="1"/>
          <a:lstStyle/>
          <a:p>
            <a:r>
              <a:rPr lang="en-US" dirty="0"/>
              <a:t>Move calculations out of a loop</a:t>
            </a:r>
          </a:p>
          <a:p>
            <a:r>
              <a:rPr lang="en-US" dirty="0"/>
              <a:t>Only valid if every iteration would produce same result</a:t>
            </a:r>
            <a:br>
              <a:rPr lang="en-US" sz="1800" dirty="0">
                <a:latin typeface="Courier New" pitchFamily="49" charset="0"/>
              </a:rPr>
            </a:br>
            <a:r>
              <a:rPr lang="en-US" sz="1800" dirty="0">
                <a:latin typeface="Consolas" panose="020B0609020204030204" pitchFamily="49" charset="0"/>
              </a:rPr>
              <a:t>long j;</a:t>
            </a:r>
            <a:br>
              <a:rPr lang="en-US" sz="1800" dirty="0">
                <a:latin typeface="Consolas" panose="020B0609020204030204" pitchFamily="49" charset="0"/>
              </a:rPr>
            </a:br>
            <a:r>
              <a:rPr lang="en-US" sz="1800" dirty="0">
                <a:latin typeface="Consolas" panose="020B0609020204030204" pitchFamily="49" charset="0"/>
              </a:rPr>
              <a:t>for (j = 0; j &lt; n; </a:t>
            </a:r>
            <a:r>
              <a:rPr lang="en-US" sz="1800" dirty="0" err="1">
                <a:latin typeface="Consolas" panose="020B0609020204030204" pitchFamily="49" charset="0"/>
              </a:rPr>
              <a:t>j++</a:t>
            </a:r>
            <a:r>
              <a:rPr lang="en-US" sz="1800" dirty="0">
                <a:latin typeface="Consolas" panose="020B0609020204030204" pitchFamily="49" charset="0"/>
              </a:rPr>
              <a:t>)</a:t>
            </a:r>
            <a:br>
              <a:rPr lang="en-US" sz="1800" dirty="0">
                <a:latin typeface="Consolas" panose="020B0609020204030204" pitchFamily="49" charset="0"/>
              </a:rPr>
            </a:br>
            <a:r>
              <a:rPr lang="en-US" b="0" dirty="0">
                <a:latin typeface="Consolas" panose="020B0609020204030204" pitchFamily="49" charset="0"/>
              </a:rPr>
              <a:t>    </a:t>
            </a:r>
            <a:r>
              <a:rPr lang="en-US" sz="1800" dirty="0">
                <a:latin typeface="Consolas" panose="020B0609020204030204" pitchFamily="49" charset="0"/>
              </a:rPr>
              <a:t>a[</a:t>
            </a:r>
            <a:r>
              <a:rPr lang="en-US" sz="1800" dirty="0">
                <a:solidFill>
                  <a:srgbClr val="C00000"/>
                </a:solidFill>
                <a:latin typeface="Consolas" panose="020B0609020204030204" pitchFamily="49" charset="0"/>
              </a:rPr>
              <a:t>n*</a:t>
            </a:r>
            <a:r>
              <a:rPr lang="en-US" sz="1800" dirty="0" err="1">
                <a:solidFill>
                  <a:srgbClr val="C00000"/>
                </a:solidFill>
                <a:latin typeface="Consolas" panose="020B0609020204030204" pitchFamily="49" charset="0"/>
              </a:rPr>
              <a:t>i</a:t>
            </a:r>
            <a:r>
              <a:rPr lang="en-US" sz="1800" dirty="0" err="1">
                <a:latin typeface="Consolas" panose="020B0609020204030204" pitchFamily="49" charset="0"/>
              </a:rPr>
              <a:t>+j</a:t>
            </a:r>
            <a:r>
              <a:rPr lang="en-US" sz="1800" dirty="0">
                <a:latin typeface="Consolas" panose="020B0609020204030204" pitchFamily="49" charset="0"/>
              </a:rPr>
              <a:t>] = b[j];</a:t>
            </a:r>
          </a:p>
          <a:p>
            <a:pPr marL="0" indent="0">
              <a:buNone/>
            </a:pPr>
            <a:r>
              <a:rPr lang="en-US" b="0" dirty="0">
                <a:latin typeface="Consolas" panose="020B0609020204030204" pitchFamily="49" charset="0"/>
              </a:rPr>
              <a:t> </a:t>
            </a:r>
            <a:r>
              <a:rPr lang="en-US" dirty="0"/>
              <a:t>→</a:t>
            </a:r>
            <a:br>
              <a:rPr lang="en-US" dirty="0">
                <a:latin typeface="Consolas" panose="020B0609020204030204" pitchFamily="49" charset="0"/>
              </a:rPr>
            </a:br>
            <a:r>
              <a:rPr lang="en-US" sz="1800" dirty="0">
                <a:latin typeface="Consolas" panose="020B0609020204030204" pitchFamily="49" charset="0"/>
              </a:rPr>
              <a:t>long j;</a:t>
            </a:r>
          </a:p>
          <a:p>
            <a:pPr marL="0" indent="0">
              <a:buNone/>
            </a:pPr>
            <a:r>
              <a:rPr lang="en-US" b="0" i="1" dirty="0">
                <a:solidFill>
                  <a:srgbClr val="00B0F0"/>
                </a:solidFill>
                <a:latin typeface="Consolas" panose="020B0609020204030204" pitchFamily="49" charset="0"/>
              </a:rPr>
              <a:t>int </a:t>
            </a:r>
            <a:r>
              <a:rPr lang="en-US" b="0" i="1" dirty="0" err="1">
                <a:solidFill>
                  <a:srgbClr val="00B0F0"/>
                </a:solidFill>
                <a:latin typeface="Consolas" panose="020B0609020204030204" pitchFamily="49" charset="0"/>
              </a:rPr>
              <a:t>ni</a:t>
            </a:r>
            <a:r>
              <a:rPr lang="en-US" b="0" i="1" dirty="0">
                <a:solidFill>
                  <a:srgbClr val="00B0F0"/>
                </a:solidFill>
                <a:latin typeface="Consolas" panose="020B0609020204030204" pitchFamily="49" charset="0"/>
              </a:rPr>
              <a:t> = n*</a:t>
            </a:r>
            <a:r>
              <a:rPr lang="en-US" b="0" i="1" dirty="0" err="1">
                <a:solidFill>
                  <a:srgbClr val="00B0F0"/>
                </a:solidFill>
                <a:latin typeface="Consolas" panose="020B0609020204030204" pitchFamily="49" charset="0"/>
              </a:rPr>
              <a:t>i</a:t>
            </a:r>
            <a:r>
              <a:rPr lang="en-US" b="0" i="1" dirty="0">
                <a:solidFill>
                  <a:srgbClr val="00B0F0"/>
                </a:solidFill>
                <a:latin typeface="Consolas" panose="020B0609020204030204" pitchFamily="49" charset="0"/>
              </a:rPr>
              <a:t>;</a:t>
            </a:r>
            <a:br>
              <a:rPr lang="en-US" sz="1800" i="1" dirty="0">
                <a:solidFill>
                  <a:srgbClr val="00B0F0"/>
                </a:solidFill>
                <a:latin typeface="Consolas" panose="020B0609020204030204" pitchFamily="49" charset="0"/>
              </a:rPr>
            </a:br>
            <a:r>
              <a:rPr lang="en-US" sz="1800" dirty="0">
                <a:latin typeface="Consolas" panose="020B0609020204030204" pitchFamily="49" charset="0"/>
              </a:rPr>
              <a:t>for (j = 0; j &lt; n; </a:t>
            </a:r>
            <a:r>
              <a:rPr lang="en-US" sz="1800" dirty="0" err="1">
                <a:latin typeface="Consolas" panose="020B0609020204030204" pitchFamily="49" charset="0"/>
              </a:rPr>
              <a:t>j++</a:t>
            </a:r>
            <a:r>
              <a:rPr lang="en-US" sz="1800" dirty="0">
                <a:latin typeface="Consolas" panose="020B0609020204030204" pitchFamily="49" charset="0"/>
              </a:rPr>
              <a:t>)</a:t>
            </a:r>
            <a:br>
              <a:rPr lang="en-US" sz="1800" dirty="0">
                <a:latin typeface="Consolas" panose="020B0609020204030204" pitchFamily="49" charset="0"/>
              </a:rPr>
            </a:br>
            <a:r>
              <a:rPr lang="en-US" b="0" dirty="0">
                <a:latin typeface="Consolas" panose="020B0609020204030204" pitchFamily="49" charset="0"/>
              </a:rPr>
              <a:t>    </a:t>
            </a:r>
            <a:r>
              <a:rPr lang="en-US" sz="1800" dirty="0">
                <a:latin typeface="Consolas" panose="020B0609020204030204" pitchFamily="49" charset="0"/>
              </a:rPr>
              <a:t>a[</a:t>
            </a:r>
            <a:r>
              <a:rPr lang="en-US" sz="1800" i="1" dirty="0" err="1">
                <a:solidFill>
                  <a:srgbClr val="00B0F0"/>
                </a:solidFill>
                <a:latin typeface="Consolas" panose="020B0609020204030204" pitchFamily="49" charset="0"/>
              </a:rPr>
              <a:t>ni</a:t>
            </a:r>
            <a:r>
              <a:rPr lang="en-US" sz="1800" dirty="0" err="1">
                <a:latin typeface="Consolas" panose="020B0609020204030204" pitchFamily="49" charset="0"/>
              </a:rPr>
              <a:t>+j</a:t>
            </a:r>
            <a:r>
              <a:rPr lang="en-US" sz="1800" dirty="0">
                <a:latin typeface="Consolas" panose="020B0609020204030204" pitchFamily="49" charset="0"/>
              </a:rPr>
              <a:t>] = b[j];</a:t>
            </a:r>
            <a:endParaRPr 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8502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8502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err="1"/>
              <a:t>Inlining</a:t>
            </a:r>
            <a:endParaRPr lang="en-US" dirty="0"/>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826618" y="787470"/>
            <a:ext cx="7498080" cy="1209579"/>
          </a:xfrm>
        </p:spPr>
        <p:txBody>
          <a:bodyPr/>
          <a:lstStyle/>
          <a:p>
            <a:r>
              <a:rPr lang="en-US" dirty="0"/>
              <a:t>Copy body of a function into its caller(s)</a:t>
            </a:r>
          </a:p>
          <a:p>
            <a:pPr lvl="1"/>
            <a:r>
              <a:rPr lang="en-US" dirty="0"/>
              <a:t>Can create opportunities for many other optimizations</a:t>
            </a:r>
          </a:p>
          <a:p>
            <a:pPr lvl="1"/>
            <a:r>
              <a:rPr lang="en-US" dirty="0"/>
              <a:t>Can make code much bigger and therefore slower (size; </a:t>
            </a:r>
            <a:r>
              <a:rPr lang="en-US" dirty="0" err="1"/>
              <a:t>i</a:t>
            </a:r>
            <a:r>
              <a:rPr lang="en-US" dirty="0"/>
              <a:t>-cache)</a:t>
            </a:r>
          </a:p>
          <a:p>
            <a:pPr lvl="1"/>
            <a:endParaRPr lang="en-US" dirty="0"/>
          </a:p>
        </p:txBody>
      </p:sp>
      <p:sp>
        <p:nvSpPr>
          <p:cNvPr id="9" name="Rectangle 2">
            <a:extLst>
              <a:ext uri="{FF2B5EF4-FFF2-40B4-BE49-F238E27FC236}">
                <a16:creationId xmlns:a16="http://schemas.microsoft.com/office/drawing/2014/main" id="{6A1C81FA-57D8-4C76-A46C-3CAB38306673}"/>
              </a:ext>
            </a:extLst>
          </p:cNvPr>
          <p:cNvSpPr>
            <a:spLocks noChangeArrowheads="1"/>
          </p:cNvSpPr>
          <p:nvPr/>
        </p:nvSpPr>
        <p:spPr bwMode="auto">
          <a:xfrm>
            <a:off x="701821" y="1997049"/>
            <a:ext cx="2458345" cy="265457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pred</a:t>
            </a:r>
            <a:r>
              <a:rPr lang="en-US" altLang="en-US" sz="1400" dirty="0">
                <a:latin typeface="Consolas" panose="020B0609020204030204" pitchFamily="49" charset="0"/>
              </a:rPr>
              <a:t>(int x) {</a:t>
            </a:r>
          </a:p>
          <a:p>
            <a:pPr defTabSz="685800" eaLnBrk="0" fontAlgn="base" hangingPunct="0">
              <a:spcBef>
                <a:spcPct val="0"/>
              </a:spcBef>
              <a:spcAft>
                <a:spcPct val="0"/>
              </a:spcAft>
            </a:pPr>
            <a:r>
              <a:rPr lang="en-US" altLang="en-US" sz="1400" dirty="0">
                <a:latin typeface="Consolas" panose="020B0609020204030204" pitchFamily="49" charset="0"/>
              </a:rPr>
              <a:t>    if (x == 0)</a:t>
            </a:r>
          </a:p>
          <a:p>
            <a:pPr defTabSz="685800" eaLnBrk="0" fontAlgn="base" hangingPunct="0">
              <a:spcBef>
                <a:spcPct val="0"/>
              </a:spcBef>
              <a:spcAft>
                <a:spcPct val="0"/>
              </a:spcAft>
            </a:pPr>
            <a:r>
              <a:rPr lang="en-US" altLang="en-US" sz="1400" dirty="0">
                <a:latin typeface="Consolas" panose="020B0609020204030204" pitchFamily="49" charset="0"/>
              </a:rPr>
              <a:t>        return 0;</a:t>
            </a:r>
          </a:p>
          <a:p>
            <a:pPr defTabSz="685800" eaLnBrk="0" fontAlgn="base" hangingPunct="0">
              <a:spcBef>
                <a:spcPct val="0"/>
              </a:spcBef>
              <a:spcAft>
                <a:spcPct val="0"/>
              </a:spcAft>
            </a:pPr>
            <a:r>
              <a:rPr lang="en-US" altLang="en-US" sz="1400" dirty="0">
                <a:latin typeface="Consolas" panose="020B0609020204030204" pitchFamily="49" charset="0"/>
              </a:rPr>
              <a:t>    else</a:t>
            </a:r>
          </a:p>
          <a:p>
            <a:pPr defTabSz="685800" eaLnBrk="0" fontAlgn="base" hangingPunct="0">
              <a:spcBef>
                <a:spcPct val="0"/>
              </a:spcBef>
              <a:spcAft>
                <a:spcPct val="0"/>
              </a:spcAft>
            </a:pPr>
            <a:r>
              <a:rPr lang="en-US" altLang="en-US" sz="1400" dirty="0">
                <a:latin typeface="Consolas" panose="020B0609020204030204" pitchFamily="49" charset="0"/>
              </a:rPr>
              <a:t>        return x - 1;</a:t>
            </a:r>
          </a:p>
          <a:p>
            <a:pPr defTabSz="685800" eaLnBrk="0" fontAlgn="base" hangingPunct="0">
              <a:spcBef>
                <a:spcPct val="0"/>
              </a:spcBef>
              <a:spcAft>
                <a:spcPct val="0"/>
              </a:spcAft>
            </a:pPr>
            <a:r>
              <a:rPr lang="en-US" altLang="en-US" sz="1400" dirty="0">
                <a:latin typeface="Consolas" panose="020B0609020204030204" pitchFamily="49" charset="0"/>
              </a:rPr>
              <a:t>}</a:t>
            </a:r>
          </a:p>
          <a:p>
            <a:pPr defTabSz="685800" eaLnBrk="0" fontAlgn="base" hangingPunct="0">
              <a:spcBef>
                <a:spcPct val="0"/>
              </a:spcBef>
              <a:spcAft>
                <a:spcPct val="0"/>
              </a:spcAft>
            </a:pPr>
            <a:endParaRPr lang="en-US" altLang="en-US" sz="1400" dirty="0">
              <a:latin typeface="Consolas" panose="020B0609020204030204" pitchFamily="49" charset="0"/>
            </a:endParaRPr>
          </a:p>
          <a:p>
            <a:pPr defTabSz="685800" eaLnBrk="0" fontAlgn="base" hangingPunct="0">
              <a:spcBef>
                <a:spcPct val="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pred</a:t>
            </a:r>
            <a:r>
              <a:rPr lang="en-US" altLang="en-US" sz="1400" dirty="0">
                <a:latin typeface="Consolas" panose="020B0609020204030204" pitchFamily="49" charset="0"/>
              </a:rPr>
              <a:t>(y)</a:t>
            </a:r>
          </a:p>
          <a:p>
            <a:pPr defTabSz="685800" eaLnBrk="0" fontAlgn="base" hangingPunct="0">
              <a:spcBef>
                <a:spcPct val="0"/>
              </a:spcBef>
              <a:spcAft>
                <a:spcPct val="0"/>
              </a:spcAft>
            </a:pPr>
            <a:r>
              <a:rPr lang="en-US" altLang="en-US" sz="1400" dirty="0">
                <a:latin typeface="Consolas" panose="020B0609020204030204" pitchFamily="49" charset="0"/>
              </a:rPr>
              <a:t>         + </a:t>
            </a:r>
            <a:r>
              <a:rPr lang="en-US" altLang="en-US" sz="1400" dirty="0" err="1">
                <a:latin typeface="Consolas" panose="020B0609020204030204" pitchFamily="49" charset="0"/>
              </a:rPr>
              <a:t>pred</a:t>
            </a:r>
            <a:r>
              <a:rPr lang="en-US" altLang="en-US" sz="1400" dirty="0">
                <a:latin typeface="Consolas" panose="020B0609020204030204" pitchFamily="49" charset="0"/>
              </a:rPr>
              <a:t>(0)</a:t>
            </a:r>
          </a:p>
          <a:p>
            <a:pPr defTabSz="685800" eaLnBrk="0" fontAlgn="base" hangingPunct="0">
              <a:spcBef>
                <a:spcPct val="0"/>
              </a:spcBef>
              <a:spcAft>
                <a:spcPct val="0"/>
              </a:spcAft>
            </a:pPr>
            <a:r>
              <a:rPr lang="en-US" altLang="en-US" sz="1400" dirty="0">
                <a:latin typeface="Consolas" panose="020B0609020204030204" pitchFamily="49" charset="0"/>
              </a:rPr>
              <a:t>         + </a:t>
            </a:r>
            <a:r>
              <a:rPr lang="en-US" altLang="en-US" sz="1400" dirty="0" err="1">
                <a:latin typeface="Consolas" panose="020B0609020204030204" pitchFamily="49" charset="0"/>
              </a:rPr>
              <a:t>pred</a:t>
            </a:r>
            <a:r>
              <a:rPr lang="en-US" altLang="en-US" sz="1400" dirty="0">
                <a:latin typeface="Consolas" panose="020B0609020204030204" pitchFamily="49" charset="0"/>
              </a:rPr>
              <a:t>(y+1);</a:t>
            </a:r>
          </a:p>
          <a:p>
            <a:pPr defTabSz="685800" eaLnBrk="0" fontAlgn="base" hangingPunct="0">
              <a:spcBef>
                <a:spcPct val="0"/>
              </a:spcBef>
              <a:spcAft>
                <a:spcPct val="0"/>
              </a:spcAft>
            </a:pPr>
            <a:r>
              <a:rPr lang="en-US" altLang="en-US" sz="1400" dirty="0">
                <a:latin typeface="Consolas" panose="020B0609020204030204" pitchFamily="49" charset="0"/>
              </a:rPr>
              <a:t>} </a:t>
            </a:r>
          </a:p>
        </p:txBody>
      </p:sp>
      <p:sp>
        <p:nvSpPr>
          <p:cNvPr id="10" name="Rectangle 3">
            <a:extLst>
              <a:ext uri="{FF2B5EF4-FFF2-40B4-BE49-F238E27FC236}">
                <a16:creationId xmlns:a16="http://schemas.microsoft.com/office/drawing/2014/main" id="{3C6C6592-D73E-4FDB-A0CD-FDE1906D0522}"/>
              </a:ext>
            </a:extLst>
          </p:cNvPr>
          <p:cNvSpPr>
            <a:spLocks noChangeArrowheads="1"/>
          </p:cNvSpPr>
          <p:nvPr/>
        </p:nvSpPr>
        <p:spPr bwMode="auto">
          <a:xfrm>
            <a:off x="3568196" y="2390877"/>
            <a:ext cx="5107809" cy="1965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3000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30000"/>
              </a:spcBef>
              <a:spcAft>
                <a:spcPct val="0"/>
              </a:spcAft>
            </a:pPr>
            <a:r>
              <a:rPr lang="en-US" altLang="en-US" sz="1400" dirty="0">
                <a:latin typeface="Consolas" panose="020B0609020204030204" pitchFamily="49" charset="0"/>
              </a:rPr>
              <a:t>  int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(y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y - 1;</a:t>
            </a:r>
          </a:p>
          <a:p>
            <a:pPr defTabSz="685800" eaLnBrk="0" fontAlgn="base" hangingPunct="0">
              <a:spcBef>
                <a:spcPct val="30000"/>
              </a:spcBef>
              <a:spcAft>
                <a:spcPct val="0"/>
              </a:spcAft>
            </a:pPr>
            <a:r>
              <a:rPr lang="en-US" altLang="en-US" sz="1400" dirty="0">
                <a:latin typeface="Consolas" panose="020B0609020204030204" pitchFamily="49" charset="0"/>
              </a:rPr>
              <a:t>  if (0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0 - 1;</a:t>
            </a:r>
          </a:p>
          <a:p>
            <a:pPr defTabSz="685800" eaLnBrk="0" fontAlgn="base" hangingPunct="0">
              <a:spcBef>
                <a:spcPct val="30000"/>
              </a:spcBef>
              <a:spcAft>
                <a:spcPct val="0"/>
              </a:spcAft>
            </a:pPr>
            <a:r>
              <a:rPr lang="en-US" altLang="en-US" sz="1400" dirty="0">
                <a:latin typeface="Consolas" panose="020B0609020204030204" pitchFamily="49" charset="0"/>
              </a:rPr>
              <a:t>  if (y+1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(y + 1) - 1;</a:t>
            </a:r>
          </a:p>
          <a:p>
            <a:pPr defTabSz="685800" eaLnBrk="0" fontAlgn="base" hangingPunct="0">
              <a:spcBef>
                <a:spcPct val="3000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a:t>
            </a:r>
          </a:p>
        </p:txBody>
      </p:sp>
    </p:spTree>
    <p:extLst>
      <p:ext uri="{BB962C8B-B14F-4D97-AF65-F5344CB8AC3E}">
        <p14:creationId xmlns:p14="http://schemas.microsoft.com/office/powerpoint/2010/main" val="1730810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a:t>Procedure </a:t>
            </a:r>
            <a:r>
              <a:rPr lang="en-US" dirty="0" err="1"/>
              <a:t>Inlining</a:t>
            </a:r>
            <a:endParaRPr lang="en-US" dirty="0"/>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739636" y="698123"/>
            <a:ext cx="8404364" cy="1340444"/>
          </a:xfrm>
        </p:spPr>
        <p:txBody>
          <a:bodyPr/>
          <a:lstStyle/>
          <a:p>
            <a:r>
              <a:rPr lang="en-US" dirty="0"/>
              <a:t>Copy body of a function into its caller(s)</a:t>
            </a:r>
          </a:p>
          <a:p>
            <a:pPr lvl="1"/>
            <a:r>
              <a:rPr lang="en-US" dirty="0"/>
              <a:t>Can create opportunities for many other optimizations</a:t>
            </a:r>
          </a:p>
          <a:p>
            <a:pPr lvl="1"/>
            <a:r>
              <a:rPr lang="en-US" dirty="0"/>
              <a:t>Can make code much bigger and therefore slower (</a:t>
            </a:r>
            <a:r>
              <a:rPr lang="en-US" sz="1600" dirty="0"/>
              <a:t>if there are many call sites</a:t>
            </a:r>
            <a:r>
              <a:rPr lang="en-US" dirty="0"/>
              <a:t>)</a:t>
            </a:r>
          </a:p>
          <a:p>
            <a:pPr lvl="1"/>
            <a:endParaRPr lang="en-US" dirty="0"/>
          </a:p>
        </p:txBody>
      </p:sp>
      <p:sp>
        <p:nvSpPr>
          <p:cNvPr id="9" name="Rectangle 2">
            <a:extLst>
              <a:ext uri="{FF2B5EF4-FFF2-40B4-BE49-F238E27FC236}">
                <a16:creationId xmlns:a16="http://schemas.microsoft.com/office/drawing/2014/main" id="{6A1C81FA-57D8-4C76-A46C-3CAB38306673}"/>
              </a:ext>
            </a:extLst>
          </p:cNvPr>
          <p:cNvSpPr>
            <a:spLocks noChangeArrowheads="1"/>
          </p:cNvSpPr>
          <p:nvPr/>
        </p:nvSpPr>
        <p:spPr bwMode="auto">
          <a:xfrm>
            <a:off x="687314" y="2174282"/>
            <a:ext cx="2384954" cy="2223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pred</a:t>
            </a:r>
            <a:r>
              <a:rPr lang="en-US" altLang="en-US" sz="1400" dirty="0">
                <a:latin typeface="Consolas" panose="020B0609020204030204" pitchFamily="49" charset="0"/>
              </a:rPr>
              <a:t>(int x) {</a:t>
            </a:r>
          </a:p>
          <a:p>
            <a:pPr defTabSz="685800" eaLnBrk="0" fontAlgn="base" hangingPunct="0">
              <a:spcBef>
                <a:spcPct val="0"/>
              </a:spcBef>
              <a:spcAft>
                <a:spcPct val="0"/>
              </a:spcAft>
            </a:pPr>
            <a:r>
              <a:rPr lang="en-US" altLang="en-US" sz="1400" dirty="0">
                <a:latin typeface="Consolas" panose="020B0609020204030204" pitchFamily="49" charset="0"/>
              </a:rPr>
              <a:t>    if (x == 0)</a:t>
            </a:r>
          </a:p>
          <a:p>
            <a:pPr defTabSz="685800" eaLnBrk="0" fontAlgn="base" hangingPunct="0">
              <a:spcBef>
                <a:spcPct val="0"/>
              </a:spcBef>
              <a:spcAft>
                <a:spcPct val="0"/>
              </a:spcAft>
            </a:pPr>
            <a:r>
              <a:rPr lang="en-US" altLang="en-US" sz="1400" dirty="0">
                <a:latin typeface="Consolas" panose="020B0609020204030204" pitchFamily="49" charset="0"/>
              </a:rPr>
              <a:t>        return 0;</a:t>
            </a:r>
          </a:p>
          <a:p>
            <a:pPr defTabSz="685800" eaLnBrk="0" fontAlgn="base" hangingPunct="0">
              <a:spcBef>
                <a:spcPct val="0"/>
              </a:spcBef>
              <a:spcAft>
                <a:spcPct val="0"/>
              </a:spcAft>
            </a:pPr>
            <a:r>
              <a:rPr lang="en-US" altLang="en-US" sz="1400" dirty="0">
                <a:latin typeface="Consolas" panose="020B0609020204030204" pitchFamily="49" charset="0"/>
              </a:rPr>
              <a:t>    else</a:t>
            </a:r>
          </a:p>
          <a:p>
            <a:pPr defTabSz="685800" eaLnBrk="0" fontAlgn="base" hangingPunct="0">
              <a:spcBef>
                <a:spcPct val="0"/>
              </a:spcBef>
              <a:spcAft>
                <a:spcPct val="0"/>
              </a:spcAft>
            </a:pPr>
            <a:r>
              <a:rPr lang="en-US" altLang="en-US" sz="1400" dirty="0">
                <a:latin typeface="Consolas" panose="020B0609020204030204" pitchFamily="49" charset="0"/>
              </a:rPr>
              <a:t>        return x - 1;}</a:t>
            </a:r>
          </a:p>
          <a:p>
            <a:pPr defTabSz="685800" eaLnBrk="0" fontAlgn="base" hangingPunct="0">
              <a:spcBef>
                <a:spcPct val="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pred</a:t>
            </a:r>
            <a:r>
              <a:rPr lang="en-US" altLang="en-US" sz="1400" dirty="0">
                <a:latin typeface="Consolas" panose="020B0609020204030204" pitchFamily="49" charset="0"/>
              </a:rPr>
              <a:t>(y)</a:t>
            </a:r>
          </a:p>
          <a:p>
            <a:pPr defTabSz="685800" eaLnBrk="0" fontAlgn="base" hangingPunct="0">
              <a:spcBef>
                <a:spcPct val="0"/>
              </a:spcBef>
              <a:spcAft>
                <a:spcPct val="0"/>
              </a:spcAft>
            </a:pPr>
            <a:r>
              <a:rPr lang="en-US" altLang="en-US" sz="1400" dirty="0">
                <a:latin typeface="Consolas" panose="020B0609020204030204" pitchFamily="49" charset="0"/>
              </a:rPr>
              <a:t>         + </a:t>
            </a:r>
            <a:r>
              <a:rPr lang="en-US" altLang="en-US" sz="1400" dirty="0" err="1">
                <a:latin typeface="Consolas" panose="020B0609020204030204" pitchFamily="49" charset="0"/>
              </a:rPr>
              <a:t>pred</a:t>
            </a:r>
            <a:r>
              <a:rPr lang="en-US" altLang="en-US" sz="1400" dirty="0">
                <a:latin typeface="Consolas" panose="020B0609020204030204" pitchFamily="49" charset="0"/>
              </a:rPr>
              <a:t>(0)</a:t>
            </a:r>
          </a:p>
          <a:p>
            <a:pPr defTabSz="685800" eaLnBrk="0" fontAlgn="base" hangingPunct="0">
              <a:spcBef>
                <a:spcPct val="0"/>
              </a:spcBef>
              <a:spcAft>
                <a:spcPct val="0"/>
              </a:spcAft>
            </a:pPr>
            <a:r>
              <a:rPr lang="en-US" altLang="en-US" sz="1400" dirty="0">
                <a:latin typeface="Consolas" panose="020B0609020204030204" pitchFamily="49" charset="0"/>
              </a:rPr>
              <a:t>         + </a:t>
            </a:r>
            <a:r>
              <a:rPr lang="en-US" altLang="en-US" sz="1400" dirty="0" err="1">
                <a:latin typeface="Consolas" panose="020B0609020204030204" pitchFamily="49" charset="0"/>
              </a:rPr>
              <a:t>pred</a:t>
            </a:r>
            <a:r>
              <a:rPr lang="en-US" altLang="en-US" sz="1400" dirty="0">
                <a:latin typeface="Consolas" panose="020B0609020204030204" pitchFamily="49" charset="0"/>
              </a:rPr>
              <a:t>(y+1);</a:t>
            </a:r>
          </a:p>
          <a:p>
            <a:pPr defTabSz="685800" eaLnBrk="0" fontAlgn="base" hangingPunct="0">
              <a:spcBef>
                <a:spcPct val="0"/>
              </a:spcBef>
              <a:spcAft>
                <a:spcPct val="0"/>
              </a:spcAft>
            </a:pPr>
            <a:r>
              <a:rPr lang="en-US" altLang="en-US" sz="1400" dirty="0">
                <a:latin typeface="Consolas" panose="020B0609020204030204" pitchFamily="49" charset="0"/>
              </a:rPr>
              <a:t>} </a:t>
            </a:r>
          </a:p>
        </p:txBody>
      </p:sp>
      <p:grpSp>
        <p:nvGrpSpPr>
          <p:cNvPr id="17" name="Group 16">
            <a:extLst>
              <a:ext uri="{FF2B5EF4-FFF2-40B4-BE49-F238E27FC236}">
                <a16:creationId xmlns:a16="http://schemas.microsoft.com/office/drawing/2014/main" id="{2F835AA6-6C46-4141-8184-4465A0021523}"/>
              </a:ext>
            </a:extLst>
          </p:cNvPr>
          <p:cNvGrpSpPr/>
          <p:nvPr/>
        </p:nvGrpSpPr>
        <p:grpSpPr>
          <a:xfrm>
            <a:off x="3348877" y="2078506"/>
            <a:ext cx="5107809" cy="2305174"/>
            <a:chOff x="2941170" y="2771341"/>
            <a:chExt cx="6810412" cy="3073565"/>
          </a:xfrm>
        </p:grpSpPr>
        <p:sp>
          <p:nvSpPr>
            <p:cNvPr id="10" name="Rectangle 3">
              <a:extLst>
                <a:ext uri="{FF2B5EF4-FFF2-40B4-BE49-F238E27FC236}">
                  <a16:creationId xmlns:a16="http://schemas.microsoft.com/office/drawing/2014/main" id="{3C6C6592-D73E-4FDB-A0CD-FDE1906D0522}"/>
                </a:ext>
              </a:extLst>
            </p:cNvPr>
            <p:cNvSpPr>
              <a:spLocks noChangeArrowheads="1"/>
            </p:cNvSpPr>
            <p:nvPr/>
          </p:nvSpPr>
          <p:spPr bwMode="auto">
            <a:xfrm>
              <a:off x="2941170" y="2771341"/>
              <a:ext cx="6810412" cy="26202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3000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30000"/>
                </a:spcBef>
                <a:spcAft>
                  <a:spcPct val="0"/>
                </a:spcAft>
              </a:pPr>
              <a:r>
                <a:rPr lang="en-US" altLang="en-US" sz="1400" dirty="0">
                  <a:latin typeface="Consolas" panose="020B0609020204030204" pitchFamily="49" charset="0"/>
                </a:rPr>
                <a:t>  int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(y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y - 1;</a:t>
              </a:r>
            </a:p>
            <a:p>
              <a:pPr defTabSz="685800" eaLnBrk="0" fontAlgn="base" hangingPunct="0">
                <a:spcBef>
                  <a:spcPct val="30000"/>
                </a:spcBef>
                <a:spcAft>
                  <a:spcPct val="0"/>
                </a:spcAft>
              </a:pPr>
              <a:r>
                <a:rPr lang="en-US" altLang="en-US" sz="1400" dirty="0">
                  <a:latin typeface="Consolas" panose="020B0609020204030204" pitchFamily="49" charset="0"/>
                </a:rPr>
                <a:t>  if (</a:t>
              </a:r>
              <a:r>
                <a:rPr lang="en-US" altLang="en-US" sz="1400" dirty="0">
                  <a:highlight>
                    <a:srgbClr val="FFFF00"/>
                  </a:highlight>
                  <a:latin typeface="Consolas" panose="020B0609020204030204" pitchFamily="49" charset="0"/>
                </a:rPr>
                <a:t>0 == 0</a:t>
              </a:r>
              <a:r>
                <a:rPr lang="en-US" altLang="en-US" sz="1400" dirty="0">
                  <a:latin typeface="Consolas" panose="020B0609020204030204" pitchFamily="49" charset="0"/>
                </a:rPr>
                <a:t>) </a:t>
              </a:r>
              <a:r>
                <a:rPr lang="en-US" altLang="en-US" sz="1400" dirty="0" err="1">
                  <a:highlight>
                    <a:srgbClr val="FF9999"/>
                  </a:highlight>
                  <a:latin typeface="Consolas" panose="020B0609020204030204" pitchFamily="49" charset="0"/>
                </a:rPr>
                <a:t>tmp</a:t>
              </a:r>
              <a:r>
                <a:rPr lang="en-US" altLang="en-US" sz="1400" dirty="0">
                  <a:highlight>
                    <a:srgbClr val="FF9999"/>
                  </a:highlight>
                  <a:latin typeface="Consolas" panose="020B0609020204030204" pitchFamily="49" charset="0"/>
                </a:rPr>
                <a:t> += 0</a:t>
              </a:r>
              <a:r>
                <a:rPr lang="en-US" altLang="en-US" sz="1400" dirty="0">
                  <a:latin typeface="Consolas" panose="020B0609020204030204" pitchFamily="49" charset="0"/>
                </a:rPr>
                <a:t>; else </a:t>
              </a:r>
              <a:r>
                <a:rPr lang="en-US" altLang="en-US" sz="1400" dirty="0" err="1">
                  <a:latin typeface="Consolas" panose="020B0609020204030204" pitchFamily="49" charset="0"/>
                </a:rPr>
                <a:t>tmp</a:t>
              </a:r>
              <a:r>
                <a:rPr lang="en-US" altLang="en-US" sz="1400" dirty="0">
                  <a:latin typeface="Consolas" panose="020B0609020204030204" pitchFamily="49" charset="0"/>
                </a:rPr>
                <a:t> += </a:t>
              </a:r>
              <a:r>
                <a:rPr lang="en-US" altLang="en-US" sz="1400" dirty="0">
                  <a:highlight>
                    <a:srgbClr val="D4EEFF"/>
                  </a:highlight>
                  <a:latin typeface="Consolas" panose="020B0609020204030204" pitchFamily="49" charset="0"/>
                </a:rPr>
                <a:t>0 - 1</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a:t>
              </a:r>
              <a:r>
                <a:rPr lang="en-US" altLang="en-US" sz="1400" dirty="0">
                  <a:highlight>
                    <a:srgbClr val="D4EEFF"/>
                  </a:highlight>
                  <a:latin typeface="Consolas" panose="020B0609020204030204" pitchFamily="49" charset="0"/>
                </a:rPr>
                <a:t>y+1 == 0</a:t>
              </a:r>
              <a:r>
                <a:rPr lang="en-US" altLang="en-US" sz="1400" dirty="0">
                  <a:latin typeface="Consolas" panose="020B0609020204030204" pitchFamily="49" charset="0"/>
                </a:rPr>
                <a:t>) </a:t>
              </a:r>
              <a:r>
                <a:rPr lang="en-US" altLang="en-US" sz="1400" dirty="0" err="1">
                  <a:highlight>
                    <a:srgbClr val="FF9999"/>
                  </a:highlight>
                  <a:latin typeface="Consolas" panose="020B0609020204030204" pitchFamily="49" charset="0"/>
                </a:rPr>
                <a:t>tmp</a:t>
              </a:r>
              <a:r>
                <a:rPr lang="en-US" altLang="en-US" sz="1400" dirty="0">
                  <a:highlight>
                    <a:srgbClr val="FF9999"/>
                  </a:highlight>
                  <a:latin typeface="Consolas" panose="020B0609020204030204" pitchFamily="49" charset="0"/>
                </a:rPr>
                <a:t> += 0</a:t>
              </a:r>
              <a:r>
                <a:rPr lang="en-US" altLang="en-US" sz="1400" dirty="0">
                  <a:latin typeface="Consolas" panose="020B0609020204030204" pitchFamily="49" charset="0"/>
                </a:rPr>
                <a:t>; else </a:t>
              </a:r>
              <a:r>
                <a:rPr lang="en-US" altLang="en-US" sz="1400" dirty="0" err="1">
                  <a:latin typeface="Consolas" panose="020B0609020204030204" pitchFamily="49" charset="0"/>
                </a:rPr>
                <a:t>tmp</a:t>
              </a:r>
              <a:r>
                <a:rPr lang="en-US" altLang="en-US" sz="1400" dirty="0">
                  <a:latin typeface="Consolas" panose="020B0609020204030204" pitchFamily="49" charset="0"/>
                </a:rPr>
                <a:t> += </a:t>
              </a:r>
              <a:r>
                <a:rPr lang="en-US" altLang="en-US" sz="1400" dirty="0">
                  <a:highlight>
                    <a:srgbClr val="D4EEFF"/>
                  </a:highlight>
                  <a:latin typeface="Consolas" panose="020B0609020204030204" pitchFamily="49" charset="0"/>
                </a:rPr>
                <a:t>(y + 1) - 1</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a:t>
              </a:r>
            </a:p>
          </p:txBody>
        </p:sp>
        <p:sp>
          <p:nvSpPr>
            <p:cNvPr id="4" name="TextBox 3">
              <a:extLst>
                <a:ext uri="{FF2B5EF4-FFF2-40B4-BE49-F238E27FC236}">
                  <a16:creationId xmlns:a16="http://schemas.microsoft.com/office/drawing/2014/main" id="{241F25C1-E826-4D34-A614-C5AC3DDC4711}"/>
                </a:ext>
              </a:extLst>
            </p:cNvPr>
            <p:cNvSpPr txBox="1"/>
            <p:nvPr/>
          </p:nvSpPr>
          <p:spPr>
            <a:xfrm>
              <a:off x="3285600" y="5444797"/>
              <a:ext cx="1340111" cy="400109"/>
            </a:xfrm>
            <a:prstGeom prst="rect">
              <a:avLst/>
            </a:prstGeom>
            <a:noFill/>
          </p:spPr>
          <p:txBody>
            <a:bodyPr wrap="none" rtlCol="0">
              <a:spAutoFit/>
            </a:bodyPr>
            <a:lstStyle/>
            <a:p>
              <a:r>
                <a:rPr lang="en-US" sz="1350" dirty="0">
                  <a:highlight>
                    <a:srgbClr val="FFFF00"/>
                  </a:highlight>
                  <a:latin typeface="Calibri" pitchFamily="34" charset="0"/>
                </a:rPr>
                <a:t>Always true</a:t>
              </a:r>
            </a:p>
          </p:txBody>
        </p:sp>
        <p:sp>
          <p:nvSpPr>
            <p:cNvPr id="5" name="TextBox 4">
              <a:extLst>
                <a:ext uri="{FF2B5EF4-FFF2-40B4-BE49-F238E27FC236}">
                  <a16:creationId xmlns:a16="http://schemas.microsoft.com/office/drawing/2014/main" id="{F21194FD-8926-4270-900F-DFCC4ED9C617}"/>
                </a:ext>
              </a:extLst>
            </p:cNvPr>
            <p:cNvSpPr txBox="1"/>
            <p:nvPr/>
          </p:nvSpPr>
          <p:spPr>
            <a:xfrm>
              <a:off x="4928407" y="5444797"/>
              <a:ext cx="1492289" cy="400109"/>
            </a:xfrm>
            <a:prstGeom prst="rect">
              <a:avLst/>
            </a:prstGeom>
            <a:noFill/>
          </p:spPr>
          <p:txBody>
            <a:bodyPr wrap="none" rtlCol="0">
              <a:spAutoFit/>
            </a:bodyPr>
            <a:lstStyle/>
            <a:p>
              <a:r>
                <a:rPr lang="en-US" sz="1350" dirty="0">
                  <a:highlight>
                    <a:srgbClr val="FF9999"/>
                  </a:highlight>
                  <a:latin typeface="Calibri" pitchFamily="34" charset="0"/>
                </a:rPr>
                <a:t>Does nothing</a:t>
              </a:r>
            </a:p>
          </p:txBody>
        </p:sp>
        <p:sp>
          <p:nvSpPr>
            <p:cNvPr id="6" name="TextBox 5">
              <a:extLst>
                <a:ext uri="{FF2B5EF4-FFF2-40B4-BE49-F238E27FC236}">
                  <a16:creationId xmlns:a16="http://schemas.microsoft.com/office/drawing/2014/main" id="{2F33FEFF-BE95-4E49-8B3C-225337EC5906}"/>
                </a:ext>
              </a:extLst>
            </p:cNvPr>
            <p:cNvSpPr txBox="1"/>
            <p:nvPr/>
          </p:nvSpPr>
          <p:spPr>
            <a:xfrm>
              <a:off x="6776779" y="5396721"/>
              <a:ext cx="1877695" cy="400109"/>
            </a:xfrm>
            <a:prstGeom prst="rect">
              <a:avLst/>
            </a:prstGeom>
            <a:noFill/>
          </p:spPr>
          <p:txBody>
            <a:bodyPr wrap="none" rtlCol="0">
              <a:spAutoFit/>
            </a:bodyPr>
            <a:lstStyle/>
            <a:p>
              <a:r>
                <a:rPr lang="en-US" sz="1350" dirty="0">
                  <a:highlight>
                    <a:srgbClr val="D4EEFF"/>
                  </a:highlight>
                  <a:latin typeface="Calibri" pitchFamily="34" charset="0"/>
                </a:rPr>
                <a:t>Can constant fold</a:t>
              </a:r>
            </a:p>
          </p:txBody>
        </p:sp>
        <p:cxnSp>
          <p:nvCxnSpPr>
            <p:cNvPr id="8" name="Straight Arrow Connector 7">
              <a:extLst>
                <a:ext uri="{FF2B5EF4-FFF2-40B4-BE49-F238E27FC236}">
                  <a16:creationId xmlns:a16="http://schemas.microsoft.com/office/drawing/2014/main" id="{5A69B000-A381-473E-B70E-72995BDB3B73}"/>
                </a:ext>
              </a:extLst>
            </p:cNvPr>
            <p:cNvCxnSpPr>
              <a:cxnSpLocks/>
              <a:stCxn id="5" idx="0"/>
            </p:cNvCxnSpPr>
            <p:nvPr/>
          </p:nvCxnSpPr>
          <p:spPr bwMode="auto">
            <a:xfrm flipH="1" flipV="1">
              <a:off x="5220920" y="4042474"/>
              <a:ext cx="453632" cy="1402323"/>
            </a:xfrm>
            <a:prstGeom prst="straightConnector1">
              <a:avLst/>
            </a:prstGeom>
            <a:noFill/>
            <a:ln w="25400" cap="flat" cmpd="sng" algn="ctr">
              <a:solidFill>
                <a:srgbClr val="FF9999"/>
              </a:solidFill>
              <a:prstDash val="solid"/>
              <a:round/>
              <a:headEnd type="none" w="med" len="med"/>
              <a:tailEnd type="triangle"/>
            </a:ln>
            <a:effectLst/>
          </p:spPr>
        </p:cxnSp>
        <p:cxnSp>
          <p:nvCxnSpPr>
            <p:cNvPr id="12" name="Straight Arrow Connector 11">
              <a:extLst>
                <a:ext uri="{FF2B5EF4-FFF2-40B4-BE49-F238E27FC236}">
                  <a16:creationId xmlns:a16="http://schemas.microsoft.com/office/drawing/2014/main" id="{218FB0CE-1714-4B62-AEE8-A432448FDF87}"/>
                </a:ext>
              </a:extLst>
            </p:cNvPr>
            <p:cNvCxnSpPr>
              <a:cxnSpLocks/>
              <a:stCxn id="6" idx="0"/>
            </p:cNvCxnSpPr>
            <p:nvPr/>
          </p:nvCxnSpPr>
          <p:spPr bwMode="auto">
            <a:xfrm flipV="1">
              <a:off x="7715627" y="4042474"/>
              <a:ext cx="542317" cy="1354247"/>
            </a:xfrm>
            <a:prstGeom prst="straightConnector1">
              <a:avLst/>
            </a:prstGeom>
            <a:noFill/>
            <a:ln w="25400" cap="flat" cmpd="sng" algn="ctr">
              <a:solidFill>
                <a:srgbClr val="D4EEFF"/>
              </a:solidFill>
              <a:prstDash val="solid"/>
              <a:round/>
              <a:headEnd type="none" w="med" len="med"/>
              <a:tailEnd type="triangle"/>
            </a:ln>
            <a:effectLst/>
          </p:spPr>
        </p:cxnSp>
        <p:cxnSp>
          <p:nvCxnSpPr>
            <p:cNvPr id="14" name="Straight Arrow Connector 13">
              <a:extLst>
                <a:ext uri="{FF2B5EF4-FFF2-40B4-BE49-F238E27FC236}">
                  <a16:creationId xmlns:a16="http://schemas.microsoft.com/office/drawing/2014/main" id="{6CA29C17-4F8B-4EB0-83ED-4EBC9CD97EA9}"/>
                </a:ext>
              </a:extLst>
            </p:cNvPr>
            <p:cNvCxnSpPr>
              <a:cxnSpLocks/>
              <a:stCxn id="6" idx="0"/>
            </p:cNvCxnSpPr>
            <p:nvPr/>
          </p:nvCxnSpPr>
          <p:spPr bwMode="auto">
            <a:xfrm flipH="1" flipV="1">
              <a:off x="4910966" y="4378234"/>
              <a:ext cx="2804661" cy="1018487"/>
            </a:xfrm>
            <a:prstGeom prst="straightConnector1">
              <a:avLst/>
            </a:prstGeom>
            <a:noFill/>
            <a:ln w="25400" cap="flat" cmpd="sng" algn="ctr">
              <a:solidFill>
                <a:srgbClr val="D4EEFF"/>
              </a:solidFill>
              <a:prstDash val="solid"/>
              <a:round/>
              <a:headEnd type="none" w="med" len="med"/>
              <a:tailEnd type="triangle"/>
            </a:ln>
            <a:effectLst/>
          </p:spPr>
        </p:cxnSp>
        <p:cxnSp>
          <p:nvCxnSpPr>
            <p:cNvPr id="16" name="Straight Arrow Connector 15">
              <a:extLst>
                <a:ext uri="{FF2B5EF4-FFF2-40B4-BE49-F238E27FC236}">
                  <a16:creationId xmlns:a16="http://schemas.microsoft.com/office/drawing/2014/main" id="{46581DC1-8CEC-45F1-9651-3908CF517677}"/>
                </a:ext>
              </a:extLst>
            </p:cNvPr>
            <p:cNvCxnSpPr>
              <a:cxnSpLocks/>
            </p:cNvCxnSpPr>
            <p:nvPr/>
          </p:nvCxnSpPr>
          <p:spPr bwMode="auto">
            <a:xfrm flipV="1">
              <a:off x="3560240" y="3924300"/>
              <a:ext cx="362843" cy="1520497"/>
            </a:xfrm>
            <a:prstGeom prst="straightConnector1">
              <a:avLst/>
            </a:prstGeom>
            <a:noFill/>
            <a:ln w="25400" cap="flat" cmpd="sng" algn="ctr">
              <a:solidFill>
                <a:srgbClr val="FFFF00"/>
              </a:solidFill>
              <a:prstDash val="solid"/>
              <a:round/>
              <a:headEnd type="none" w="med" len="med"/>
              <a:tailEnd type="triangle"/>
            </a:ln>
            <a:effectLst/>
          </p:spPr>
        </p:cxnSp>
      </p:grpSp>
    </p:spTree>
    <p:extLst>
      <p:ext uri="{BB962C8B-B14F-4D97-AF65-F5344CB8AC3E}">
        <p14:creationId xmlns:p14="http://schemas.microsoft.com/office/powerpoint/2010/main" val="27416981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err="1"/>
              <a:t>Inlining</a:t>
            </a:r>
            <a:endParaRPr lang="en-US" dirty="0"/>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p:txBody>
          <a:bodyPr/>
          <a:lstStyle/>
          <a:p>
            <a:r>
              <a:rPr lang="en-US" dirty="0"/>
              <a:t>Copy body of a function into its caller(s)</a:t>
            </a:r>
          </a:p>
          <a:p>
            <a:pPr lvl="1"/>
            <a:r>
              <a:rPr lang="en-US" dirty="0"/>
              <a:t>Can create opportunities for many other optimizations</a:t>
            </a:r>
          </a:p>
          <a:p>
            <a:pPr lvl="1"/>
            <a:r>
              <a:rPr lang="en-US" dirty="0"/>
              <a:t>Can make code much bigger and therefore slower</a:t>
            </a:r>
          </a:p>
          <a:p>
            <a:pPr lvl="1"/>
            <a:endParaRPr lang="en-US" dirty="0"/>
          </a:p>
        </p:txBody>
      </p:sp>
      <p:sp>
        <p:nvSpPr>
          <p:cNvPr id="10" name="Rectangle 3">
            <a:extLst>
              <a:ext uri="{FF2B5EF4-FFF2-40B4-BE49-F238E27FC236}">
                <a16:creationId xmlns:a16="http://schemas.microsoft.com/office/drawing/2014/main" id="{3C6C6592-D73E-4FDB-A0CD-FDE1906D0522}"/>
              </a:ext>
            </a:extLst>
          </p:cNvPr>
          <p:cNvSpPr>
            <a:spLocks noChangeArrowheads="1"/>
          </p:cNvSpPr>
          <p:nvPr/>
        </p:nvSpPr>
        <p:spPr bwMode="auto">
          <a:xfrm>
            <a:off x="659289" y="2334194"/>
            <a:ext cx="5107809" cy="1965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3000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30000"/>
              </a:spcBef>
              <a:spcAft>
                <a:spcPct val="0"/>
              </a:spcAft>
            </a:pPr>
            <a:r>
              <a:rPr lang="en-US" altLang="en-US" sz="1400" dirty="0">
                <a:latin typeface="Consolas" panose="020B0609020204030204" pitchFamily="49" charset="0"/>
              </a:rPr>
              <a:t>  int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(y == 0) </a:t>
            </a:r>
            <a:r>
              <a:rPr lang="en-US" altLang="en-US" sz="1400" dirty="0" err="1">
                <a:latin typeface="Consolas" panose="020B0609020204030204" pitchFamily="49" charset="0"/>
              </a:rPr>
              <a:t>tmp</a:t>
            </a:r>
            <a:r>
              <a:rPr lang="en-US" altLang="en-US" sz="1400" dirty="0">
                <a:latin typeface="Consolas" panose="020B0609020204030204" pitchFamily="49" charset="0"/>
              </a:rPr>
              <a:t> = 0; else </a:t>
            </a:r>
            <a:r>
              <a:rPr lang="en-US" altLang="en-US" sz="1400" dirty="0" err="1">
                <a:latin typeface="Consolas" panose="020B0609020204030204" pitchFamily="49" charset="0"/>
              </a:rPr>
              <a:t>tmp</a:t>
            </a:r>
            <a:r>
              <a:rPr lang="en-US" altLang="en-US" sz="1400" dirty="0">
                <a:latin typeface="Consolas" panose="020B0609020204030204" pitchFamily="49" charset="0"/>
              </a:rPr>
              <a:t> = y - 1;</a:t>
            </a:r>
          </a:p>
          <a:p>
            <a:pPr defTabSz="685800" eaLnBrk="0" fontAlgn="base" hangingPunct="0">
              <a:spcBef>
                <a:spcPct val="30000"/>
              </a:spcBef>
              <a:spcAft>
                <a:spcPct val="0"/>
              </a:spcAft>
            </a:pPr>
            <a:r>
              <a:rPr lang="en-US" altLang="en-US" sz="1400" dirty="0">
                <a:latin typeface="Consolas" panose="020B0609020204030204" pitchFamily="49" charset="0"/>
              </a:rPr>
              <a:t>  </a:t>
            </a:r>
            <a:r>
              <a:rPr lang="en-US" altLang="en-US" sz="1400" strike="sngStrike" dirty="0">
                <a:latin typeface="Consolas" panose="020B0609020204030204" pitchFamily="49" charset="0"/>
              </a:rPr>
              <a:t>if (</a:t>
            </a:r>
            <a:r>
              <a:rPr lang="en-US" altLang="en-US" sz="1400" strike="sngStrike" dirty="0">
                <a:highlight>
                  <a:srgbClr val="FFFF00"/>
                </a:highlight>
                <a:latin typeface="Consolas" panose="020B0609020204030204" pitchFamily="49" charset="0"/>
              </a:rPr>
              <a:t>0 == 0</a:t>
            </a:r>
            <a:r>
              <a:rPr lang="en-US" altLang="en-US" sz="1400" strike="sngStrike" dirty="0">
                <a:latin typeface="Consolas" panose="020B0609020204030204" pitchFamily="49" charset="0"/>
              </a:rPr>
              <a:t>) </a:t>
            </a:r>
            <a:r>
              <a:rPr lang="en-US" altLang="en-US" sz="1400" strike="sngStrike" dirty="0" err="1">
                <a:highlight>
                  <a:srgbClr val="FF9999"/>
                </a:highlight>
                <a:latin typeface="Consolas" panose="020B0609020204030204" pitchFamily="49" charset="0"/>
              </a:rPr>
              <a:t>tmp</a:t>
            </a:r>
            <a:r>
              <a:rPr lang="en-US" altLang="en-US" sz="1400" strike="sngStrike" dirty="0">
                <a:highlight>
                  <a:srgbClr val="FF9999"/>
                </a:highlight>
                <a:latin typeface="Consolas" panose="020B0609020204030204" pitchFamily="49" charset="0"/>
              </a:rPr>
              <a:t> += 0</a:t>
            </a:r>
            <a:r>
              <a:rPr lang="en-US" altLang="en-US" sz="1400" strike="sngStrike" dirty="0">
                <a:latin typeface="Consolas" panose="020B0609020204030204" pitchFamily="49" charset="0"/>
              </a:rPr>
              <a:t>; else </a:t>
            </a:r>
            <a:r>
              <a:rPr lang="en-US" altLang="en-US" sz="1400" strike="sngStrike" dirty="0" err="1">
                <a:latin typeface="Consolas" panose="020B0609020204030204" pitchFamily="49" charset="0"/>
              </a:rPr>
              <a:t>tmp</a:t>
            </a:r>
            <a:r>
              <a:rPr lang="en-US" altLang="en-US" sz="1400" strike="sngStrike" dirty="0">
                <a:latin typeface="Consolas" panose="020B0609020204030204" pitchFamily="49" charset="0"/>
              </a:rPr>
              <a:t> += </a:t>
            </a:r>
            <a:r>
              <a:rPr lang="en-US" altLang="en-US" sz="1400" strike="sngStrike" dirty="0">
                <a:highlight>
                  <a:srgbClr val="D4EEFF"/>
                </a:highlight>
                <a:latin typeface="Consolas" panose="020B0609020204030204" pitchFamily="49" charset="0"/>
              </a:rPr>
              <a:t>0 - 1</a:t>
            </a:r>
            <a:r>
              <a:rPr lang="en-US" altLang="en-US" sz="1400" strike="sngStrike"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if (</a:t>
            </a:r>
            <a:r>
              <a:rPr lang="en-US" altLang="en-US" sz="1400" dirty="0">
                <a:highlight>
                  <a:srgbClr val="D4EEFF"/>
                </a:highlight>
                <a:latin typeface="Consolas" panose="020B0609020204030204" pitchFamily="49" charset="0"/>
              </a:rPr>
              <a:t>y+1 == 0</a:t>
            </a:r>
            <a:r>
              <a:rPr lang="en-US" altLang="en-US" sz="1400" dirty="0">
                <a:latin typeface="Consolas" panose="020B0609020204030204" pitchFamily="49" charset="0"/>
              </a:rPr>
              <a:t>) </a:t>
            </a:r>
            <a:r>
              <a:rPr lang="en-US" altLang="en-US" sz="1400" dirty="0" err="1">
                <a:highlight>
                  <a:srgbClr val="FF9999"/>
                </a:highlight>
                <a:latin typeface="Consolas" panose="020B0609020204030204" pitchFamily="49" charset="0"/>
              </a:rPr>
              <a:t>tmp</a:t>
            </a:r>
            <a:r>
              <a:rPr lang="en-US" altLang="en-US" sz="1400" dirty="0">
                <a:highlight>
                  <a:srgbClr val="FF9999"/>
                </a:highlight>
                <a:latin typeface="Consolas" panose="020B0609020204030204" pitchFamily="49" charset="0"/>
              </a:rPr>
              <a:t> += 0</a:t>
            </a:r>
            <a:r>
              <a:rPr lang="en-US" altLang="en-US" sz="1400" dirty="0">
                <a:latin typeface="Consolas" panose="020B0609020204030204" pitchFamily="49" charset="0"/>
              </a:rPr>
              <a:t>; else </a:t>
            </a:r>
            <a:r>
              <a:rPr lang="en-US" altLang="en-US" sz="1400" dirty="0" err="1">
                <a:latin typeface="Consolas" panose="020B0609020204030204" pitchFamily="49" charset="0"/>
              </a:rPr>
              <a:t>tmp</a:t>
            </a:r>
            <a:r>
              <a:rPr lang="en-US" altLang="en-US" sz="1400" dirty="0">
                <a:latin typeface="Consolas" panose="020B0609020204030204" pitchFamily="49" charset="0"/>
              </a:rPr>
              <a:t> += </a:t>
            </a:r>
            <a:r>
              <a:rPr lang="en-US" altLang="en-US" sz="1400" dirty="0">
                <a:highlight>
                  <a:srgbClr val="D4EEFF"/>
                </a:highlight>
                <a:latin typeface="Consolas" panose="020B0609020204030204" pitchFamily="49" charset="0"/>
              </a:rPr>
              <a:t>(y + 1) - 1</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a:t>
            </a:r>
          </a:p>
        </p:txBody>
      </p:sp>
      <p:sp>
        <p:nvSpPr>
          <p:cNvPr id="15" name="Rectangle 3">
            <a:extLst>
              <a:ext uri="{FF2B5EF4-FFF2-40B4-BE49-F238E27FC236}">
                <a16:creationId xmlns:a16="http://schemas.microsoft.com/office/drawing/2014/main" id="{E15C1F9D-C8E6-4637-AB11-CAD6E22F881C}"/>
              </a:ext>
            </a:extLst>
          </p:cNvPr>
          <p:cNvSpPr>
            <a:spLocks noChangeArrowheads="1"/>
          </p:cNvSpPr>
          <p:nvPr/>
        </p:nvSpPr>
        <p:spPr bwMode="auto">
          <a:xfrm>
            <a:off x="6188294" y="2429280"/>
            <a:ext cx="2722540" cy="1965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30000"/>
              </a:spcBef>
              <a:spcAft>
                <a:spcPct val="0"/>
              </a:spcAft>
            </a:pPr>
            <a:r>
              <a:rPr lang="en-US" altLang="en-US" sz="1400" dirty="0">
                <a:latin typeface="Consolas" panose="020B0609020204030204" pitchFamily="49" charset="0"/>
              </a:rPr>
              <a:t>int </a:t>
            </a:r>
            <a:r>
              <a:rPr lang="en-US" altLang="en-US" sz="1400" dirty="0" err="1">
                <a:latin typeface="Consolas" panose="020B0609020204030204" pitchFamily="49" charset="0"/>
              </a:rPr>
              <a:t>func</a:t>
            </a:r>
            <a:r>
              <a:rPr lang="en-US" altLang="en-US" sz="1400" dirty="0">
                <a:latin typeface="Consolas" panose="020B0609020204030204" pitchFamily="49" charset="0"/>
              </a:rPr>
              <a:t>(int y) {</a:t>
            </a:r>
          </a:p>
          <a:p>
            <a:pPr defTabSz="685800" eaLnBrk="0" fontAlgn="base" hangingPunct="0">
              <a:spcBef>
                <a:spcPct val="30000"/>
              </a:spcBef>
              <a:spcAft>
                <a:spcPct val="0"/>
              </a:spcAft>
            </a:pPr>
            <a:r>
              <a:rPr lang="en-US" altLang="en-US" sz="1400" dirty="0">
                <a:latin typeface="Consolas" panose="020B0609020204030204" pitchFamily="49" charset="0"/>
              </a:rPr>
              <a:t>  int </a:t>
            </a:r>
            <a:r>
              <a:rPr lang="en-US" altLang="en-US" sz="1400" dirty="0" err="1">
                <a:latin typeface="Consolas" panose="020B0609020204030204" pitchFamily="49" charset="0"/>
              </a:rPr>
              <a:t>tmp</a:t>
            </a:r>
            <a:r>
              <a:rPr lang="en-US" altLang="en-US" sz="1400" dirty="0">
                <a:latin typeface="Consolas" panose="020B0609020204030204" pitchFamily="49" charset="0"/>
              </a:rPr>
              <a:t> = 0;</a:t>
            </a:r>
          </a:p>
          <a:p>
            <a:pPr defTabSz="685800" eaLnBrk="0" fontAlgn="base" hangingPunct="0">
              <a:spcBef>
                <a:spcPct val="30000"/>
              </a:spcBef>
              <a:spcAft>
                <a:spcPct val="0"/>
              </a:spcAft>
            </a:pPr>
            <a:r>
              <a:rPr lang="en-US" altLang="en-US" sz="1400" dirty="0">
                <a:latin typeface="Consolas" panose="020B0609020204030204" pitchFamily="49" charset="0"/>
              </a:rPr>
              <a:t>  if (y != 0) </a:t>
            </a:r>
            <a:r>
              <a:rPr lang="en-US" altLang="en-US" sz="1400" dirty="0" err="1">
                <a:latin typeface="Consolas" panose="020B0609020204030204" pitchFamily="49" charset="0"/>
              </a:rPr>
              <a:t>tmp</a:t>
            </a:r>
            <a:r>
              <a:rPr lang="en-US" altLang="en-US" sz="1400" dirty="0">
                <a:latin typeface="Consolas" panose="020B0609020204030204" pitchFamily="49" charset="0"/>
              </a:rPr>
              <a:t> = y - 1;</a:t>
            </a:r>
          </a:p>
          <a:p>
            <a:pPr defTabSz="685800" eaLnBrk="0" fontAlgn="base" hangingPunct="0">
              <a:spcBef>
                <a:spcPct val="30000"/>
              </a:spcBef>
              <a:spcAft>
                <a:spcPct val="0"/>
              </a:spcAft>
            </a:pPr>
            <a:endParaRPr lang="en-US" altLang="en-US" sz="1400" dirty="0">
              <a:latin typeface="Consolas" panose="020B0609020204030204" pitchFamily="49" charset="0"/>
            </a:endParaRPr>
          </a:p>
          <a:p>
            <a:pPr defTabSz="685800" eaLnBrk="0" fontAlgn="base" hangingPunct="0">
              <a:spcBef>
                <a:spcPct val="30000"/>
              </a:spcBef>
              <a:spcAft>
                <a:spcPct val="0"/>
              </a:spcAft>
            </a:pPr>
            <a:r>
              <a:rPr lang="en-US" altLang="en-US" sz="1400" dirty="0">
                <a:latin typeface="Consolas" panose="020B0609020204030204" pitchFamily="49" charset="0"/>
              </a:rPr>
              <a:t>  if (y != -1) </a:t>
            </a:r>
            <a:r>
              <a:rPr lang="en-US" altLang="en-US" sz="1400" dirty="0" err="1">
                <a:latin typeface="Consolas" panose="020B0609020204030204" pitchFamily="49" charset="0"/>
              </a:rPr>
              <a:t>tmp</a:t>
            </a:r>
            <a:r>
              <a:rPr lang="en-US" altLang="en-US" sz="1400" dirty="0">
                <a:latin typeface="Consolas" panose="020B0609020204030204" pitchFamily="49" charset="0"/>
              </a:rPr>
              <a:t> += y;</a:t>
            </a:r>
          </a:p>
          <a:p>
            <a:pPr defTabSz="685800" eaLnBrk="0" fontAlgn="base" hangingPunct="0">
              <a:spcBef>
                <a:spcPct val="30000"/>
              </a:spcBef>
              <a:spcAft>
                <a:spcPct val="0"/>
              </a:spcAft>
            </a:pPr>
            <a:r>
              <a:rPr lang="en-US" altLang="en-US" sz="1400" dirty="0">
                <a:latin typeface="Consolas" panose="020B0609020204030204" pitchFamily="49" charset="0"/>
              </a:rPr>
              <a:t>  return </a:t>
            </a:r>
            <a:r>
              <a:rPr lang="en-US" altLang="en-US" sz="1400" dirty="0" err="1">
                <a:latin typeface="Consolas" panose="020B0609020204030204" pitchFamily="49" charset="0"/>
              </a:rPr>
              <a:t>tmp</a:t>
            </a:r>
            <a:r>
              <a:rPr lang="en-US" altLang="en-US" sz="1400" dirty="0">
                <a:latin typeface="Consolas" panose="020B0609020204030204" pitchFamily="49" charset="0"/>
              </a:rPr>
              <a:t>;</a:t>
            </a:r>
          </a:p>
          <a:p>
            <a:pPr defTabSz="685800" eaLnBrk="0" fontAlgn="base" hangingPunct="0">
              <a:spcBef>
                <a:spcPct val="30000"/>
              </a:spcBef>
              <a:spcAft>
                <a:spcPct val="0"/>
              </a:spcAft>
            </a:pPr>
            <a:r>
              <a:rPr lang="en-US" altLang="en-US" sz="1400" dirty="0">
                <a:latin typeface="Consolas" panose="020B0609020204030204" pitchFamily="49" charset="0"/>
              </a:rPr>
              <a:t>} </a:t>
            </a:r>
          </a:p>
        </p:txBody>
      </p:sp>
    </p:spTree>
    <p:extLst>
      <p:ext uri="{BB962C8B-B14F-4D97-AF65-F5344CB8AC3E}">
        <p14:creationId xmlns:p14="http://schemas.microsoft.com/office/powerpoint/2010/main" val="23746663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a:t>To Inline or Not To Inline</a:t>
            </a:r>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87782" y="714317"/>
            <a:ext cx="8968436" cy="3930835"/>
          </a:xfrm>
        </p:spPr>
        <p:txBody>
          <a:bodyPr/>
          <a:lstStyle/>
          <a:p>
            <a:r>
              <a:rPr lang="en-US" sz="2200" b="0" i="0" dirty="0">
                <a:solidFill>
                  <a:srgbClr val="111827"/>
                </a:solidFill>
                <a:effectLst/>
                <a:latin typeface="ui-sans-serif"/>
              </a:rPr>
              <a:t>Procedure inlining is one of the most powerful optimizations a compiler can perform, but it is a delicate balancing act. The compiler must weigh the benefits of eliminating the function call overhead (and unlocking further optimizations) against the cost of </a:t>
            </a:r>
            <a:r>
              <a:rPr lang="en-US" sz="2200" b="1" i="0" dirty="0">
                <a:solidFill>
                  <a:srgbClr val="111827"/>
                </a:solidFill>
                <a:effectLst/>
                <a:latin typeface="ui-sans-serif"/>
              </a:rPr>
              <a:t>code bloat</a:t>
            </a:r>
            <a:r>
              <a:rPr lang="en-US" sz="2200" dirty="0">
                <a:solidFill>
                  <a:srgbClr val="111827"/>
                </a:solidFill>
                <a:latin typeface="ui-sans-serif"/>
              </a:rPr>
              <a:t>.</a:t>
            </a:r>
            <a:r>
              <a:rPr lang="en-US" sz="2200" b="0" i="0" dirty="0">
                <a:solidFill>
                  <a:srgbClr val="111827"/>
                </a:solidFill>
                <a:effectLst/>
                <a:latin typeface="ui-sans-serif"/>
              </a:rPr>
              <a:t> </a:t>
            </a:r>
          </a:p>
          <a:p>
            <a:pPr lvl="1">
              <a:buFont typeface="Wingdings" panose="05000000000000000000" pitchFamily="2" charset="2"/>
              <a:buChar char="Ø"/>
            </a:pPr>
            <a:r>
              <a:rPr lang="en-US" sz="1800" dirty="0">
                <a:solidFill>
                  <a:srgbClr val="111827"/>
                </a:solidFill>
                <a:latin typeface="ui-sans-serif"/>
              </a:rPr>
              <a:t>Function size</a:t>
            </a:r>
          </a:p>
          <a:p>
            <a:pPr lvl="1">
              <a:buFont typeface="Wingdings" panose="05000000000000000000" pitchFamily="2" charset="2"/>
              <a:buChar char="Ø"/>
            </a:pPr>
            <a:r>
              <a:rPr lang="en-US" sz="1800" i="0" dirty="0">
                <a:solidFill>
                  <a:srgbClr val="111827"/>
                </a:solidFill>
                <a:effectLst/>
                <a:latin typeface="ui-sans-serif"/>
              </a:rPr>
              <a:t>Execution Frequency </a:t>
            </a:r>
          </a:p>
          <a:p>
            <a:pPr lvl="2">
              <a:buFont typeface="Wingdings" panose="05000000000000000000" pitchFamily="2" charset="2"/>
              <a:buChar char="v"/>
            </a:pPr>
            <a:r>
              <a:rPr lang="en-US" sz="1600" dirty="0">
                <a:solidFill>
                  <a:srgbClr val="111827"/>
                </a:solidFill>
                <a:latin typeface="ui-sans-serif"/>
              </a:rPr>
              <a:t> Is the call inside a loop? Is it an error handling call?</a:t>
            </a:r>
            <a:endParaRPr lang="en-US" sz="1600" i="0" dirty="0">
              <a:solidFill>
                <a:srgbClr val="111827"/>
              </a:solidFill>
              <a:effectLst/>
              <a:latin typeface="ui-sans-serif"/>
            </a:endParaRPr>
          </a:p>
          <a:p>
            <a:pPr lvl="1">
              <a:buFont typeface="Wingdings" panose="05000000000000000000" pitchFamily="2" charset="2"/>
              <a:buChar char="Ø"/>
            </a:pPr>
            <a:r>
              <a:rPr lang="en-US" sz="1800" dirty="0">
                <a:solidFill>
                  <a:srgbClr val="111827"/>
                </a:solidFill>
                <a:latin typeface="ui-sans-serif"/>
              </a:rPr>
              <a:t>Number of call sites</a:t>
            </a:r>
          </a:p>
          <a:p>
            <a:pPr lvl="1">
              <a:buFont typeface="Wingdings" panose="05000000000000000000" pitchFamily="2" charset="2"/>
              <a:buChar char="Ø"/>
            </a:pPr>
            <a:r>
              <a:rPr lang="en-US" sz="1800" i="0" dirty="0">
                <a:solidFill>
                  <a:srgbClr val="111827"/>
                </a:solidFill>
                <a:effectLst/>
                <a:latin typeface="ui-sans-serif"/>
              </a:rPr>
              <a:t>Constant Arguments and Secondary Optimizations</a:t>
            </a:r>
          </a:p>
          <a:p>
            <a:pPr lvl="2">
              <a:buFont typeface="Wingdings" panose="05000000000000000000" pitchFamily="2" charset="2"/>
              <a:buChar char="v"/>
            </a:pPr>
            <a:r>
              <a:rPr lang="en-US" sz="1600" dirty="0">
                <a:solidFill>
                  <a:srgbClr val="111827"/>
                </a:solidFill>
                <a:latin typeface="ui-sans-serif"/>
              </a:rPr>
              <a:t> Constant parameters can trigger additional optimizations</a:t>
            </a:r>
            <a:endParaRPr lang="en-US" sz="1600" i="0" dirty="0">
              <a:solidFill>
                <a:srgbClr val="111827"/>
              </a:solidFill>
              <a:effectLst/>
              <a:latin typeface="ui-sans-serif"/>
            </a:endParaRPr>
          </a:p>
          <a:p>
            <a:pPr lvl="1">
              <a:buFont typeface="Wingdings" panose="05000000000000000000" pitchFamily="2" charset="2"/>
              <a:buChar char="Ø"/>
            </a:pPr>
            <a:r>
              <a:rPr lang="en-US" sz="1800" i="0" dirty="0">
                <a:solidFill>
                  <a:srgbClr val="111827"/>
                </a:solidFill>
                <a:effectLst/>
                <a:latin typeface="ui-sans-serif"/>
              </a:rPr>
              <a:t>Recursion and Depth Limits</a:t>
            </a:r>
          </a:p>
          <a:p>
            <a:pPr lvl="1">
              <a:buFont typeface="Wingdings" panose="05000000000000000000" pitchFamily="2" charset="2"/>
              <a:buChar char="Ø"/>
            </a:pPr>
            <a:r>
              <a:rPr lang="en-US" sz="1800" dirty="0">
                <a:solidFill>
                  <a:srgbClr val="111827"/>
                </a:solidFill>
                <a:latin typeface="ui-sans-serif"/>
              </a:rPr>
              <a:t>GPU kernels try to inline all calls.</a:t>
            </a:r>
            <a:endParaRPr lang="en-US" sz="1800" i="0" dirty="0">
              <a:solidFill>
                <a:srgbClr val="111827"/>
              </a:solidFill>
              <a:effectLst/>
              <a:latin typeface="ui-sans-serif"/>
            </a:endParaRPr>
          </a:p>
          <a:p>
            <a:pPr lvl="1">
              <a:buFont typeface="Wingdings" panose="05000000000000000000" pitchFamily="2" charset="2"/>
              <a:buChar char="Ø"/>
            </a:pPr>
            <a:endParaRPr lang="en-US" sz="1600" i="0" dirty="0">
              <a:solidFill>
                <a:srgbClr val="111827"/>
              </a:solidFill>
              <a:effectLst/>
              <a:latin typeface="ui-sans-serif"/>
            </a:endParaRPr>
          </a:p>
          <a:p>
            <a:pPr lvl="1">
              <a:buFont typeface="Wingdings" panose="05000000000000000000" pitchFamily="2" charset="2"/>
              <a:buChar char="Ø"/>
            </a:pPr>
            <a:endParaRPr lang="en-US" sz="1800" b="0" i="0" dirty="0">
              <a:solidFill>
                <a:srgbClr val="111827"/>
              </a:solidFill>
              <a:effectLst/>
              <a:latin typeface="ui-sans-serif"/>
            </a:endParaRPr>
          </a:p>
          <a:p>
            <a:endParaRPr lang="en-US" sz="2200" dirty="0"/>
          </a:p>
        </p:txBody>
      </p:sp>
    </p:spTree>
    <p:extLst>
      <p:ext uri="{BB962C8B-B14F-4D97-AF65-F5344CB8AC3E}">
        <p14:creationId xmlns:p14="http://schemas.microsoft.com/office/powerpoint/2010/main" val="41619383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7"/>
          <p:cNvSpPr>
            <a:spLocks noChangeArrowheads="1"/>
          </p:cNvSpPr>
          <p:nvPr/>
        </p:nvSpPr>
        <p:spPr bwMode="auto">
          <a:xfrm>
            <a:off x="892454" y="742604"/>
            <a:ext cx="6606553" cy="1867820"/>
          </a:xfrm>
          <a:prstGeom prst="rect">
            <a:avLst/>
          </a:prstGeom>
          <a:noFill/>
          <a:ln w="57150" cmpd="thickThin">
            <a:noFill/>
            <a:miter lim="800000"/>
            <a:headEnd/>
            <a:tailEnd/>
          </a:ln>
        </p:spPr>
        <p:txBody>
          <a:bodyPr wrap="square" lIns="67865" tIns="33338" rIns="67865" bIns="33338">
            <a:spAutoFit/>
          </a:bodyPr>
          <a:lstStyle/>
          <a:p>
            <a:pPr algn="l">
              <a:lnSpc>
                <a:spcPct val="100000"/>
              </a:lnSpc>
            </a:pPr>
            <a:r>
              <a:rPr lang="en-US" sz="1500" dirty="0">
                <a:latin typeface="Consolas" panose="020B0609020204030204" pitchFamily="49" charset="0"/>
              </a:rPr>
              <a:t>/* Sum rows of n X n matrix a and store in vector b. */</a:t>
            </a:r>
          </a:p>
          <a:p>
            <a:pPr algn="l">
              <a:lnSpc>
                <a:spcPct val="100000"/>
              </a:lnSpc>
            </a:pPr>
            <a:r>
              <a:rPr lang="en-US" sz="1500" dirty="0">
                <a:latin typeface="Consolas" panose="020B0609020204030204" pitchFamily="49" charset="0"/>
              </a:rPr>
              <a:t>void sum_rows1(double *a, double *b, long n) {</a:t>
            </a:r>
          </a:p>
          <a:p>
            <a:pPr algn="l">
              <a:lnSpc>
                <a:spcPct val="100000"/>
              </a:lnSpc>
            </a:pPr>
            <a:r>
              <a:rPr lang="en-US" sz="1500" dirty="0">
                <a:latin typeface="Consolas" panose="020B0609020204030204" pitchFamily="49" charset="0"/>
              </a:rPr>
              <a:t>    long </a:t>
            </a:r>
            <a:r>
              <a:rPr lang="en-US" sz="1500" dirty="0" err="1">
                <a:latin typeface="Consolas" panose="020B0609020204030204" pitchFamily="49" charset="0"/>
              </a:rPr>
              <a:t>i</a:t>
            </a:r>
            <a:r>
              <a:rPr lang="en-US" sz="1500" dirty="0">
                <a:latin typeface="Consolas" panose="020B0609020204030204" pitchFamily="49" charset="0"/>
              </a:rPr>
              <a:t>, j;</a:t>
            </a:r>
          </a:p>
          <a:p>
            <a:pPr algn="l">
              <a:lnSpc>
                <a:spcPct val="100000"/>
              </a:lnSpc>
            </a:pPr>
            <a:r>
              <a:rPr lang="en-US" sz="1500" dirty="0">
                <a:latin typeface="Consolas" panose="020B0609020204030204" pitchFamily="49" charset="0"/>
              </a:rPr>
              <a:t>    for (</a:t>
            </a:r>
            <a:r>
              <a:rPr lang="en-US" sz="1500" dirty="0" err="1">
                <a:latin typeface="Consolas" panose="020B0609020204030204" pitchFamily="49" charset="0"/>
              </a:rPr>
              <a:t>i</a:t>
            </a:r>
            <a:r>
              <a:rPr lang="en-US" sz="1500" dirty="0">
                <a:latin typeface="Consolas" panose="020B0609020204030204" pitchFamily="49" charset="0"/>
              </a:rPr>
              <a:t> = 0; </a:t>
            </a:r>
            <a:r>
              <a:rPr lang="en-US" sz="1500" dirty="0" err="1">
                <a:latin typeface="Consolas" panose="020B0609020204030204" pitchFamily="49" charset="0"/>
              </a:rPr>
              <a:t>i</a:t>
            </a:r>
            <a:r>
              <a:rPr lang="en-US" sz="1500" dirty="0">
                <a:latin typeface="Consolas" panose="020B0609020204030204" pitchFamily="49" charset="0"/>
              </a:rPr>
              <a:t> &lt; n; </a:t>
            </a:r>
            <a:r>
              <a:rPr lang="en-US" sz="1500" dirty="0" err="1">
                <a:latin typeface="Consolas" panose="020B0609020204030204" pitchFamily="49" charset="0"/>
              </a:rPr>
              <a:t>i</a:t>
            </a:r>
            <a:r>
              <a:rPr lang="en-US" sz="1500" dirty="0">
                <a:latin typeface="Consolas" panose="020B0609020204030204" pitchFamily="49" charset="0"/>
              </a:rPr>
              <a:t>++) {</a:t>
            </a:r>
          </a:p>
          <a:p>
            <a:pPr algn="l">
              <a:lnSpc>
                <a:spcPct val="100000"/>
              </a:lnSpc>
            </a:pPr>
            <a:r>
              <a:rPr lang="en-US" sz="1500" dirty="0">
                <a:latin typeface="Consolas" panose="020B0609020204030204" pitchFamily="49" charset="0"/>
              </a:rPr>
              <a:t>	b[</a:t>
            </a:r>
            <a:r>
              <a:rPr lang="en-US" sz="1500" dirty="0" err="1">
                <a:latin typeface="Consolas" panose="020B0609020204030204" pitchFamily="49" charset="0"/>
              </a:rPr>
              <a:t>i</a:t>
            </a:r>
            <a:r>
              <a:rPr lang="en-US" sz="1500" dirty="0">
                <a:latin typeface="Consolas" panose="020B0609020204030204" pitchFamily="49" charset="0"/>
              </a:rPr>
              <a:t>] = 0;</a:t>
            </a:r>
          </a:p>
          <a:p>
            <a:pPr algn="l">
              <a:lnSpc>
                <a:spcPct val="100000"/>
              </a:lnSpc>
            </a:pPr>
            <a:r>
              <a:rPr lang="en-US" sz="1500" dirty="0">
                <a:latin typeface="Consolas" panose="020B0609020204030204" pitchFamily="49" charset="0"/>
              </a:rPr>
              <a:t>	for (j = 0; j &lt; n; j++)</a:t>
            </a:r>
          </a:p>
          <a:p>
            <a:pPr algn="l">
              <a:lnSpc>
                <a:spcPct val="100000"/>
              </a:lnSpc>
            </a:pPr>
            <a:r>
              <a:rPr lang="en-US" sz="1500" dirty="0">
                <a:latin typeface="Consolas" panose="020B0609020204030204" pitchFamily="49" charset="0"/>
              </a:rPr>
              <a:t>	    b[</a:t>
            </a:r>
            <a:r>
              <a:rPr lang="en-US" sz="1500" dirty="0" err="1">
                <a:latin typeface="Consolas" panose="020B0609020204030204" pitchFamily="49" charset="0"/>
              </a:rPr>
              <a:t>i</a:t>
            </a:r>
            <a:r>
              <a:rPr lang="en-US" sz="1500" dirty="0">
                <a:latin typeface="Consolas" panose="020B0609020204030204" pitchFamily="49" charset="0"/>
              </a:rPr>
              <a:t>] += a[</a:t>
            </a:r>
            <a:r>
              <a:rPr lang="en-US" sz="1500" dirty="0" err="1">
                <a:latin typeface="Consolas" panose="020B0609020204030204" pitchFamily="49" charset="0"/>
              </a:rPr>
              <a:t>i</a:t>
            </a:r>
            <a:r>
              <a:rPr lang="en-US" sz="1500" dirty="0">
                <a:latin typeface="Consolas" panose="020B0609020204030204" pitchFamily="49" charset="0"/>
              </a:rPr>
              <a:t>*n + j];}</a:t>
            </a:r>
          </a:p>
          <a:p>
            <a:pPr algn="l">
              <a:lnSpc>
                <a:spcPct val="100000"/>
              </a:lnSpc>
            </a:pPr>
            <a:r>
              <a:rPr lang="en-US" sz="1200" dirty="0">
                <a:latin typeface="Consolas" panose="020B0609020204030204" pitchFamily="49" charset="0"/>
              </a:rPr>
              <a:t>}</a:t>
            </a:r>
          </a:p>
        </p:txBody>
      </p:sp>
      <p:sp>
        <p:nvSpPr>
          <p:cNvPr id="774146" name="Rectangle 2"/>
          <p:cNvSpPr>
            <a:spLocks noGrp="1" noChangeArrowheads="1"/>
          </p:cNvSpPr>
          <p:nvPr>
            <p:ph type="title"/>
          </p:nvPr>
        </p:nvSpPr>
        <p:spPr>
          <a:xfrm>
            <a:off x="1360885" y="103561"/>
            <a:ext cx="5694070" cy="571500"/>
          </a:xfrm>
        </p:spPr>
        <p:txBody>
          <a:bodyPr/>
          <a:lstStyle/>
          <a:p>
            <a:pPr eaLnBrk="1" hangingPunct="1">
              <a:defRPr/>
            </a:pPr>
            <a:r>
              <a:rPr lang="en-US" sz="4000" dirty="0"/>
              <a:t>Memory Aliasing</a:t>
            </a:r>
          </a:p>
        </p:txBody>
      </p:sp>
      <p:sp>
        <p:nvSpPr>
          <p:cNvPr id="18435" name="Rectangle 9"/>
          <p:cNvSpPr>
            <a:spLocks noGrp="1" noChangeArrowheads="1"/>
          </p:cNvSpPr>
          <p:nvPr>
            <p:ph type="body" idx="1"/>
          </p:nvPr>
        </p:nvSpPr>
        <p:spPr>
          <a:xfrm>
            <a:off x="824415" y="3810158"/>
            <a:ext cx="8217172" cy="604838"/>
          </a:xfrm>
        </p:spPr>
        <p:txBody>
          <a:bodyPr/>
          <a:lstStyle/>
          <a:p>
            <a:pPr lvl="1" eaLnBrk="1" hangingPunct="1"/>
            <a:r>
              <a:rPr lang="en-US" sz="1800" dirty="0"/>
              <a:t>Code updates </a:t>
            </a:r>
            <a:r>
              <a:rPr lang="en-US" sz="1800" dirty="0">
                <a:latin typeface="Consolas" panose="020B0609020204030204" pitchFamily="49" charset="0"/>
              </a:rPr>
              <a:t>b[</a:t>
            </a:r>
            <a:r>
              <a:rPr lang="en-US" sz="1800" dirty="0" err="1">
                <a:latin typeface="Consolas" panose="020B0609020204030204" pitchFamily="49" charset="0"/>
              </a:rPr>
              <a:t>i</a:t>
            </a:r>
            <a:r>
              <a:rPr lang="en-US" sz="1800" dirty="0">
                <a:latin typeface="Consolas" panose="020B0609020204030204" pitchFamily="49" charset="0"/>
              </a:rPr>
              <a:t>]</a:t>
            </a:r>
            <a:r>
              <a:rPr lang="en-US" sz="1800" dirty="0"/>
              <a:t> on every iteration</a:t>
            </a:r>
          </a:p>
          <a:p>
            <a:pPr lvl="1" eaLnBrk="1" hangingPunct="1"/>
            <a:r>
              <a:rPr lang="en-US" sz="1800" dirty="0"/>
              <a:t>Why couldn’t the compiler optimize this away? Such as keeping it in a register </a:t>
            </a:r>
          </a:p>
        </p:txBody>
      </p:sp>
      <p:sp>
        <p:nvSpPr>
          <p:cNvPr id="18436" name="Rectangle 3"/>
          <p:cNvSpPr>
            <a:spLocks noChangeArrowheads="1"/>
          </p:cNvSpPr>
          <p:nvPr/>
        </p:nvSpPr>
        <p:spPr bwMode="auto">
          <a:xfrm>
            <a:off x="343814" y="2436069"/>
            <a:ext cx="8697773" cy="1359989"/>
          </a:xfrm>
          <a:prstGeom prst="rect">
            <a:avLst/>
          </a:prstGeom>
          <a:solidFill>
            <a:srgbClr val="F6F5BD"/>
          </a:solidFill>
          <a:ln w="57150" cmpd="thickThin">
            <a:noFill/>
            <a:miter lim="800000"/>
            <a:headEnd/>
            <a:tailEnd/>
          </a:ln>
        </p:spPr>
        <p:txBody>
          <a:bodyPr wrap="square" lIns="67865" tIns="33338" rIns="67865" bIns="33338">
            <a:spAutoFit/>
          </a:bodyPr>
          <a:lstStyle/>
          <a:p>
            <a:r>
              <a:rPr lang="en-US" sz="1050" dirty="0">
                <a:latin typeface="Consolas" panose="020B0609020204030204" pitchFamily="49" charset="0"/>
              </a:rPr>
              <a:t>  </a:t>
            </a:r>
            <a:r>
              <a:rPr lang="en-US" sz="1200" dirty="0">
                <a:latin typeface="Consolas" panose="020B0609020204030204" pitchFamily="49" charset="0"/>
              </a:rPr>
              <a:t>.</a:t>
            </a:r>
            <a:r>
              <a:rPr lang="en-US" sz="1200" dirty="0" err="1">
                <a:latin typeface="Consolas" panose="020B0609020204030204" pitchFamily="49" charset="0"/>
              </a:rPr>
              <a:t>L_inner_loop</a:t>
            </a:r>
            <a:r>
              <a:rPr lang="en-US" sz="1200" dirty="0">
                <a:latin typeface="Consolas" panose="020B0609020204030204" pitchFamily="49" charset="0"/>
              </a:rPr>
              <a:t>:</a:t>
            </a:r>
          </a:p>
          <a:p>
            <a:r>
              <a:rPr lang="en-US" sz="1200" dirty="0">
                <a:latin typeface="Consolas" panose="020B0609020204030204" pitchFamily="49" charset="0"/>
              </a:rPr>
              <a:t>    </a:t>
            </a:r>
            <a:r>
              <a:rPr lang="en-US" sz="1200" dirty="0" err="1">
                <a:latin typeface="Consolas" panose="020B0609020204030204" pitchFamily="49" charset="0"/>
              </a:rPr>
              <a:t>fld</a:t>
            </a:r>
            <a:r>
              <a:rPr lang="en-US" sz="1200" dirty="0">
                <a:latin typeface="Consolas" panose="020B0609020204030204" pitchFamily="49" charset="0"/>
              </a:rPr>
              <a:t>     fa5, 0(a3)           # 1. LOAD: Read b[</a:t>
            </a:r>
            <a:r>
              <a:rPr lang="en-US" sz="1200" dirty="0" err="1">
                <a:latin typeface="Consolas" panose="020B0609020204030204" pitchFamily="49" charset="0"/>
              </a:rPr>
              <a:t>i</a:t>
            </a:r>
            <a:r>
              <a:rPr lang="en-US" sz="1200" dirty="0">
                <a:latin typeface="Consolas" panose="020B0609020204030204" pitchFamily="49" charset="0"/>
              </a:rPr>
              <a:t>] from memory into float register fa5</a:t>
            </a:r>
          </a:p>
          <a:p>
            <a:r>
              <a:rPr lang="en-US" sz="1200" dirty="0">
                <a:latin typeface="Consolas" panose="020B0609020204030204" pitchFamily="49" charset="0"/>
              </a:rPr>
              <a:t>    </a:t>
            </a:r>
            <a:r>
              <a:rPr lang="en-US" sz="1200" dirty="0" err="1">
                <a:latin typeface="Consolas" panose="020B0609020204030204" pitchFamily="49" charset="0"/>
              </a:rPr>
              <a:t>fld</a:t>
            </a:r>
            <a:r>
              <a:rPr lang="en-US" sz="1200" dirty="0">
                <a:latin typeface="Consolas" panose="020B0609020204030204" pitchFamily="49" charset="0"/>
              </a:rPr>
              <a:t>     fa4, 0(a4)           # 2. LOAD: Read current a[...] from memory into fa4</a:t>
            </a:r>
          </a:p>
          <a:p>
            <a:r>
              <a:rPr lang="en-US" sz="1200" dirty="0">
                <a:latin typeface="Consolas" panose="020B0609020204030204" pitchFamily="49" charset="0"/>
              </a:rPr>
              <a:t>    </a:t>
            </a:r>
            <a:r>
              <a:rPr lang="en-US" sz="1200" dirty="0" err="1">
                <a:latin typeface="Consolas" panose="020B0609020204030204" pitchFamily="49" charset="0"/>
              </a:rPr>
              <a:t>fadd.d</a:t>
            </a:r>
            <a:r>
              <a:rPr lang="en-US" sz="1200" dirty="0">
                <a:latin typeface="Consolas" panose="020B0609020204030204" pitchFamily="49" charset="0"/>
              </a:rPr>
              <a:t>  fa5, fa5, fa4        # 3. MATH: Add them together (Double precision)</a:t>
            </a:r>
          </a:p>
          <a:p>
            <a:r>
              <a:rPr lang="en-US" sz="1200" dirty="0">
                <a:latin typeface="Consolas" panose="020B0609020204030204" pitchFamily="49" charset="0"/>
              </a:rPr>
              <a:t>    </a:t>
            </a:r>
            <a:r>
              <a:rPr lang="en-US" sz="1200" dirty="0" err="1">
                <a:latin typeface="Consolas" panose="020B0609020204030204" pitchFamily="49" charset="0"/>
              </a:rPr>
              <a:t>fsd</a:t>
            </a:r>
            <a:r>
              <a:rPr lang="en-US" sz="1200" dirty="0">
                <a:latin typeface="Consolas" panose="020B0609020204030204" pitchFamily="49" charset="0"/>
              </a:rPr>
              <a:t>     fa5, 0(a3)           # 4. STORE: Write the result immediately back to b[</a:t>
            </a:r>
            <a:r>
              <a:rPr lang="en-US" sz="1200" dirty="0" err="1">
                <a:latin typeface="Consolas" panose="020B0609020204030204" pitchFamily="49" charset="0"/>
              </a:rPr>
              <a:t>i</a:t>
            </a:r>
            <a:r>
              <a:rPr lang="en-US" sz="1200" dirty="0">
                <a:latin typeface="Consolas" panose="020B0609020204030204" pitchFamily="49" charset="0"/>
              </a:rPr>
              <a:t>] in memory</a:t>
            </a:r>
          </a:p>
          <a:p>
            <a:r>
              <a:rPr lang="en-US" sz="1200" dirty="0">
                <a:latin typeface="Consolas" panose="020B0609020204030204" pitchFamily="49" charset="0"/>
              </a:rPr>
              <a:t>    </a:t>
            </a:r>
            <a:r>
              <a:rPr lang="en-US" sz="1200" dirty="0" err="1">
                <a:latin typeface="Consolas" panose="020B0609020204030204" pitchFamily="49" charset="0"/>
              </a:rPr>
              <a:t>addi</a:t>
            </a:r>
            <a:r>
              <a:rPr lang="en-US" sz="1200" dirty="0">
                <a:latin typeface="Consolas" panose="020B0609020204030204" pitchFamily="49" charset="0"/>
              </a:rPr>
              <a:t>    a4, a4, 8            # 5. Move pointer 'a' forward by 8 bytes (</a:t>
            </a:r>
            <a:r>
              <a:rPr lang="en-US" sz="1200" dirty="0" err="1">
                <a:latin typeface="Consolas" panose="020B0609020204030204" pitchFamily="49" charset="0"/>
              </a:rPr>
              <a:t>sizeof</a:t>
            </a:r>
            <a:r>
              <a:rPr lang="en-US" sz="1200" dirty="0">
                <a:latin typeface="Consolas" panose="020B0609020204030204" pitchFamily="49" charset="0"/>
              </a:rPr>
              <a:t>(double))</a:t>
            </a:r>
          </a:p>
          <a:p>
            <a:r>
              <a:rPr lang="en-US" sz="1200" dirty="0">
                <a:latin typeface="Consolas" panose="020B0609020204030204" pitchFamily="49" charset="0"/>
              </a:rPr>
              <a:t>    </a:t>
            </a:r>
            <a:r>
              <a:rPr lang="en-US" sz="1200" dirty="0" err="1">
                <a:latin typeface="Consolas" panose="020B0609020204030204" pitchFamily="49" charset="0"/>
              </a:rPr>
              <a:t>bne</a:t>
            </a:r>
            <a:r>
              <a:rPr lang="en-US" sz="1200" dirty="0">
                <a:latin typeface="Consolas" panose="020B0609020204030204" pitchFamily="49" charset="0"/>
              </a:rPr>
              <a:t>     a4, a5, .</a:t>
            </a:r>
            <a:r>
              <a:rPr lang="en-US" sz="1200" dirty="0" err="1">
                <a:latin typeface="Consolas" panose="020B0609020204030204" pitchFamily="49" charset="0"/>
              </a:rPr>
              <a:t>L_inner_loop</a:t>
            </a:r>
            <a:r>
              <a:rPr lang="en-US" sz="1200" dirty="0">
                <a:latin typeface="Consolas" panose="020B0609020204030204" pitchFamily="49" charset="0"/>
              </a:rPr>
              <a:t> # 6. If 'a' pointer hasn't reached the end, loop again</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Rectangle 7"/>
          <p:cNvSpPr>
            <a:spLocks noChangeArrowheads="1"/>
          </p:cNvSpPr>
          <p:nvPr/>
        </p:nvSpPr>
        <p:spPr bwMode="auto">
          <a:xfrm>
            <a:off x="892454" y="742604"/>
            <a:ext cx="6606553" cy="1867820"/>
          </a:xfrm>
          <a:prstGeom prst="rect">
            <a:avLst/>
          </a:prstGeom>
          <a:noFill/>
          <a:ln w="57150" cmpd="thickThin">
            <a:noFill/>
            <a:miter lim="800000"/>
            <a:headEnd/>
            <a:tailEnd/>
          </a:ln>
        </p:spPr>
        <p:txBody>
          <a:bodyPr wrap="square" lIns="67865" tIns="33338" rIns="67865" bIns="33338">
            <a:spAutoFit/>
          </a:bodyPr>
          <a:lstStyle/>
          <a:p>
            <a:pPr algn="l">
              <a:lnSpc>
                <a:spcPct val="100000"/>
              </a:lnSpc>
            </a:pPr>
            <a:r>
              <a:rPr lang="en-US" sz="1500" dirty="0">
                <a:latin typeface="Consolas" panose="020B0609020204030204" pitchFamily="49" charset="0"/>
              </a:rPr>
              <a:t>/* Sum rows of n X n matrix a and store in vector b. */</a:t>
            </a:r>
          </a:p>
          <a:p>
            <a:pPr algn="l">
              <a:lnSpc>
                <a:spcPct val="100000"/>
              </a:lnSpc>
            </a:pPr>
            <a:r>
              <a:rPr lang="en-US" sz="1500" dirty="0">
                <a:latin typeface="Consolas" panose="020B0609020204030204" pitchFamily="49" charset="0"/>
              </a:rPr>
              <a:t>void sum_rows1(double *a, double *b, long n) {</a:t>
            </a:r>
          </a:p>
          <a:p>
            <a:pPr algn="l">
              <a:lnSpc>
                <a:spcPct val="100000"/>
              </a:lnSpc>
            </a:pPr>
            <a:r>
              <a:rPr lang="en-US" sz="1500" dirty="0">
                <a:latin typeface="Consolas" panose="020B0609020204030204" pitchFamily="49" charset="0"/>
              </a:rPr>
              <a:t>    long </a:t>
            </a:r>
            <a:r>
              <a:rPr lang="en-US" sz="1500" dirty="0" err="1">
                <a:latin typeface="Consolas" panose="020B0609020204030204" pitchFamily="49" charset="0"/>
              </a:rPr>
              <a:t>i</a:t>
            </a:r>
            <a:r>
              <a:rPr lang="en-US" sz="1500" dirty="0">
                <a:latin typeface="Consolas" panose="020B0609020204030204" pitchFamily="49" charset="0"/>
              </a:rPr>
              <a:t>, j;</a:t>
            </a:r>
          </a:p>
          <a:p>
            <a:pPr algn="l">
              <a:lnSpc>
                <a:spcPct val="100000"/>
              </a:lnSpc>
            </a:pPr>
            <a:r>
              <a:rPr lang="en-US" sz="1500" dirty="0">
                <a:latin typeface="Consolas" panose="020B0609020204030204" pitchFamily="49" charset="0"/>
              </a:rPr>
              <a:t>    for (</a:t>
            </a:r>
            <a:r>
              <a:rPr lang="en-US" sz="1500" dirty="0" err="1">
                <a:latin typeface="Consolas" panose="020B0609020204030204" pitchFamily="49" charset="0"/>
              </a:rPr>
              <a:t>i</a:t>
            </a:r>
            <a:r>
              <a:rPr lang="en-US" sz="1500" dirty="0">
                <a:latin typeface="Consolas" panose="020B0609020204030204" pitchFamily="49" charset="0"/>
              </a:rPr>
              <a:t> = 0; </a:t>
            </a:r>
            <a:r>
              <a:rPr lang="en-US" sz="1500" dirty="0" err="1">
                <a:latin typeface="Consolas" panose="020B0609020204030204" pitchFamily="49" charset="0"/>
              </a:rPr>
              <a:t>i</a:t>
            </a:r>
            <a:r>
              <a:rPr lang="en-US" sz="1500" dirty="0">
                <a:latin typeface="Consolas" panose="020B0609020204030204" pitchFamily="49" charset="0"/>
              </a:rPr>
              <a:t> &lt; n; </a:t>
            </a:r>
            <a:r>
              <a:rPr lang="en-US" sz="1500" dirty="0" err="1">
                <a:latin typeface="Consolas" panose="020B0609020204030204" pitchFamily="49" charset="0"/>
              </a:rPr>
              <a:t>i</a:t>
            </a:r>
            <a:r>
              <a:rPr lang="en-US" sz="1500" dirty="0">
                <a:latin typeface="Consolas" panose="020B0609020204030204" pitchFamily="49" charset="0"/>
              </a:rPr>
              <a:t>++) {</a:t>
            </a:r>
          </a:p>
          <a:p>
            <a:pPr algn="l">
              <a:lnSpc>
                <a:spcPct val="100000"/>
              </a:lnSpc>
            </a:pPr>
            <a:r>
              <a:rPr lang="en-US" sz="1500" dirty="0">
                <a:latin typeface="Consolas" panose="020B0609020204030204" pitchFamily="49" charset="0"/>
              </a:rPr>
              <a:t>	b[</a:t>
            </a:r>
            <a:r>
              <a:rPr lang="en-US" sz="1500" dirty="0" err="1">
                <a:latin typeface="Consolas" panose="020B0609020204030204" pitchFamily="49" charset="0"/>
              </a:rPr>
              <a:t>i</a:t>
            </a:r>
            <a:r>
              <a:rPr lang="en-US" sz="1500" dirty="0">
                <a:latin typeface="Consolas" panose="020B0609020204030204" pitchFamily="49" charset="0"/>
              </a:rPr>
              <a:t>] = 0;</a:t>
            </a:r>
          </a:p>
          <a:p>
            <a:pPr algn="l">
              <a:lnSpc>
                <a:spcPct val="100000"/>
              </a:lnSpc>
            </a:pPr>
            <a:r>
              <a:rPr lang="en-US" sz="1500" dirty="0">
                <a:latin typeface="Consolas" panose="020B0609020204030204" pitchFamily="49" charset="0"/>
              </a:rPr>
              <a:t>	for (j = 0; j &lt; n; j++)</a:t>
            </a:r>
          </a:p>
          <a:p>
            <a:pPr algn="l">
              <a:lnSpc>
                <a:spcPct val="100000"/>
              </a:lnSpc>
            </a:pPr>
            <a:r>
              <a:rPr lang="en-US" sz="1500" dirty="0">
                <a:latin typeface="Consolas" panose="020B0609020204030204" pitchFamily="49" charset="0"/>
              </a:rPr>
              <a:t>	    b[</a:t>
            </a:r>
            <a:r>
              <a:rPr lang="en-US" sz="1500" dirty="0" err="1">
                <a:latin typeface="Consolas" panose="020B0609020204030204" pitchFamily="49" charset="0"/>
              </a:rPr>
              <a:t>i</a:t>
            </a:r>
            <a:r>
              <a:rPr lang="en-US" sz="1500" dirty="0">
                <a:latin typeface="Consolas" panose="020B0609020204030204" pitchFamily="49" charset="0"/>
              </a:rPr>
              <a:t>] += a[</a:t>
            </a:r>
            <a:r>
              <a:rPr lang="en-US" sz="1500" dirty="0" err="1">
                <a:latin typeface="Consolas" panose="020B0609020204030204" pitchFamily="49" charset="0"/>
              </a:rPr>
              <a:t>i</a:t>
            </a:r>
            <a:r>
              <a:rPr lang="en-US" sz="1500" dirty="0">
                <a:latin typeface="Consolas" panose="020B0609020204030204" pitchFamily="49" charset="0"/>
              </a:rPr>
              <a:t>*n + j];}</a:t>
            </a:r>
          </a:p>
          <a:p>
            <a:pPr algn="l">
              <a:lnSpc>
                <a:spcPct val="100000"/>
              </a:lnSpc>
            </a:pPr>
            <a:r>
              <a:rPr lang="en-US" sz="1200" dirty="0">
                <a:latin typeface="Consolas" panose="020B0609020204030204" pitchFamily="49" charset="0"/>
              </a:rPr>
              <a:t>}</a:t>
            </a:r>
          </a:p>
        </p:txBody>
      </p:sp>
      <p:sp>
        <p:nvSpPr>
          <p:cNvPr id="774146" name="Rectangle 2"/>
          <p:cNvSpPr>
            <a:spLocks noGrp="1" noChangeArrowheads="1"/>
          </p:cNvSpPr>
          <p:nvPr>
            <p:ph type="title"/>
          </p:nvPr>
        </p:nvSpPr>
        <p:spPr>
          <a:xfrm>
            <a:off x="1360885" y="103561"/>
            <a:ext cx="5694070" cy="571500"/>
          </a:xfrm>
        </p:spPr>
        <p:txBody>
          <a:bodyPr/>
          <a:lstStyle/>
          <a:p>
            <a:pPr eaLnBrk="1" hangingPunct="1">
              <a:defRPr/>
            </a:pPr>
            <a:r>
              <a:rPr lang="en-US" sz="4000" dirty="0"/>
              <a:t>Memory Aliasing</a:t>
            </a:r>
          </a:p>
        </p:txBody>
      </p:sp>
      <p:sp>
        <p:nvSpPr>
          <p:cNvPr id="18435" name="Rectangle 9"/>
          <p:cNvSpPr>
            <a:spLocks noGrp="1" noChangeArrowheads="1"/>
          </p:cNvSpPr>
          <p:nvPr>
            <p:ph type="body" idx="1"/>
          </p:nvPr>
        </p:nvSpPr>
        <p:spPr>
          <a:xfrm>
            <a:off x="824415" y="3810158"/>
            <a:ext cx="8217172" cy="604838"/>
          </a:xfrm>
        </p:spPr>
        <p:txBody>
          <a:bodyPr/>
          <a:lstStyle/>
          <a:p>
            <a:pPr lvl="1" eaLnBrk="1" hangingPunct="1"/>
            <a:r>
              <a:rPr lang="en-US" sz="1800" dirty="0"/>
              <a:t>Code updates </a:t>
            </a:r>
            <a:r>
              <a:rPr lang="en-US" sz="1800" dirty="0">
                <a:latin typeface="Consolas" panose="020B0609020204030204" pitchFamily="49" charset="0"/>
              </a:rPr>
              <a:t>b[</a:t>
            </a:r>
            <a:r>
              <a:rPr lang="en-US" sz="1800" dirty="0" err="1">
                <a:latin typeface="Consolas" panose="020B0609020204030204" pitchFamily="49" charset="0"/>
              </a:rPr>
              <a:t>i</a:t>
            </a:r>
            <a:r>
              <a:rPr lang="en-US" sz="1800" dirty="0">
                <a:latin typeface="Consolas" panose="020B0609020204030204" pitchFamily="49" charset="0"/>
              </a:rPr>
              <a:t>]</a:t>
            </a:r>
            <a:r>
              <a:rPr lang="en-US" sz="1800" dirty="0"/>
              <a:t> on every iteration</a:t>
            </a:r>
          </a:p>
          <a:p>
            <a:pPr lvl="1" eaLnBrk="1" hangingPunct="1"/>
            <a:r>
              <a:rPr lang="en-US" sz="1800" dirty="0"/>
              <a:t>Why couldn’t the compiler optimize this away? Such as keeping it in a register </a:t>
            </a:r>
          </a:p>
        </p:txBody>
      </p:sp>
      <p:sp>
        <p:nvSpPr>
          <p:cNvPr id="18436" name="Rectangle 3"/>
          <p:cNvSpPr>
            <a:spLocks noChangeArrowheads="1"/>
          </p:cNvSpPr>
          <p:nvPr/>
        </p:nvSpPr>
        <p:spPr bwMode="auto">
          <a:xfrm>
            <a:off x="343814" y="2714962"/>
            <a:ext cx="8697773" cy="990657"/>
          </a:xfrm>
          <a:prstGeom prst="rect">
            <a:avLst/>
          </a:prstGeom>
          <a:solidFill>
            <a:srgbClr val="F6F5BD"/>
          </a:solidFill>
          <a:ln w="57150" cmpd="thickThin">
            <a:noFill/>
            <a:miter lim="800000"/>
            <a:headEnd/>
            <a:tailEnd/>
          </a:ln>
        </p:spPr>
        <p:txBody>
          <a:bodyPr wrap="square" lIns="67865" tIns="33338" rIns="67865" bIns="33338">
            <a:spAutoFit/>
          </a:bodyPr>
          <a:lstStyle/>
          <a:p>
            <a:r>
              <a:rPr lang="en-US" sz="1050" dirty="0">
                <a:latin typeface="Consolas" panose="020B0609020204030204" pitchFamily="49" charset="0"/>
              </a:rPr>
              <a:t>  </a:t>
            </a:r>
            <a:r>
              <a:rPr lang="en-US" sz="1200" dirty="0">
                <a:latin typeface="Consolas" panose="020B0609020204030204" pitchFamily="49" charset="0"/>
              </a:rPr>
              <a:t>.</a:t>
            </a:r>
            <a:r>
              <a:rPr lang="en-US" sz="1200" dirty="0" err="1">
                <a:latin typeface="Consolas" panose="020B0609020204030204" pitchFamily="49" charset="0"/>
              </a:rPr>
              <a:t>L_inner_loop</a:t>
            </a:r>
            <a:r>
              <a:rPr lang="en-US" sz="1200" dirty="0">
                <a:latin typeface="Consolas" panose="020B0609020204030204" pitchFamily="49" charset="0"/>
              </a:rPr>
              <a:t>: // </a:t>
            </a:r>
            <a:r>
              <a:rPr lang="en-US" sz="1200" b="1" dirty="0">
                <a:latin typeface="Consolas" panose="020B0609020204030204" pitchFamily="49" charset="0"/>
              </a:rPr>
              <a:t>Allocating b[</a:t>
            </a:r>
            <a:r>
              <a:rPr lang="en-US" sz="1200" b="1" dirty="0" err="1">
                <a:latin typeface="Consolas" panose="020B0609020204030204" pitchFamily="49" charset="0"/>
              </a:rPr>
              <a:t>i</a:t>
            </a:r>
            <a:r>
              <a:rPr lang="en-US" sz="1200" b="1" dirty="0">
                <a:latin typeface="Consolas" panose="020B0609020204030204" pitchFamily="49" charset="0"/>
              </a:rPr>
              <a:t>] in register fa5</a:t>
            </a:r>
          </a:p>
          <a:p>
            <a:r>
              <a:rPr lang="en-US" sz="1200" dirty="0">
                <a:latin typeface="Consolas" panose="020B0609020204030204" pitchFamily="49" charset="0"/>
              </a:rPr>
              <a:t>    </a:t>
            </a:r>
            <a:r>
              <a:rPr lang="en-US" sz="1200" dirty="0" err="1">
                <a:latin typeface="Consolas" panose="020B0609020204030204" pitchFamily="49" charset="0"/>
              </a:rPr>
              <a:t>fld</a:t>
            </a:r>
            <a:r>
              <a:rPr lang="en-US" sz="1200" dirty="0">
                <a:latin typeface="Consolas" panose="020B0609020204030204" pitchFamily="49" charset="0"/>
              </a:rPr>
              <a:t>     fa4, 0(a4)           # 2. LOAD: Read current a[...] from memory into fa4</a:t>
            </a:r>
          </a:p>
          <a:p>
            <a:r>
              <a:rPr lang="en-US" sz="1200" dirty="0">
                <a:latin typeface="Consolas" panose="020B0609020204030204" pitchFamily="49" charset="0"/>
              </a:rPr>
              <a:t>    </a:t>
            </a:r>
            <a:r>
              <a:rPr lang="en-US" sz="1200" dirty="0" err="1">
                <a:latin typeface="Consolas" panose="020B0609020204030204" pitchFamily="49" charset="0"/>
              </a:rPr>
              <a:t>fadd.d</a:t>
            </a:r>
            <a:r>
              <a:rPr lang="en-US" sz="1200" dirty="0">
                <a:latin typeface="Consolas" panose="020B0609020204030204" pitchFamily="49" charset="0"/>
              </a:rPr>
              <a:t>  fa5, fa5, fa4        # 3. MATH: Add them together (Double precision)</a:t>
            </a:r>
          </a:p>
          <a:p>
            <a:r>
              <a:rPr lang="en-US" sz="1200" dirty="0">
                <a:latin typeface="Consolas" panose="020B0609020204030204" pitchFamily="49" charset="0"/>
              </a:rPr>
              <a:t>    </a:t>
            </a:r>
            <a:r>
              <a:rPr lang="en-US" sz="1200" dirty="0" err="1">
                <a:latin typeface="Consolas" panose="020B0609020204030204" pitchFamily="49" charset="0"/>
              </a:rPr>
              <a:t>addi</a:t>
            </a:r>
            <a:r>
              <a:rPr lang="en-US" sz="1200" dirty="0">
                <a:latin typeface="Consolas" panose="020B0609020204030204" pitchFamily="49" charset="0"/>
              </a:rPr>
              <a:t>    a4, a4, 8            # 5. Move pointer 'a' forward by 8 bytes (</a:t>
            </a:r>
            <a:r>
              <a:rPr lang="en-US" sz="1200" dirty="0" err="1">
                <a:latin typeface="Consolas" panose="020B0609020204030204" pitchFamily="49" charset="0"/>
              </a:rPr>
              <a:t>sizeof</a:t>
            </a:r>
            <a:r>
              <a:rPr lang="en-US" sz="1200" dirty="0">
                <a:latin typeface="Consolas" panose="020B0609020204030204" pitchFamily="49" charset="0"/>
              </a:rPr>
              <a:t>(double))</a:t>
            </a:r>
          </a:p>
          <a:p>
            <a:r>
              <a:rPr lang="en-US" sz="1200" dirty="0">
                <a:latin typeface="Consolas" panose="020B0609020204030204" pitchFamily="49" charset="0"/>
              </a:rPr>
              <a:t>    </a:t>
            </a:r>
            <a:r>
              <a:rPr lang="en-US" sz="1200" dirty="0" err="1">
                <a:latin typeface="Consolas" panose="020B0609020204030204" pitchFamily="49" charset="0"/>
              </a:rPr>
              <a:t>bne</a:t>
            </a:r>
            <a:r>
              <a:rPr lang="en-US" sz="1200" dirty="0">
                <a:latin typeface="Consolas" panose="020B0609020204030204" pitchFamily="49" charset="0"/>
              </a:rPr>
              <a:t>     a4, a5, .</a:t>
            </a:r>
            <a:r>
              <a:rPr lang="en-US" sz="1200" dirty="0" err="1">
                <a:latin typeface="Consolas" panose="020B0609020204030204" pitchFamily="49" charset="0"/>
              </a:rPr>
              <a:t>L_inner_loop</a:t>
            </a:r>
            <a:r>
              <a:rPr lang="en-US" sz="1200" dirty="0">
                <a:latin typeface="Consolas" panose="020B0609020204030204" pitchFamily="49" charset="0"/>
              </a:rPr>
              <a:t> # 6. If 'a' pointer hasn't reached the end, loop again</a:t>
            </a:r>
          </a:p>
        </p:txBody>
      </p:sp>
    </p:spTree>
    <p:extLst>
      <p:ext uri="{BB962C8B-B14F-4D97-AF65-F5344CB8AC3E}">
        <p14:creationId xmlns:p14="http://schemas.microsoft.com/office/powerpoint/2010/main" val="3215975456"/>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dirty="0"/>
              <a:t>How to know if aliasing gets in the way?</a:t>
            </a:r>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87782" y="714317"/>
            <a:ext cx="8968436" cy="3930835"/>
          </a:xfrm>
        </p:spPr>
        <p:txBody>
          <a:bodyPr/>
          <a:lstStyle/>
          <a:p>
            <a:pPr>
              <a:buSzPct val="200000"/>
              <a:buFont typeface="Arial" panose="020B0604020202020204" pitchFamily="34" charset="0"/>
              <a:buChar char="•"/>
            </a:pPr>
            <a:r>
              <a:rPr lang="en-US" sz="2000" i="0" dirty="0">
                <a:solidFill>
                  <a:srgbClr val="111827"/>
                </a:solidFill>
                <a:effectLst/>
                <a:latin typeface="ui-sans-serif"/>
              </a:rPr>
              <a:t>Compilers can output detailed messages saying "cannot reorder memory operations" or "cannot vectorize loop due to potential memory dependencies". These messages are direct indicators that pointer aliasing is forcing the compiler to load/store to memory rather than keep values in registers.</a:t>
            </a:r>
          </a:p>
          <a:p>
            <a:pPr>
              <a:buSzPct val="200000"/>
              <a:buFont typeface="Arial" panose="020B0604020202020204" pitchFamily="34" charset="0"/>
              <a:buChar char="•"/>
            </a:pPr>
            <a:r>
              <a:rPr lang="en-US" sz="2000" dirty="0">
                <a:solidFill>
                  <a:srgbClr val="111827"/>
                </a:solidFill>
                <a:latin typeface="ui-sans-serif"/>
              </a:rPr>
              <a:t>If you use GCC</a:t>
            </a:r>
          </a:p>
          <a:p>
            <a:pPr marL="0" indent="0">
              <a:buSzPct val="200000"/>
              <a:buNone/>
            </a:pPr>
            <a:r>
              <a:rPr lang="en-US" sz="2000" dirty="0">
                <a:solidFill>
                  <a:srgbClr val="111827"/>
                </a:solidFill>
                <a:latin typeface="ui-sans-serif"/>
              </a:rPr>
              <a:t>	</a:t>
            </a:r>
            <a:r>
              <a:rPr lang="en-US" sz="1600" b="0" i="0" dirty="0" err="1">
                <a:solidFill>
                  <a:srgbClr val="383A42"/>
                </a:solidFill>
                <a:effectLst/>
                <a:latin typeface="Fira Code" panose="020B0809050000020004" pitchFamily="49" charset="0"/>
              </a:rPr>
              <a:t>gcc</a:t>
            </a:r>
            <a:r>
              <a:rPr lang="en-US" sz="1600" b="0" i="0" dirty="0">
                <a:solidFill>
                  <a:srgbClr val="383A42"/>
                </a:solidFill>
                <a:effectLst/>
                <a:latin typeface="Fira Code" panose="020B0809050000020004" pitchFamily="49" charset="0"/>
              </a:rPr>
              <a:t> -O3 -fopt-info-missed</a:t>
            </a:r>
            <a:r>
              <a:rPr lang="en-US" sz="1600" b="0" i="0" dirty="0">
                <a:solidFill>
                  <a:srgbClr val="4078F2"/>
                </a:solidFill>
                <a:effectLst/>
                <a:latin typeface="Fira Code" panose="020B0809050000020004" pitchFamily="49" charset="0"/>
              </a:rPr>
              <a:t>=</a:t>
            </a:r>
            <a:r>
              <a:rPr lang="en-US" sz="1600" b="0" i="0" dirty="0">
                <a:solidFill>
                  <a:srgbClr val="383A42"/>
                </a:solidFill>
                <a:effectLst/>
                <a:latin typeface="Fira Code" panose="020B0809050000020004" pitchFamily="49" charset="0"/>
              </a:rPr>
              <a:t>missed_opts.txt </a:t>
            </a:r>
            <a:r>
              <a:rPr lang="en-US" sz="1600" b="0" i="0" dirty="0" err="1">
                <a:solidFill>
                  <a:srgbClr val="383A42"/>
                </a:solidFill>
                <a:effectLst/>
                <a:latin typeface="Fira Code" panose="020B0809050000020004" pitchFamily="49" charset="0"/>
              </a:rPr>
              <a:t>my_program.c</a:t>
            </a:r>
            <a:endParaRPr lang="en-US" sz="1600" b="0" i="0" dirty="0">
              <a:solidFill>
                <a:srgbClr val="383A42"/>
              </a:solidFill>
              <a:effectLst/>
              <a:latin typeface="Fira Code" panose="020B0809050000020004" pitchFamily="49" charset="0"/>
            </a:endParaRPr>
          </a:p>
          <a:p>
            <a:pPr marL="0" indent="0">
              <a:buSzPct val="200000"/>
              <a:buNone/>
            </a:pPr>
            <a:r>
              <a:rPr lang="en-US" sz="1500" b="0" i="1" dirty="0">
                <a:solidFill>
                  <a:srgbClr val="111827"/>
                </a:solidFill>
                <a:effectLst/>
                <a:latin typeface="ui-sans-serif"/>
              </a:rPr>
              <a:t>When you see "</a:t>
            </a:r>
            <a:r>
              <a:rPr lang="en-US" sz="1500" b="0" i="1" dirty="0">
                <a:solidFill>
                  <a:srgbClr val="FF0000"/>
                </a:solidFill>
                <a:effectLst/>
                <a:latin typeface="ui-sans-serif"/>
              </a:rPr>
              <a:t>data dependence</a:t>
            </a:r>
            <a:r>
              <a:rPr lang="en-US" sz="1500" b="0" i="1" dirty="0">
                <a:solidFill>
                  <a:srgbClr val="111827"/>
                </a:solidFill>
                <a:effectLst/>
                <a:latin typeface="ui-sans-serif"/>
              </a:rPr>
              <a:t>" or "</a:t>
            </a:r>
            <a:r>
              <a:rPr lang="en-US" sz="1500" b="0" i="1" dirty="0">
                <a:solidFill>
                  <a:srgbClr val="FF0000"/>
                </a:solidFill>
                <a:effectLst/>
                <a:latin typeface="ui-sans-serif"/>
              </a:rPr>
              <a:t>dependent memory operations</a:t>
            </a:r>
            <a:r>
              <a:rPr lang="en-US" sz="1500" b="0" i="1" dirty="0">
                <a:solidFill>
                  <a:srgbClr val="111827"/>
                </a:solidFill>
                <a:effectLst/>
                <a:latin typeface="ui-sans-serif"/>
              </a:rPr>
              <a:t>," that is GCC saying: "I don't know if these pointers alias, so I must read/write to RAM in the exact order you wrote the code."</a:t>
            </a:r>
            <a:endParaRPr lang="en-US" sz="1500" i="1" dirty="0">
              <a:solidFill>
                <a:srgbClr val="111827"/>
              </a:solidFill>
              <a:latin typeface="ui-sans-serif"/>
            </a:endParaRPr>
          </a:p>
          <a:p>
            <a:pPr>
              <a:buSzPct val="200000"/>
              <a:buFont typeface="Arial" panose="020B0604020202020204" pitchFamily="34" charset="0"/>
              <a:buChar char="•"/>
            </a:pPr>
            <a:r>
              <a:rPr lang="en-US" sz="2000" i="0" dirty="0">
                <a:solidFill>
                  <a:srgbClr val="111827"/>
                </a:solidFill>
                <a:effectLst/>
                <a:latin typeface="ui-sans-serif"/>
              </a:rPr>
              <a:t>If you use Clang (LLVM)</a:t>
            </a:r>
          </a:p>
          <a:p>
            <a:pPr marL="0" indent="0">
              <a:buSzPct val="200000"/>
              <a:buNone/>
            </a:pPr>
            <a:r>
              <a:rPr lang="en-US" sz="2000" dirty="0">
                <a:solidFill>
                  <a:srgbClr val="111827"/>
                </a:solidFill>
                <a:latin typeface="ui-sans-serif"/>
              </a:rPr>
              <a:t>	</a:t>
            </a:r>
            <a:r>
              <a:rPr lang="en-US" sz="1600" b="0" i="0" dirty="0">
                <a:solidFill>
                  <a:srgbClr val="383A42"/>
                </a:solidFill>
                <a:effectLst/>
                <a:latin typeface="Fira Code" panose="020B0809050000020004" pitchFamily="49" charset="0"/>
              </a:rPr>
              <a:t>clang -O3 -Rpass-missed</a:t>
            </a:r>
            <a:r>
              <a:rPr lang="en-US" sz="1600" b="0" i="0" dirty="0">
                <a:solidFill>
                  <a:srgbClr val="4078F2"/>
                </a:solidFill>
                <a:effectLst/>
                <a:latin typeface="Fira Code" panose="020B0809050000020004" pitchFamily="49" charset="0"/>
              </a:rPr>
              <a:t>=</a:t>
            </a:r>
            <a:r>
              <a:rPr lang="en-US" sz="1600" b="0" i="0" dirty="0">
                <a:solidFill>
                  <a:srgbClr val="383A42"/>
                </a:solidFill>
                <a:effectLst/>
                <a:latin typeface="Fira Code" panose="020B0809050000020004" pitchFamily="49" charset="0"/>
              </a:rPr>
              <a:t>.* -Rpass-analysis</a:t>
            </a:r>
            <a:r>
              <a:rPr lang="en-US" sz="1600" b="0" i="0" dirty="0">
                <a:solidFill>
                  <a:srgbClr val="4078F2"/>
                </a:solidFill>
                <a:effectLst/>
                <a:latin typeface="Fira Code" panose="020B0809050000020004" pitchFamily="49" charset="0"/>
              </a:rPr>
              <a:t>=</a:t>
            </a:r>
            <a:r>
              <a:rPr lang="en-US" sz="1600" b="0" i="0" dirty="0">
                <a:solidFill>
                  <a:srgbClr val="383A42"/>
                </a:solidFill>
                <a:effectLst/>
                <a:latin typeface="Fira Code" panose="020B0809050000020004" pitchFamily="49" charset="0"/>
              </a:rPr>
              <a:t>.* </a:t>
            </a:r>
            <a:r>
              <a:rPr lang="en-US" sz="1600" b="0" i="0" dirty="0" err="1">
                <a:solidFill>
                  <a:srgbClr val="383A42"/>
                </a:solidFill>
                <a:effectLst/>
                <a:latin typeface="Fira Code" panose="020B0809050000020004" pitchFamily="49" charset="0"/>
              </a:rPr>
              <a:t>my_program.c</a:t>
            </a:r>
            <a:endParaRPr lang="en-US" sz="2000" i="0" dirty="0">
              <a:solidFill>
                <a:srgbClr val="111827"/>
              </a:solidFill>
              <a:effectLst/>
              <a:latin typeface="ui-sans-serif"/>
            </a:endParaRPr>
          </a:p>
          <a:p>
            <a:pPr marL="342900" lvl="1" indent="0">
              <a:buNone/>
            </a:pPr>
            <a:r>
              <a:rPr lang="en-US" sz="2200" b="0" i="0" dirty="0">
                <a:solidFill>
                  <a:srgbClr val="111827"/>
                </a:solidFill>
                <a:effectLst/>
                <a:latin typeface="ui-sans-serif"/>
              </a:rPr>
              <a:t>	</a:t>
            </a:r>
            <a:endParaRPr lang="en-US" sz="1800" b="0" i="0" dirty="0">
              <a:solidFill>
                <a:srgbClr val="111827"/>
              </a:solidFill>
              <a:effectLst/>
              <a:latin typeface="ui-sans-serif"/>
            </a:endParaRPr>
          </a:p>
        </p:txBody>
      </p:sp>
    </p:spTree>
    <p:extLst>
      <p:ext uri="{BB962C8B-B14F-4D97-AF65-F5344CB8AC3E}">
        <p14:creationId xmlns:p14="http://schemas.microsoft.com/office/powerpoint/2010/main" val="27813203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86538" y="2913938"/>
            <a:ext cx="8770924" cy="1599540"/>
          </a:xfrm>
        </p:spPr>
        <p:txBody>
          <a:bodyPr/>
          <a:lstStyle/>
          <a:p>
            <a:pPr marL="342900" lvl="1" indent="0" eaLnBrk="1" hangingPunct="1">
              <a:buNone/>
            </a:pPr>
            <a:r>
              <a:rPr lang="en-US" dirty="0"/>
              <a:t>1) Use a local variable, </a:t>
            </a:r>
            <a:r>
              <a:rPr lang="en-US" dirty="0" err="1"/>
              <a:t>val</a:t>
            </a:r>
            <a:r>
              <a:rPr lang="en-US" dirty="0"/>
              <a:t>, for the intermediate results</a:t>
            </a:r>
          </a:p>
          <a:p>
            <a:pPr marL="342900" lvl="1" indent="0" eaLnBrk="1" hangingPunct="1">
              <a:buNone/>
            </a:pPr>
            <a:r>
              <a:rPr lang="en-US" dirty="0"/>
              <a:t>2) Use the </a:t>
            </a:r>
            <a:r>
              <a:rPr lang="en-US" dirty="0">
                <a:solidFill>
                  <a:srgbClr val="FF0000"/>
                </a:solidFill>
              </a:rPr>
              <a:t>restrict</a:t>
            </a:r>
            <a:r>
              <a:rPr lang="en-US" dirty="0"/>
              <a:t> keyword</a:t>
            </a:r>
          </a:p>
          <a:p>
            <a:pPr lvl="2"/>
            <a:r>
              <a:rPr lang="en-US" sz="1600" b="0" i="0" dirty="0">
                <a:solidFill>
                  <a:srgbClr val="A626A4"/>
                </a:solidFill>
                <a:effectLst/>
                <a:latin typeface="Fira Code" panose="020B0809050000020004" pitchFamily="49" charset="0"/>
              </a:rPr>
              <a:t>void</a:t>
            </a:r>
            <a:r>
              <a:rPr lang="en-US" sz="1600" b="0" i="0" dirty="0">
                <a:solidFill>
                  <a:srgbClr val="383A42"/>
                </a:solidFill>
                <a:effectLst/>
                <a:latin typeface="Fira Code" panose="020B0809050000020004" pitchFamily="49" charset="0"/>
              </a:rPr>
              <a:t> </a:t>
            </a:r>
            <a:r>
              <a:rPr lang="en-US" sz="1600" b="0" i="0" dirty="0">
                <a:solidFill>
                  <a:srgbClr val="4078F2"/>
                </a:solidFill>
                <a:effectLst/>
                <a:latin typeface="Fira Code" panose="020B0809050000020004" pitchFamily="49" charset="0"/>
              </a:rPr>
              <a:t>sum_rows1</a:t>
            </a:r>
            <a:r>
              <a:rPr lang="en-US" sz="1600" b="0" i="0" dirty="0">
                <a:solidFill>
                  <a:srgbClr val="383A42"/>
                </a:solidFill>
                <a:effectLst/>
                <a:latin typeface="Fira Code" panose="020B0809050000020004" pitchFamily="49" charset="0"/>
              </a:rPr>
              <a:t>(</a:t>
            </a:r>
            <a:r>
              <a:rPr lang="en-US" sz="1600" b="0" i="0" dirty="0">
                <a:solidFill>
                  <a:srgbClr val="A626A4"/>
                </a:solidFill>
                <a:effectLst/>
                <a:latin typeface="Fira Code" panose="020B0809050000020004" pitchFamily="49" charset="0"/>
              </a:rPr>
              <a:t>double</a:t>
            </a:r>
            <a:r>
              <a:rPr lang="en-US" sz="1600" b="0" i="0" dirty="0">
                <a:solidFill>
                  <a:srgbClr val="383A42"/>
                </a:solidFill>
                <a:effectLst/>
                <a:latin typeface="Fira Code" panose="020B0809050000020004" pitchFamily="49" charset="0"/>
              </a:rPr>
              <a:t> </a:t>
            </a:r>
            <a:r>
              <a:rPr lang="en-US" sz="1600" b="0" i="0" dirty="0">
                <a:solidFill>
                  <a:srgbClr val="4078F2"/>
                </a:solidFill>
                <a:effectLst/>
                <a:latin typeface="Fira Code" panose="020B0809050000020004" pitchFamily="49" charset="0"/>
              </a:rPr>
              <a:t>*</a:t>
            </a:r>
            <a:r>
              <a:rPr lang="en-US" sz="1600" b="0" i="0" dirty="0">
                <a:solidFill>
                  <a:srgbClr val="FF0000"/>
                </a:solidFill>
                <a:effectLst/>
                <a:latin typeface="Fira Code" panose="020B0809050000020004" pitchFamily="49" charset="0"/>
              </a:rPr>
              <a:t>restrict</a:t>
            </a:r>
            <a:r>
              <a:rPr lang="en-US" sz="1600" b="0" i="0" dirty="0">
                <a:solidFill>
                  <a:srgbClr val="383A42"/>
                </a:solidFill>
                <a:effectLst/>
                <a:latin typeface="Fira Code" panose="020B0809050000020004" pitchFamily="49" charset="0"/>
              </a:rPr>
              <a:t> a, </a:t>
            </a:r>
            <a:r>
              <a:rPr lang="en-US" sz="1600" b="0" i="0" dirty="0">
                <a:solidFill>
                  <a:srgbClr val="A626A4"/>
                </a:solidFill>
                <a:effectLst/>
                <a:latin typeface="Fira Code" panose="020B0809050000020004" pitchFamily="49" charset="0"/>
              </a:rPr>
              <a:t>double</a:t>
            </a:r>
            <a:r>
              <a:rPr lang="en-US" sz="1600" b="0" i="0" dirty="0">
                <a:solidFill>
                  <a:srgbClr val="383A42"/>
                </a:solidFill>
                <a:effectLst/>
                <a:latin typeface="Fira Code" panose="020B0809050000020004" pitchFamily="49" charset="0"/>
              </a:rPr>
              <a:t> </a:t>
            </a:r>
            <a:r>
              <a:rPr lang="en-US" sz="1600" b="0" i="0" dirty="0">
                <a:solidFill>
                  <a:srgbClr val="4078F2"/>
                </a:solidFill>
                <a:effectLst/>
                <a:latin typeface="Fira Code" panose="020B0809050000020004" pitchFamily="49" charset="0"/>
              </a:rPr>
              <a:t>*</a:t>
            </a:r>
            <a:r>
              <a:rPr lang="en-US" sz="1600" b="0" i="0" dirty="0">
                <a:solidFill>
                  <a:srgbClr val="FF0000"/>
                </a:solidFill>
                <a:effectLst/>
                <a:latin typeface="Fira Code" panose="020B0809050000020004" pitchFamily="49" charset="0"/>
              </a:rPr>
              <a:t>restrict</a:t>
            </a:r>
            <a:r>
              <a:rPr lang="en-US" sz="1600" b="0" i="0" dirty="0">
                <a:solidFill>
                  <a:srgbClr val="383A42"/>
                </a:solidFill>
                <a:effectLst/>
                <a:latin typeface="Fira Code" panose="020B0809050000020004" pitchFamily="49" charset="0"/>
              </a:rPr>
              <a:t> b, </a:t>
            </a:r>
            <a:r>
              <a:rPr lang="en-US" sz="1600" b="0" i="0" dirty="0">
                <a:solidFill>
                  <a:srgbClr val="A626A4"/>
                </a:solidFill>
                <a:effectLst/>
                <a:latin typeface="Fira Code" panose="020B0809050000020004" pitchFamily="49" charset="0"/>
              </a:rPr>
              <a:t>long</a:t>
            </a:r>
            <a:r>
              <a:rPr lang="en-US" sz="1600" b="0" i="0" dirty="0">
                <a:solidFill>
                  <a:srgbClr val="383A42"/>
                </a:solidFill>
                <a:effectLst/>
                <a:latin typeface="Fira Code" panose="020B0809050000020004" pitchFamily="49" charset="0"/>
              </a:rPr>
              <a:t> n)</a:t>
            </a:r>
            <a:endParaRPr lang="en-US" sz="1600" dirty="0"/>
          </a:p>
          <a:p>
            <a:pPr lvl="2"/>
            <a:r>
              <a:rPr lang="en-US" dirty="0"/>
              <a:t>Tells the compiler that this is the “only” pointer to that memory location, no possible aliasing</a:t>
            </a:r>
          </a:p>
        </p:txBody>
      </p:sp>
      <p:sp>
        <p:nvSpPr>
          <p:cNvPr id="20485" name="Line 5"/>
          <p:cNvSpPr>
            <a:spLocks noChangeShapeType="1"/>
          </p:cNvSpPr>
          <p:nvPr/>
        </p:nvSpPr>
        <p:spPr bwMode="auto">
          <a:xfrm>
            <a:off x="2857500" y="2057400"/>
            <a:ext cx="457200" cy="342900"/>
          </a:xfrm>
          <a:prstGeom prst="line">
            <a:avLst/>
          </a:prstGeom>
          <a:noFill/>
          <a:ln w="25400">
            <a:noFill/>
            <a:round/>
            <a:headEnd/>
            <a:tailEnd type="triangle" w="med" len="med"/>
          </a:ln>
        </p:spPr>
        <p:txBody>
          <a:bodyPr wrap="none" anchor="ctr"/>
          <a:lstStyle/>
          <a:p>
            <a:endParaRPr lang="en-US" sz="1350"/>
          </a:p>
        </p:txBody>
      </p:sp>
      <p:sp>
        <p:nvSpPr>
          <p:cNvPr id="20486" name="Rectangle 6"/>
          <p:cNvSpPr>
            <a:spLocks noChangeArrowheads="1"/>
          </p:cNvSpPr>
          <p:nvPr/>
        </p:nvSpPr>
        <p:spPr bwMode="auto">
          <a:xfrm>
            <a:off x="1543051" y="857251"/>
            <a:ext cx="6459778" cy="2144819"/>
          </a:xfrm>
          <a:prstGeom prst="rect">
            <a:avLst/>
          </a:prstGeom>
          <a:noFill/>
          <a:ln w="57150" cmpd="thickThin">
            <a:noFill/>
            <a:miter lim="800000"/>
            <a:headEnd/>
            <a:tailEnd/>
          </a:ln>
        </p:spPr>
        <p:txBody>
          <a:bodyPr wrap="square" lIns="67865" tIns="33338" rIns="67865" bIns="33338">
            <a:spAutoFit/>
          </a:bodyPr>
          <a:lstStyle/>
          <a:p>
            <a:pPr algn="l">
              <a:lnSpc>
                <a:spcPct val="100000"/>
              </a:lnSpc>
            </a:pPr>
            <a:r>
              <a:rPr lang="en-US" sz="1500" dirty="0">
                <a:latin typeface="Consolas" panose="020B0609020204030204" pitchFamily="49" charset="0"/>
              </a:rPr>
              <a:t>/* Sum rows of n X n matrix a and store in vector b. */</a:t>
            </a:r>
          </a:p>
          <a:p>
            <a:pPr algn="l">
              <a:lnSpc>
                <a:spcPct val="100000"/>
              </a:lnSpc>
            </a:pPr>
            <a:r>
              <a:rPr lang="en-US" sz="1500" dirty="0">
                <a:latin typeface="Consolas" panose="020B0609020204030204" pitchFamily="49" charset="0"/>
              </a:rPr>
              <a:t>void sum_rows2(double *a, double *b, long n) {</a:t>
            </a:r>
          </a:p>
          <a:p>
            <a:pPr algn="l">
              <a:lnSpc>
                <a:spcPct val="100000"/>
              </a:lnSpc>
            </a:pPr>
            <a:r>
              <a:rPr lang="en-US" sz="1500" dirty="0">
                <a:latin typeface="Consolas" panose="020B0609020204030204" pitchFamily="49" charset="0"/>
              </a:rPr>
              <a:t>    long </a:t>
            </a:r>
            <a:r>
              <a:rPr lang="en-US" sz="1500" dirty="0" err="1">
                <a:latin typeface="Consolas" panose="020B0609020204030204" pitchFamily="49" charset="0"/>
              </a:rPr>
              <a:t>i</a:t>
            </a:r>
            <a:r>
              <a:rPr lang="en-US" sz="1500" dirty="0">
                <a:latin typeface="Consolas" panose="020B0609020204030204" pitchFamily="49" charset="0"/>
              </a:rPr>
              <a:t>, j;</a:t>
            </a:r>
          </a:p>
          <a:p>
            <a:pPr algn="l">
              <a:lnSpc>
                <a:spcPct val="100000"/>
              </a:lnSpc>
            </a:pPr>
            <a:r>
              <a:rPr lang="en-US" sz="1500" dirty="0">
                <a:latin typeface="Consolas" panose="020B0609020204030204" pitchFamily="49" charset="0"/>
              </a:rPr>
              <a:t>    for (</a:t>
            </a:r>
            <a:r>
              <a:rPr lang="en-US" sz="1500" dirty="0" err="1">
                <a:latin typeface="Consolas" panose="020B0609020204030204" pitchFamily="49" charset="0"/>
              </a:rPr>
              <a:t>i</a:t>
            </a:r>
            <a:r>
              <a:rPr lang="en-US" sz="1500" dirty="0">
                <a:latin typeface="Consolas" panose="020B0609020204030204" pitchFamily="49" charset="0"/>
              </a:rPr>
              <a:t> = 0; </a:t>
            </a:r>
            <a:r>
              <a:rPr lang="en-US" sz="1500" dirty="0" err="1">
                <a:latin typeface="Consolas" panose="020B0609020204030204" pitchFamily="49" charset="0"/>
              </a:rPr>
              <a:t>i</a:t>
            </a:r>
            <a:r>
              <a:rPr lang="en-US" sz="1500" dirty="0">
                <a:latin typeface="Consolas" panose="020B0609020204030204" pitchFamily="49" charset="0"/>
              </a:rPr>
              <a:t> &lt; n; </a:t>
            </a:r>
            <a:r>
              <a:rPr lang="en-US" sz="1500" dirty="0" err="1">
                <a:latin typeface="Consolas" panose="020B0609020204030204" pitchFamily="49" charset="0"/>
              </a:rPr>
              <a:t>i</a:t>
            </a:r>
            <a:r>
              <a:rPr lang="en-US" sz="1500" dirty="0">
                <a:latin typeface="Consolas" panose="020B0609020204030204" pitchFamily="49" charset="0"/>
              </a:rPr>
              <a:t>++) {</a:t>
            </a:r>
          </a:p>
          <a:p>
            <a:pPr algn="l">
              <a:lnSpc>
                <a:spcPct val="100000"/>
              </a:lnSpc>
            </a:pPr>
            <a:r>
              <a:rPr lang="en-US" sz="1500" dirty="0">
                <a:latin typeface="Consolas" panose="020B0609020204030204" pitchFamily="49" charset="0"/>
              </a:rPr>
              <a:t>	</a:t>
            </a:r>
            <a:r>
              <a:rPr lang="en-US" sz="1500" dirty="0">
                <a:solidFill>
                  <a:srgbClr val="C00000"/>
                </a:solidFill>
                <a:highlight>
                  <a:srgbClr val="FFFF00"/>
                </a:highlight>
                <a:latin typeface="Consolas" panose="020B0609020204030204" pitchFamily="49" charset="0"/>
              </a:rPr>
              <a:t>double </a:t>
            </a:r>
            <a:r>
              <a:rPr lang="en-US" sz="1500" dirty="0" err="1">
                <a:solidFill>
                  <a:srgbClr val="C00000"/>
                </a:solidFill>
                <a:highlight>
                  <a:srgbClr val="FFFF00"/>
                </a:highlight>
                <a:latin typeface="Consolas" panose="020B0609020204030204" pitchFamily="49" charset="0"/>
              </a:rPr>
              <a:t>val</a:t>
            </a:r>
            <a:r>
              <a:rPr lang="en-US" sz="1500" dirty="0">
                <a:solidFill>
                  <a:srgbClr val="C00000"/>
                </a:solidFill>
                <a:highlight>
                  <a:srgbClr val="FFFF00"/>
                </a:highlight>
                <a:latin typeface="Consolas" panose="020B0609020204030204" pitchFamily="49" charset="0"/>
              </a:rPr>
              <a:t> = 0;</a:t>
            </a:r>
          </a:p>
          <a:p>
            <a:pPr algn="l">
              <a:lnSpc>
                <a:spcPct val="100000"/>
              </a:lnSpc>
            </a:pPr>
            <a:r>
              <a:rPr lang="en-US" sz="1500" dirty="0">
                <a:latin typeface="Consolas" panose="020B0609020204030204" pitchFamily="49" charset="0"/>
              </a:rPr>
              <a:t>	for (j = 0; j &lt; n; j++)</a:t>
            </a:r>
          </a:p>
          <a:p>
            <a:pPr algn="l">
              <a:lnSpc>
                <a:spcPct val="100000"/>
              </a:lnSpc>
            </a:pPr>
            <a:r>
              <a:rPr lang="en-US" sz="1500" dirty="0">
                <a:latin typeface="Consolas" panose="020B0609020204030204" pitchFamily="49" charset="0"/>
              </a:rPr>
              <a:t>	    </a:t>
            </a:r>
            <a:r>
              <a:rPr lang="en-US" sz="1500" dirty="0" err="1">
                <a:solidFill>
                  <a:srgbClr val="C00000"/>
                </a:solidFill>
                <a:highlight>
                  <a:srgbClr val="FFFF00"/>
                </a:highlight>
                <a:latin typeface="Consolas" panose="020B0609020204030204" pitchFamily="49" charset="0"/>
              </a:rPr>
              <a:t>val</a:t>
            </a:r>
            <a:r>
              <a:rPr lang="en-US" sz="1500" dirty="0">
                <a:solidFill>
                  <a:srgbClr val="C00000"/>
                </a:solidFill>
                <a:highlight>
                  <a:srgbClr val="FFFF00"/>
                </a:highlight>
                <a:latin typeface="Consolas" panose="020B0609020204030204" pitchFamily="49" charset="0"/>
              </a:rPr>
              <a:t> += a[</a:t>
            </a:r>
            <a:r>
              <a:rPr lang="en-US" sz="1500" dirty="0" err="1">
                <a:solidFill>
                  <a:srgbClr val="C00000"/>
                </a:solidFill>
                <a:highlight>
                  <a:srgbClr val="FFFF00"/>
                </a:highlight>
                <a:latin typeface="Consolas" panose="020B0609020204030204" pitchFamily="49" charset="0"/>
              </a:rPr>
              <a:t>i</a:t>
            </a:r>
            <a:r>
              <a:rPr lang="en-US" sz="1500" dirty="0">
                <a:solidFill>
                  <a:srgbClr val="C00000"/>
                </a:solidFill>
                <a:highlight>
                  <a:srgbClr val="FFFF00"/>
                </a:highlight>
                <a:latin typeface="Consolas" panose="020B0609020204030204" pitchFamily="49" charset="0"/>
              </a:rPr>
              <a:t>*n + j];</a:t>
            </a:r>
          </a:p>
          <a:p>
            <a:pPr algn="l">
              <a:lnSpc>
                <a:spcPct val="100000"/>
              </a:lnSpc>
            </a:pPr>
            <a:r>
              <a:rPr lang="en-US" sz="1500" dirty="0">
                <a:solidFill>
                  <a:schemeClr val="accent2"/>
                </a:solidFill>
                <a:latin typeface="Consolas" panose="020B0609020204030204" pitchFamily="49" charset="0"/>
              </a:rPr>
              <a:t>	</a:t>
            </a:r>
            <a:r>
              <a:rPr lang="en-US" sz="1500" dirty="0">
                <a:solidFill>
                  <a:srgbClr val="C00000"/>
                </a:solidFill>
                <a:highlight>
                  <a:srgbClr val="FFFF00"/>
                </a:highlight>
                <a:latin typeface="Consolas" panose="020B0609020204030204" pitchFamily="49" charset="0"/>
              </a:rPr>
              <a:t>b[</a:t>
            </a:r>
            <a:r>
              <a:rPr lang="en-US" sz="1500" dirty="0" err="1">
                <a:solidFill>
                  <a:srgbClr val="C00000"/>
                </a:solidFill>
                <a:highlight>
                  <a:srgbClr val="FFFF00"/>
                </a:highlight>
                <a:latin typeface="Consolas" panose="020B0609020204030204" pitchFamily="49" charset="0"/>
              </a:rPr>
              <a:t>i</a:t>
            </a:r>
            <a:r>
              <a:rPr lang="en-US" sz="1500" dirty="0">
                <a:solidFill>
                  <a:srgbClr val="C00000"/>
                </a:solidFill>
                <a:highlight>
                  <a:srgbClr val="FFFF00"/>
                </a:highlight>
                <a:latin typeface="Consolas" panose="020B0609020204030204" pitchFamily="49" charset="0"/>
              </a:rPr>
              <a:t>] = </a:t>
            </a:r>
            <a:r>
              <a:rPr lang="en-US" sz="1500" dirty="0" err="1">
                <a:solidFill>
                  <a:srgbClr val="C00000"/>
                </a:solidFill>
                <a:highlight>
                  <a:srgbClr val="FFFF00"/>
                </a:highlight>
                <a:latin typeface="Consolas" panose="020B0609020204030204" pitchFamily="49" charset="0"/>
              </a:rPr>
              <a:t>val</a:t>
            </a:r>
            <a:r>
              <a:rPr lang="en-US" sz="1500" dirty="0">
                <a:solidFill>
                  <a:srgbClr val="C00000"/>
                </a:solidFill>
                <a:highlight>
                  <a:srgbClr val="FFFF00"/>
                </a:highlight>
                <a:latin typeface="Consolas" panose="020B0609020204030204" pitchFamily="49" charset="0"/>
              </a:rPr>
              <a:t>;</a:t>
            </a:r>
          </a:p>
          <a:p>
            <a:pPr algn="l">
              <a:lnSpc>
                <a:spcPct val="100000"/>
              </a:lnSpc>
            </a:pPr>
            <a:r>
              <a:rPr lang="en-US" sz="1500" dirty="0">
                <a:latin typeface="Consolas" panose="020B0609020204030204" pitchFamily="49" charset="0"/>
              </a:rPr>
              <a:t>    }}</a:t>
            </a:r>
          </a:p>
        </p:txBody>
      </p:sp>
      <p:sp>
        <p:nvSpPr>
          <p:cNvPr id="11" name="Title 1">
            <a:extLst>
              <a:ext uri="{FF2B5EF4-FFF2-40B4-BE49-F238E27FC236}">
                <a16:creationId xmlns:a16="http://schemas.microsoft.com/office/drawing/2014/main" id="{EC7C4254-6839-44F0-8952-C8A54AF2AE7F}"/>
              </a:ext>
            </a:extLst>
          </p:cNvPr>
          <p:cNvSpPr txBox="1">
            <a:spLocks/>
          </p:cNvSpPr>
          <p:nvPr/>
        </p:nvSpPr>
        <p:spPr bwMode="auto">
          <a:xfrm>
            <a:off x="1360885" y="0"/>
            <a:ext cx="5694070" cy="571500"/>
          </a:xfrm>
          <a:prstGeom prst="rect">
            <a:avLst/>
          </a:prstGeom>
          <a:noFill/>
          <a:ln w="9525">
            <a:noFill/>
            <a:miter lim="800000"/>
            <a:headEnd/>
            <a:tailEnd/>
          </a:ln>
        </p:spPr>
        <p:txBody>
          <a:bodyPr vert="horz" wrap="square" lIns="68580" tIns="34290" rIns="68580" bIns="34290" numCol="1" anchor="ctr" anchorCtr="0" compatLnSpc="1">
            <a:prstTxWarp prst="textNoShape">
              <a:avLst/>
            </a:prstTxWarp>
          </a:bodyPr>
          <a:lstStyle>
            <a:lvl1pPr marL="119063" indent="-119063" algn="l" rtl="0" eaLnBrk="1" fontAlgn="base" hangingPunct="1">
              <a:spcBef>
                <a:spcPct val="0"/>
              </a:spcBef>
              <a:spcAft>
                <a:spcPct val="0"/>
              </a:spcAft>
              <a:defRPr sz="3600" b="1">
                <a:solidFill>
                  <a:schemeClr val="tx1"/>
                </a:solidFill>
                <a:latin typeface="Calibri" pitchFamily="34" charset="0"/>
                <a:ea typeface="+mj-ea"/>
                <a:cs typeface="+mj-cs"/>
              </a:defRPr>
            </a:lvl1pPr>
            <a:lvl2pPr marL="119063" indent="-119063" algn="l" rtl="0" eaLnBrk="1" fontAlgn="base" hangingPunct="1">
              <a:spcBef>
                <a:spcPct val="0"/>
              </a:spcBef>
              <a:spcAft>
                <a:spcPct val="0"/>
              </a:spcAft>
              <a:defRPr sz="3600" b="1">
                <a:solidFill>
                  <a:schemeClr val="tx1"/>
                </a:solidFill>
                <a:latin typeface="Arial Narrow" pitchFamily="34" charset="0"/>
              </a:defRPr>
            </a:lvl2pPr>
            <a:lvl3pPr marL="119063" indent="-119063" algn="l" rtl="0" eaLnBrk="1" fontAlgn="base" hangingPunct="1">
              <a:spcBef>
                <a:spcPct val="0"/>
              </a:spcBef>
              <a:spcAft>
                <a:spcPct val="0"/>
              </a:spcAft>
              <a:defRPr sz="3600" b="1">
                <a:solidFill>
                  <a:schemeClr val="tx1"/>
                </a:solidFill>
                <a:latin typeface="Arial Narrow" pitchFamily="34" charset="0"/>
              </a:defRPr>
            </a:lvl3pPr>
            <a:lvl4pPr marL="119063" indent="-119063" algn="l" rtl="0" eaLnBrk="1" fontAlgn="base" hangingPunct="1">
              <a:spcBef>
                <a:spcPct val="0"/>
              </a:spcBef>
              <a:spcAft>
                <a:spcPct val="0"/>
              </a:spcAft>
              <a:defRPr sz="3600" b="1">
                <a:solidFill>
                  <a:schemeClr val="tx1"/>
                </a:solidFill>
                <a:latin typeface="Arial Narrow" pitchFamily="34" charset="0"/>
              </a:defRPr>
            </a:lvl4pPr>
            <a:lvl5pPr marL="119063" indent="-119063" algn="l" rtl="0" eaLnBrk="1" fontAlgn="base" hangingPunct="1">
              <a:spcBef>
                <a:spcPct val="0"/>
              </a:spcBef>
              <a:spcAft>
                <a:spcPct val="0"/>
              </a:spcAft>
              <a:defRPr sz="3600" b="1">
                <a:solidFill>
                  <a:schemeClr val="tx1"/>
                </a:solidFill>
                <a:latin typeface="Arial Narrow" pitchFamily="34" charset="0"/>
              </a:defRPr>
            </a:lvl5pPr>
            <a:lvl6pPr marL="576263" algn="l" rtl="0" eaLnBrk="1" fontAlgn="base" hangingPunct="1">
              <a:spcBef>
                <a:spcPct val="0"/>
              </a:spcBef>
              <a:spcAft>
                <a:spcPct val="0"/>
              </a:spcAft>
              <a:defRPr sz="3600" b="1">
                <a:solidFill>
                  <a:schemeClr val="tx1"/>
                </a:solidFill>
                <a:latin typeface="Arial Narrow" pitchFamily="34" charset="0"/>
              </a:defRPr>
            </a:lvl6pPr>
            <a:lvl7pPr marL="1033463" algn="l" rtl="0" eaLnBrk="1" fontAlgn="base" hangingPunct="1">
              <a:spcBef>
                <a:spcPct val="0"/>
              </a:spcBef>
              <a:spcAft>
                <a:spcPct val="0"/>
              </a:spcAft>
              <a:defRPr sz="3600" b="1">
                <a:solidFill>
                  <a:schemeClr val="tx1"/>
                </a:solidFill>
                <a:latin typeface="Arial Narrow" pitchFamily="34" charset="0"/>
              </a:defRPr>
            </a:lvl7pPr>
            <a:lvl8pPr marL="1490663" algn="l" rtl="0" eaLnBrk="1" fontAlgn="base" hangingPunct="1">
              <a:spcBef>
                <a:spcPct val="0"/>
              </a:spcBef>
              <a:spcAft>
                <a:spcPct val="0"/>
              </a:spcAft>
              <a:defRPr sz="3600" b="1">
                <a:solidFill>
                  <a:schemeClr val="tx1"/>
                </a:solidFill>
                <a:latin typeface="Arial Narrow" pitchFamily="34" charset="0"/>
              </a:defRPr>
            </a:lvl8pPr>
            <a:lvl9pPr marL="1947863" algn="l" rtl="0" eaLnBrk="1" fontAlgn="base" hangingPunct="1">
              <a:spcBef>
                <a:spcPct val="0"/>
              </a:spcBef>
              <a:spcAft>
                <a:spcPct val="0"/>
              </a:spcAft>
              <a:defRPr sz="3600" b="1">
                <a:solidFill>
                  <a:schemeClr val="tx1"/>
                </a:solidFill>
                <a:latin typeface="Arial Narrow" pitchFamily="34" charset="0"/>
              </a:defRPr>
            </a:lvl9pPr>
          </a:lstStyle>
          <a:p>
            <a:r>
              <a:rPr lang="en-US" sz="2700" kern="0" dirty="0"/>
              <a:t>Avoiding Aliasing Penalties</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566B7-543B-4262-9F9B-7887382F1823}"/>
              </a:ext>
            </a:extLst>
          </p:cNvPr>
          <p:cNvSpPr>
            <a:spLocks noGrp="1"/>
          </p:cNvSpPr>
          <p:nvPr>
            <p:ph type="title"/>
          </p:nvPr>
        </p:nvSpPr>
        <p:spPr>
          <a:xfrm>
            <a:off x="1007269" y="125191"/>
            <a:ext cx="6593681" cy="571500"/>
          </a:xfrm>
        </p:spPr>
        <p:txBody>
          <a:bodyPr/>
          <a:lstStyle/>
          <a:p>
            <a:r>
              <a:rPr lang="en-US" dirty="0"/>
              <a:t>Can’t move function calls out of loops</a:t>
            </a:r>
          </a:p>
        </p:txBody>
      </p:sp>
      <p:sp>
        <p:nvSpPr>
          <p:cNvPr id="73" name="Content Placeholder 3">
            <a:extLst>
              <a:ext uri="{FF2B5EF4-FFF2-40B4-BE49-F238E27FC236}">
                <a16:creationId xmlns:a16="http://schemas.microsoft.com/office/drawing/2014/main" id="{6E22570B-08D6-49BA-8CC0-8574B8883A99}"/>
              </a:ext>
            </a:extLst>
          </p:cNvPr>
          <p:cNvSpPr>
            <a:spLocks noGrp="1"/>
          </p:cNvSpPr>
          <p:nvPr>
            <p:ph sz="half" idx="1"/>
          </p:nvPr>
        </p:nvSpPr>
        <p:spPr>
          <a:xfrm>
            <a:off x="804672" y="794784"/>
            <a:ext cx="3628339" cy="3843557"/>
          </a:xfrm>
        </p:spPr>
        <p:txBody>
          <a:bodyPr>
            <a:noAutofit/>
          </a:bodyPr>
          <a:lstStyle/>
          <a:p>
            <a:pPr marL="0" indent="0">
              <a:buNone/>
              <a:tabLst>
                <a:tab pos="685800" algn="l"/>
                <a:tab pos="1714500" algn="l"/>
              </a:tabLst>
            </a:pPr>
            <a:r>
              <a:rPr lang="en-US" sz="1300" dirty="0">
                <a:latin typeface="Consolas" panose="020B0609020204030204" pitchFamily="49" charset="0"/>
              </a:rPr>
              <a:t>void </a:t>
            </a:r>
            <a:r>
              <a:rPr lang="en-US" sz="1300" dirty="0" err="1">
                <a:latin typeface="Consolas" panose="020B0609020204030204" pitchFamily="49" charset="0"/>
              </a:rPr>
              <a:t>lower_quadratic</a:t>
            </a:r>
            <a:r>
              <a:rPr lang="en-US" sz="1300" dirty="0">
                <a:latin typeface="Consolas" panose="020B0609020204030204" pitchFamily="49" charset="0"/>
              </a:rPr>
              <a:t>(char *s) {</a:t>
            </a:r>
          </a:p>
          <a:p>
            <a:pPr marL="0" indent="0">
              <a:buNone/>
              <a:tabLst>
                <a:tab pos="685800" algn="l"/>
                <a:tab pos="1714500" algn="l"/>
              </a:tabLst>
            </a:pPr>
            <a:r>
              <a:rPr lang="en-US" sz="1300" dirty="0">
                <a:latin typeface="Consolas" panose="020B0609020204030204" pitchFamily="49" charset="0"/>
              </a:rPr>
              <a:t>  </a:t>
            </a:r>
            <a:r>
              <a:rPr lang="en-US" sz="1300" dirty="0" err="1">
                <a:latin typeface="Consolas" panose="020B0609020204030204" pitchFamily="49" charset="0"/>
              </a:rPr>
              <a:t>size_t</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for (</a:t>
            </a:r>
            <a:r>
              <a:rPr lang="en-US" sz="1300" dirty="0" err="1">
                <a:latin typeface="Consolas" panose="020B0609020204030204" pitchFamily="49" charset="0"/>
              </a:rPr>
              <a:t>i</a:t>
            </a:r>
            <a:r>
              <a:rPr lang="en-US" sz="1300" dirty="0">
                <a:latin typeface="Consolas" panose="020B0609020204030204" pitchFamily="49" charset="0"/>
              </a:rPr>
              <a:t> = 0; </a:t>
            </a:r>
            <a:r>
              <a:rPr lang="en-US" sz="1300" dirty="0" err="1">
                <a:latin typeface="Consolas" panose="020B0609020204030204" pitchFamily="49" charset="0"/>
              </a:rPr>
              <a:t>i</a:t>
            </a:r>
            <a:r>
              <a:rPr lang="en-US" sz="1300" dirty="0">
                <a:latin typeface="Consolas" panose="020B0609020204030204" pitchFamily="49" charset="0"/>
              </a:rPr>
              <a:t> &lt; </a:t>
            </a:r>
            <a:r>
              <a:rPr lang="en-US" sz="1300" dirty="0" err="1">
                <a:solidFill>
                  <a:srgbClr val="FF0000"/>
                </a:solidFill>
                <a:latin typeface="Consolas" panose="020B0609020204030204" pitchFamily="49" charset="0"/>
              </a:rPr>
              <a:t>strlen</a:t>
            </a:r>
            <a:r>
              <a:rPr lang="en-US" sz="1300" dirty="0">
                <a:solidFill>
                  <a:srgbClr val="FF0000"/>
                </a:solidFill>
                <a:latin typeface="Consolas" panose="020B0609020204030204" pitchFamily="49" charset="0"/>
              </a:rPr>
              <a:t>(s)</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if (s[</a:t>
            </a:r>
            <a:r>
              <a:rPr lang="en-US" sz="1300" dirty="0" err="1">
                <a:latin typeface="Consolas" panose="020B0609020204030204" pitchFamily="49" charset="0"/>
              </a:rPr>
              <a:t>i</a:t>
            </a:r>
            <a:r>
              <a:rPr lang="en-US" sz="1300" dirty="0">
                <a:latin typeface="Consolas" panose="020B0609020204030204" pitchFamily="49" charset="0"/>
              </a:rPr>
              <a:t>] &gt;= 'A' &amp;&amp; s[</a:t>
            </a:r>
            <a:r>
              <a:rPr lang="en-US" sz="1300" dirty="0" err="1">
                <a:latin typeface="Consolas" panose="020B0609020204030204" pitchFamily="49" charset="0"/>
              </a:rPr>
              <a:t>i</a:t>
            </a:r>
            <a:r>
              <a:rPr lang="en-US" sz="1300" dirty="0">
                <a:latin typeface="Consolas" panose="020B0609020204030204" pitchFamily="49" charset="0"/>
              </a:rPr>
              <a:t>] &lt;= 'Z')</a:t>
            </a:r>
          </a:p>
          <a:p>
            <a:pPr marL="0" indent="0">
              <a:buNone/>
              <a:tabLst>
                <a:tab pos="685800" algn="l"/>
                <a:tab pos="1714500" algn="l"/>
              </a:tabLst>
            </a:pPr>
            <a:r>
              <a:rPr lang="en-US" sz="1300" dirty="0">
                <a:latin typeface="Consolas" panose="020B0609020204030204" pitchFamily="49" charset="0"/>
              </a:rPr>
              <a:t>      s[</a:t>
            </a:r>
            <a:r>
              <a:rPr lang="en-US" sz="1300" dirty="0" err="1">
                <a:latin typeface="Consolas" panose="020B0609020204030204" pitchFamily="49" charset="0"/>
              </a:rPr>
              <a:t>i</a:t>
            </a:r>
            <a:r>
              <a:rPr lang="en-US" sz="1300" dirty="0">
                <a:latin typeface="Consolas" panose="020B0609020204030204" pitchFamily="49" charset="0"/>
              </a:rPr>
              <a:t>] += 'a' - 'A';}</a:t>
            </a:r>
          </a:p>
          <a:p>
            <a:pPr marL="0" indent="0">
              <a:buNone/>
              <a:tabLst>
                <a:tab pos="685800" algn="l"/>
                <a:tab pos="1714500" algn="l"/>
              </a:tabLst>
            </a:pPr>
            <a:r>
              <a:rPr lang="en-US" sz="1300" dirty="0">
                <a:latin typeface="Consolas" panose="020B0609020204030204" pitchFamily="49" charset="0"/>
              </a:rPr>
              <a:t>void </a:t>
            </a:r>
            <a:r>
              <a:rPr lang="en-US" sz="1300" dirty="0" err="1">
                <a:latin typeface="Consolas" panose="020B0609020204030204" pitchFamily="49" charset="0"/>
              </a:rPr>
              <a:t>lower_still_quadratic</a:t>
            </a:r>
            <a:r>
              <a:rPr lang="en-US" sz="1300" dirty="0">
                <a:latin typeface="Consolas" panose="020B0609020204030204" pitchFamily="49" charset="0"/>
              </a:rPr>
              <a:t>(char *s) {</a:t>
            </a:r>
          </a:p>
          <a:p>
            <a:pPr marL="0" indent="0">
              <a:buNone/>
              <a:tabLst>
                <a:tab pos="685800" algn="l"/>
                <a:tab pos="1714500" algn="l"/>
              </a:tabLst>
            </a:pPr>
            <a:r>
              <a:rPr lang="en-US" sz="1300" dirty="0">
                <a:latin typeface="Consolas" panose="020B0609020204030204" pitchFamily="49" charset="0"/>
              </a:rPr>
              <a:t>  </a:t>
            </a:r>
            <a:r>
              <a:rPr lang="en-US" sz="1300" dirty="0" err="1">
                <a:latin typeface="Consolas" panose="020B0609020204030204" pitchFamily="49" charset="0"/>
              </a:rPr>
              <a:t>size_t</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 </a:t>
            </a:r>
            <a:r>
              <a:rPr lang="en-US" sz="1300" dirty="0">
                <a:solidFill>
                  <a:schemeClr val="accent6">
                    <a:lumMod val="75000"/>
                  </a:schemeClr>
                </a:solidFill>
                <a:latin typeface="Consolas" panose="020B0609020204030204" pitchFamily="49" charset="0"/>
              </a:rPr>
              <a:t>n = </a:t>
            </a:r>
            <a:r>
              <a:rPr lang="en-US" sz="1300" dirty="0" err="1">
                <a:solidFill>
                  <a:schemeClr val="accent6">
                    <a:lumMod val="75000"/>
                  </a:schemeClr>
                </a:solidFill>
                <a:latin typeface="Consolas" panose="020B0609020204030204" pitchFamily="49" charset="0"/>
              </a:rPr>
              <a:t>strlen</a:t>
            </a:r>
            <a:r>
              <a:rPr lang="en-US" sz="1300" dirty="0">
                <a:solidFill>
                  <a:schemeClr val="accent6">
                    <a:lumMod val="75000"/>
                  </a:schemeClr>
                </a:solidFill>
                <a:latin typeface="Consolas" panose="020B0609020204030204" pitchFamily="49" charset="0"/>
              </a:rPr>
              <a:t>(s)</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for (</a:t>
            </a:r>
            <a:r>
              <a:rPr lang="en-US" sz="1300" dirty="0" err="1">
                <a:latin typeface="Consolas" panose="020B0609020204030204" pitchFamily="49" charset="0"/>
              </a:rPr>
              <a:t>i</a:t>
            </a:r>
            <a:r>
              <a:rPr lang="en-US" sz="1300" dirty="0">
                <a:latin typeface="Consolas" panose="020B0609020204030204" pitchFamily="49" charset="0"/>
              </a:rPr>
              <a:t> = 0; </a:t>
            </a:r>
            <a:r>
              <a:rPr lang="en-US" sz="1300" dirty="0" err="1">
                <a:latin typeface="Consolas" panose="020B0609020204030204" pitchFamily="49" charset="0"/>
              </a:rPr>
              <a:t>i</a:t>
            </a:r>
            <a:r>
              <a:rPr lang="en-US" sz="1300" dirty="0">
                <a:latin typeface="Consolas" panose="020B0609020204030204" pitchFamily="49" charset="0"/>
              </a:rPr>
              <a:t> &lt; </a:t>
            </a:r>
            <a:r>
              <a:rPr lang="en-US" sz="1300" dirty="0">
                <a:solidFill>
                  <a:schemeClr val="accent6">
                    <a:lumMod val="75000"/>
                  </a:schemeClr>
                </a:solidFill>
                <a:latin typeface="Consolas" panose="020B0609020204030204" pitchFamily="49" charset="0"/>
              </a:rPr>
              <a:t>n</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if (s[</a:t>
            </a:r>
            <a:r>
              <a:rPr lang="en-US" sz="1300" dirty="0" err="1">
                <a:latin typeface="Consolas" panose="020B0609020204030204" pitchFamily="49" charset="0"/>
              </a:rPr>
              <a:t>i</a:t>
            </a:r>
            <a:r>
              <a:rPr lang="en-US" sz="1300" dirty="0">
                <a:latin typeface="Consolas" panose="020B0609020204030204" pitchFamily="49" charset="0"/>
              </a:rPr>
              <a:t>] &gt;= 'A' &amp;&amp; s[</a:t>
            </a:r>
            <a:r>
              <a:rPr lang="en-US" sz="1300" dirty="0" err="1">
                <a:latin typeface="Consolas" panose="020B0609020204030204" pitchFamily="49" charset="0"/>
              </a:rPr>
              <a:t>i</a:t>
            </a:r>
            <a:r>
              <a:rPr lang="en-US" sz="1300" dirty="0">
                <a:latin typeface="Consolas" panose="020B0609020204030204" pitchFamily="49" charset="0"/>
              </a:rPr>
              <a:t>] &lt;= 'Z') {</a:t>
            </a:r>
          </a:p>
          <a:p>
            <a:pPr marL="0" indent="0">
              <a:buNone/>
              <a:tabLst>
                <a:tab pos="685800" algn="l"/>
                <a:tab pos="1714500" algn="l"/>
              </a:tabLst>
            </a:pPr>
            <a:r>
              <a:rPr lang="en-US" sz="1300" dirty="0">
                <a:latin typeface="Consolas" panose="020B0609020204030204" pitchFamily="49" charset="0"/>
              </a:rPr>
              <a:t>      s[</a:t>
            </a:r>
            <a:r>
              <a:rPr lang="en-US" sz="1300" dirty="0" err="1">
                <a:latin typeface="Consolas" panose="020B0609020204030204" pitchFamily="49" charset="0"/>
              </a:rPr>
              <a:t>i</a:t>
            </a:r>
            <a:r>
              <a:rPr lang="en-US" sz="1300" dirty="0">
                <a:latin typeface="Consolas" panose="020B0609020204030204" pitchFamily="49" charset="0"/>
              </a:rPr>
              <a:t>] += 'a' - 'A';</a:t>
            </a:r>
          </a:p>
          <a:p>
            <a:pPr marL="0" indent="0">
              <a:buNone/>
              <a:tabLst>
                <a:tab pos="685800" algn="l"/>
                <a:tab pos="1714500" algn="l"/>
              </a:tabLst>
            </a:pPr>
            <a:r>
              <a:rPr lang="en-US" sz="1300" dirty="0">
                <a:latin typeface="Consolas" panose="020B0609020204030204" pitchFamily="49" charset="0"/>
              </a:rPr>
              <a:t>      </a:t>
            </a:r>
            <a:r>
              <a:rPr lang="en-US" sz="1300" dirty="0">
                <a:solidFill>
                  <a:schemeClr val="accent6">
                    <a:lumMod val="75000"/>
                  </a:schemeClr>
                </a:solidFill>
                <a:latin typeface="Consolas" panose="020B0609020204030204" pitchFamily="49" charset="0"/>
              </a:rPr>
              <a:t>n = </a:t>
            </a:r>
            <a:r>
              <a:rPr lang="en-US" sz="1300" dirty="0" err="1">
                <a:solidFill>
                  <a:schemeClr val="accent6">
                    <a:lumMod val="75000"/>
                  </a:schemeClr>
                </a:solidFill>
                <a:latin typeface="Consolas" panose="020B0609020204030204" pitchFamily="49" charset="0"/>
              </a:rPr>
              <a:t>strlen</a:t>
            </a:r>
            <a:r>
              <a:rPr lang="en-US" sz="1300" dirty="0">
                <a:solidFill>
                  <a:schemeClr val="accent6">
                    <a:lumMod val="75000"/>
                  </a:schemeClr>
                </a:solidFill>
                <a:latin typeface="Consolas" panose="020B0609020204030204" pitchFamily="49" charset="0"/>
              </a:rPr>
              <a:t>(s);</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void </a:t>
            </a:r>
            <a:r>
              <a:rPr lang="en-US" sz="1300" dirty="0" err="1">
                <a:latin typeface="Consolas" panose="020B0609020204030204" pitchFamily="49" charset="0"/>
              </a:rPr>
              <a:t>lower_linear</a:t>
            </a:r>
            <a:r>
              <a:rPr lang="en-US" sz="1300" dirty="0">
                <a:latin typeface="Consolas" panose="020B0609020204030204" pitchFamily="49" charset="0"/>
              </a:rPr>
              <a:t>(char *s) {</a:t>
            </a:r>
          </a:p>
          <a:p>
            <a:pPr marL="0" indent="0">
              <a:buNone/>
              <a:tabLst>
                <a:tab pos="685800" algn="l"/>
                <a:tab pos="1714500" algn="l"/>
              </a:tabLst>
            </a:pPr>
            <a:r>
              <a:rPr lang="en-US" sz="1300" dirty="0">
                <a:latin typeface="Consolas" panose="020B0609020204030204" pitchFamily="49" charset="0"/>
              </a:rPr>
              <a:t>  </a:t>
            </a:r>
            <a:r>
              <a:rPr lang="en-US" sz="1300" dirty="0" err="1">
                <a:latin typeface="Consolas" panose="020B0609020204030204" pitchFamily="49" charset="0"/>
              </a:rPr>
              <a:t>size_t</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 </a:t>
            </a:r>
            <a:r>
              <a:rPr lang="en-US" sz="1300" dirty="0">
                <a:solidFill>
                  <a:schemeClr val="accent1">
                    <a:lumMod val="50000"/>
                  </a:schemeClr>
                </a:solidFill>
                <a:latin typeface="Consolas" panose="020B0609020204030204" pitchFamily="49" charset="0"/>
              </a:rPr>
              <a:t>n = </a:t>
            </a:r>
            <a:r>
              <a:rPr lang="en-US" sz="1300" dirty="0" err="1">
                <a:solidFill>
                  <a:schemeClr val="accent1">
                    <a:lumMod val="50000"/>
                  </a:schemeClr>
                </a:solidFill>
                <a:latin typeface="Consolas" panose="020B0609020204030204" pitchFamily="49" charset="0"/>
              </a:rPr>
              <a:t>strlen</a:t>
            </a:r>
            <a:r>
              <a:rPr lang="en-US" sz="1300" dirty="0">
                <a:solidFill>
                  <a:schemeClr val="accent1">
                    <a:lumMod val="50000"/>
                  </a:schemeClr>
                </a:solidFill>
                <a:latin typeface="Consolas" panose="020B0609020204030204" pitchFamily="49" charset="0"/>
              </a:rPr>
              <a:t>(s)</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for (</a:t>
            </a:r>
            <a:r>
              <a:rPr lang="en-US" sz="1300" dirty="0" err="1">
                <a:latin typeface="Consolas" panose="020B0609020204030204" pitchFamily="49" charset="0"/>
              </a:rPr>
              <a:t>i</a:t>
            </a:r>
            <a:r>
              <a:rPr lang="en-US" sz="1300" dirty="0">
                <a:latin typeface="Consolas" panose="020B0609020204030204" pitchFamily="49" charset="0"/>
              </a:rPr>
              <a:t> = 0; </a:t>
            </a:r>
            <a:r>
              <a:rPr lang="en-US" sz="1300" dirty="0" err="1">
                <a:latin typeface="Consolas" panose="020B0609020204030204" pitchFamily="49" charset="0"/>
              </a:rPr>
              <a:t>i</a:t>
            </a:r>
            <a:r>
              <a:rPr lang="en-US" sz="1300" dirty="0">
                <a:latin typeface="Consolas" panose="020B0609020204030204" pitchFamily="49" charset="0"/>
              </a:rPr>
              <a:t> &lt; </a:t>
            </a:r>
            <a:r>
              <a:rPr lang="en-US" sz="1300" dirty="0">
                <a:solidFill>
                  <a:schemeClr val="accent1">
                    <a:lumMod val="50000"/>
                  </a:schemeClr>
                </a:solidFill>
                <a:latin typeface="Consolas" panose="020B0609020204030204" pitchFamily="49" charset="0"/>
              </a:rPr>
              <a:t>n</a:t>
            </a:r>
            <a:r>
              <a:rPr lang="en-US" sz="1300" dirty="0">
                <a:latin typeface="Consolas" panose="020B0609020204030204" pitchFamily="49" charset="0"/>
              </a:rPr>
              <a:t>; </a:t>
            </a:r>
            <a:r>
              <a:rPr lang="en-US" sz="1300" dirty="0" err="1">
                <a:latin typeface="Consolas" panose="020B0609020204030204" pitchFamily="49" charset="0"/>
              </a:rPr>
              <a:t>i</a:t>
            </a:r>
            <a:r>
              <a:rPr lang="en-US" sz="1300" dirty="0">
                <a:latin typeface="Consolas" panose="020B0609020204030204" pitchFamily="49" charset="0"/>
              </a:rPr>
              <a:t>++)</a:t>
            </a:r>
          </a:p>
          <a:p>
            <a:pPr marL="0" indent="0">
              <a:buNone/>
              <a:tabLst>
                <a:tab pos="685800" algn="l"/>
                <a:tab pos="1714500" algn="l"/>
              </a:tabLst>
            </a:pPr>
            <a:r>
              <a:rPr lang="en-US" sz="1300" dirty="0">
                <a:latin typeface="Consolas" panose="020B0609020204030204" pitchFamily="49" charset="0"/>
              </a:rPr>
              <a:t>    if (s[</a:t>
            </a:r>
            <a:r>
              <a:rPr lang="en-US" sz="1300" dirty="0" err="1">
                <a:latin typeface="Consolas" panose="020B0609020204030204" pitchFamily="49" charset="0"/>
              </a:rPr>
              <a:t>i</a:t>
            </a:r>
            <a:r>
              <a:rPr lang="en-US" sz="1300" dirty="0">
                <a:latin typeface="Consolas" panose="020B0609020204030204" pitchFamily="49" charset="0"/>
              </a:rPr>
              <a:t>] &gt;= 'A' &amp;&amp; s[</a:t>
            </a:r>
            <a:r>
              <a:rPr lang="en-US" sz="1300" dirty="0" err="1">
                <a:latin typeface="Consolas" panose="020B0609020204030204" pitchFamily="49" charset="0"/>
              </a:rPr>
              <a:t>i</a:t>
            </a:r>
            <a:r>
              <a:rPr lang="en-US" sz="1300" dirty="0">
                <a:latin typeface="Consolas" panose="020B0609020204030204" pitchFamily="49" charset="0"/>
              </a:rPr>
              <a:t>] &lt;= 'Z')</a:t>
            </a:r>
          </a:p>
          <a:p>
            <a:pPr marL="0" indent="0">
              <a:buNone/>
              <a:tabLst>
                <a:tab pos="685800" algn="l"/>
                <a:tab pos="1714500" algn="l"/>
              </a:tabLst>
            </a:pPr>
            <a:r>
              <a:rPr lang="en-US" sz="1300" dirty="0">
                <a:latin typeface="Consolas" panose="020B0609020204030204" pitchFamily="49" charset="0"/>
              </a:rPr>
              <a:t>      s[</a:t>
            </a:r>
            <a:r>
              <a:rPr lang="en-US" sz="1300" dirty="0" err="1">
                <a:latin typeface="Consolas" panose="020B0609020204030204" pitchFamily="49" charset="0"/>
              </a:rPr>
              <a:t>i</a:t>
            </a:r>
            <a:r>
              <a:rPr lang="en-US" sz="1300" dirty="0">
                <a:latin typeface="Consolas" panose="020B0609020204030204" pitchFamily="49" charset="0"/>
              </a:rPr>
              <a:t>] += 'a' - 'A';}</a:t>
            </a:r>
          </a:p>
        </p:txBody>
      </p:sp>
      <p:pic>
        <p:nvPicPr>
          <p:cNvPr id="18" name="Content Placeholder 17">
            <a:extLst>
              <a:ext uri="{FF2B5EF4-FFF2-40B4-BE49-F238E27FC236}">
                <a16:creationId xmlns:a16="http://schemas.microsoft.com/office/drawing/2014/main" id="{2A3A14C8-B578-4EA5-857C-D540AB83030B}"/>
              </a:ext>
            </a:extLst>
          </p:cNvPr>
          <p:cNvPicPr>
            <a:picLocks noGrp="1" noChangeAspect="1"/>
          </p:cNvPicPr>
          <p:nvPr>
            <p:ph sz="half" idx="2"/>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9866" y="1371600"/>
            <a:ext cx="2900934" cy="2900934"/>
          </a:xfrm>
        </p:spPr>
      </p:pic>
      <p:sp>
        <p:nvSpPr>
          <p:cNvPr id="21" name="Rectangle 20">
            <a:extLst>
              <a:ext uri="{FF2B5EF4-FFF2-40B4-BE49-F238E27FC236}">
                <a16:creationId xmlns:a16="http://schemas.microsoft.com/office/drawing/2014/main" id="{22965A11-5865-4ED0-B348-32BDC3B495B0}"/>
              </a:ext>
            </a:extLst>
          </p:cNvPr>
          <p:cNvSpPr/>
          <p:nvPr/>
        </p:nvSpPr>
        <p:spPr bwMode="auto">
          <a:xfrm>
            <a:off x="4639866" y="1371600"/>
            <a:ext cx="2900934" cy="2900934"/>
          </a:xfrm>
          <a:prstGeom prst="rect">
            <a:avLst/>
          </a:prstGeom>
          <a:solidFill>
            <a:schemeClr val="bg1"/>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endParaRPr lang="en-US" sz="1350" dirty="0">
              <a:latin typeface="Calibri" pitchFamily="34" charset="0"/>
            </a:endParaRPr>
          </a:p>
        </p:txBody>
      </p:sp>
      <p:pic>
        <p:nvPicPr>
          <p:cNvPr id="20" name="Graphic 19">
            <a:extLst>
              <a:ext uri="{FF2B5EF4-FFF2-40B4-BE49-F238E27FC236}">
                <a16:creationId xmlns:a16="http://schemas.microsoft.com/office/drawing/2014/main" id="{EEC580FF-2B86-4AE3-86A0-C17623D90429}"/>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9866" y="1371600"/>
            <a:ext cx="2900934" cy="2900934"/>
          </a:xfrm>
          <a:prstGeom prst="rect">
            <a:avLst/>
          </a:prstGeom>
        </p:spPr>
      </p:pic>
      <p:sp>
        <p:nvSpPr>
          <p:cNvPr id="24" name="Rectangle 23">
            <a:extLst>
              <a:ext uri="{FF2B5EF4-FFF2-40B4-BE49-F238E27FC236}">
                <a16:creationId xmlns:a16="http://schemas.microsoft.com/office/drawing/2014/main" id="{FE9BA3E6-F4AA-46E8-BC53-615C766EA7AF}"/>
              </a:ext>
            </a:extLst>
          </p:cNvPr>
          <p:cNvSpPr/>
          <p:nvPr/>
        </p:nvSpPr>
        <p:spPr bwMode="auto">
          <a:xfrm>
            <a:off x="4639865" y="972922"/>
            <a:ext cx="3260551" cy="3555186"/>
          </a:xfrm>
          <a:prstGeom prst="rect">
            <a:avLst/>
          </a:prstGeom>
          <a:solidFill>
            <a:schemeClr val="bg1"/>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endParaRPr lang="en-US" sz="1350" dirty="0">
              <a:latin typeface="Calibri" pitchFamily="34" charset="0"/>
            </a:endParaRPr>
          </a:p>
        </p:txBody>
      </p:sp>
      <p:pic>
        <p:nvPicPr>
          <p:cNvPr id="23" name="Graphic 22">
            <a:extLst>
              <a:ext uri="{FF2B5EF4-FFF2-40B4-BE49-F238E27FC236}">
                <a16:creationId xmlns:a16="http://schemas.microsoft.com/office/drawing/2014/main" id="{7629DF32-AE1C-45A2-ADE8-190A4BC30D03}"/>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39865" y="1371600"/>
            <a:ext cx="2900934" cy="2900934"/>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3">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3">
                                            <p:txEl>
                                              <p:pRg st="10" end="10"/>
                                            </p:txEl>
                                          </p:spTgt>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73">
                                            <p:txEl>
                                              <p:pRg st="11" end="11"/>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3">
                                            <p:txEl>
                                              <p:pRg st="12" end="12"/>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73">
                                            <p:txEl>
                                              <p:pRg st="13" end="13"/>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73">
                                            <p:txEl>
                                              <p:pRg st="14" end="14"/>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73">
                                            <p:txEl>
                                              <p:pRg st="15" end="15"/>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4"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a:xfrm>
            <a:off x="1544902" y="95995"/>
            <a:ext cx="4396979" cy="429815"/>
          </a:xfrm>
        </p:spPr>
        <p:txBody>
          <a:bodyPr/>
          <a:lstStyle/>
          <a:p>
            <a:pPr eaLnBrk="1" hangingPunct="1">
              <a:defRPr/>
            </a:pPr>
            <a:r>
              <a:rPr lang="en-US" dirty="0"/>
              <a:t>Modern CPU Design</a:t>
            </a:r>
          </a:p>
        </p:txBody>
      </p:sp>
      <p:sp>
        <p:nvSpPr>
          <p:cNvPr id="421891" name="Rectangle 3"/>
          <p:cNvSpPr>
            <a:spLocks noChangeArrowheads="1"/>
          </p:cNvSpPr>
          <p:nvPr/>
        </p:nvSpPr>
        <p:spPr bwMode="auto">
          <a:xfrm>
            <a:off x="2299530" y="2628900"/>
            <a:ext cx="4882753" cy="2286000"/>
          </a:xfrm>
          <a:prstGeom prst="rect">
            <a:avLst/>
          </a:prstGeom>
          <a:solidFill>
            <a:schemeClr val="bg1">
              <a:lumMod val="95000"/>
            </a:schemeClr>
          </a:solidFill>
          <a:ln w="19050">
            <a:solidFill>
              <a:schemeClr val="tx1"/>
            </a:solidFill>
            <a:miter lim="800000"/>
            <a:headEnd/>
            <a:tailEnd/>
          </a:ln>
          <a:effectLst/>
        </p:spPr>
        <p:txBody>
          <a:bodyPr wrap="none" anchor="b" anchorCtr="0"/>
          <a:lstStyle/>
          <a:p>
            <a:pPr eaLnBrk="1" hangingPunct="1">
              <a:lnSpc>
                <a:spcPct val="100000"/>
              </a:lnSpc>
              <a:defRPr/>
            </a:pPr>
            <a:r>
              <a:rPr lang="en-US" sz="1350" i="1" dirty="0">
                <a:solidFill>
                  <a:schemeClr val="tx1">
                    <a:lumMod val="50000"/>
                    <a:lumOff val="50000"/>
                  </a:schemeClr>
                </a:solidFill>
                <a:latin typeface="Calibri" pitchFamily="34" charset="0"/>
              </a:rPr>
              <a:t>Execution</a:t>
            </a:r>
          </a:p>
        </p:txBody>
      </p:sp>
      <p:sp>
        <p:nvSpPr>
          <p:cNvPr id="11268" name="Rectangle 4"/>
          <p:cNvSpPr>
            <a:spLocks noChangeArrowheads="1"/>
          </p:cNvSpPr>
          <p:nvPr/>
        </p:nvSpPr>
        <p:spPr bwMode="auto">
          <a:xfrm>
            <a:off x="2686050" y="2925120"/>
            <a:ext cx="4279539" cy="571500"/>
          </a:xfrm>
          <a:prstGeom prst="rect">
            <a:avLst/>
          </a:prstGeom>
          <a:solidFill>
            <a:schemeClr val="bg1">
              <a:lumMod val="75000"/>
            </a:schemeClr>
          </a:solidFill>
          <a:ln w="9525">
            <a:solidFill>
              <a:schemeClr val="tx1"/>
            </a:solidFill>
            <a:miter lim="800000"/>
            <a:headEnd/>
            <a:tailEnd/>
          </a:ln>
        </p:spPr>
        <p:txBody>
          <a:bodyPr wrap="none" anchor="ctr"/>
          <a:lstStyle/>
          <a:p>
            <a:pPr algn="r" eaLnBrk="1" hangingPunct="1">
              <a:lnSpc>
                <a:spcPct val="100000"/>
              </a:lnSpc>
            </a:pPr>
            <a:r>
              <a:rPr lang="en-US" sz="1050" dirty="0">
                <a:latin typeface="Calibri" pitchFamily="34" charset="0"/>
              </a:rPr>
              <a:t>Functional</a:t>
            </a:r>
          </a:p>
          <a:p>
            <a:pPr algn="r" eaLnBrk="1" hangingPunct="1">
              <a:lnSpc>
                <a:spcPct val="100000"/>
              </a:lnSpc>
            </a:pPr>
            <a:r>
              <a:rPr lang="en-US" sz="1050" dirty="0">
                <a:latin typeface="Calibri" pitchFamily="34" charset="0"/>
              </a:rPr>
              <a:t>Units</a:t>
            </a:r>
          </a:p>
        </p:txBody>
      </p:sp>
      <p:sp>
        <p:nvSpPr>
          <p:cNvPr id="421893" name="Rectangle 5"/>
          <p:cNvSpPr>
            <a:spLocks noChangeArrowheads="1"/>
          </p:cNvSpPr>
          <p:nvPr/>
        </p:nvSpPr>
        <p:spPr bwMode="auto">
          <a:xfrm>
            <a:off x="2299530" y="914400"/>
            <a:ext cx="4882753" cy="1428750"/>
          </a:xfrm>
          <a:prstGeom prst="rect">
            <a:avLst/>
          </a:prstGeom>
          <a:solidFill>
            <a:schemeClr val="bg1">
              <a:lumMod val="95000"/>
            </a:schemeClr>
          </a:solidFill>
          <a:ln w="19050">
            <a:solidFill>
              <a:schemeClr val="tx1"/>
            </a:solidFill>
            <a:miter lim="800000"/>
            <a:headEnd/>
            <a:tailEnd/>
          </a:ln>
          <a:effectLst/>
        </p:spPr>
        <p:txBody>
          <a:bodyPr wrap="none" anchor="t" anchorCtr="0"/>
          <a:lstStyle/>
          <a:p>
            <a:pPr eaLnBrk="1" hangingPunct="1">
              <a:lnSpc>
                <a:spcPct val="100000"/>
              </a:lnSpc>
              <a:defRPr/>
            </a:pPr>
            <a:r>
              <a:rPr lang="en-US" sz="1350" i="1" dirty="0">
                <a:solidFill>
                  <a:schemeClr val="tx1">
                    <a:lumMod val="50000"/>
                    <a:lumOff val="50000"/>
                  </a:schemeClr>
                </a:solidFill>
                <a:latin typeface="Calibri" pitchFamily="34" charset="0"/>
              </a:rPr>
              <a:t>Instruction Control</a:t>
            </a:r>
          </a:p>
        </p:txBody>
      </p:sp>
      <p:sp>
        <p:nvSpPr>
          <p:cNvPr id="11270" name="Rectangle 6"/>
          <p:cNvSpPr>
            <a:spLocks noChangeArrowheads="1"/>
          </p:cNvSpPr>
          <p:nvPr/>
        </p:nvSpPr>
        <p:spPr bwMode="auto">
          <a:xfrm>
            <a:off x="2805546" y="3028950"/>
            <a:ext cx="507206"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Branch</a:t>
            </a:r>
          </a:p>
        </p:txBody>
      </p:sp>
      <p:sp>
        <p:nvSpPr>
          <p:cNvPr id="11271" name="Rectangle 7"/>
          <p:cNvSpPr>
            <a:spLocks noChangeArrowheads="1"/>
          </p:cNvSpPr>
          <p:nvPr/>
        </p:nvSpPr>
        <p:spPr bwMode="auto">
          <a:xfrm>
            <a:off x="3962833" y="3028950"/>
            <a:ext cx="507206"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err="1">
                <a:solidFill>
                  <a:schemeClr val="bg1"/>
                </a:solidFill>
                <a:latin typeface="Calibri" pitchFamily="34" charset="0"/>
              </a:rPr>
              <a:t>Arith</a:t>
            </a:r>
            <a:endParaRPr lang="en-US" sz="1050" dirty="0">
              <a:solidFill>
                <a:schemeClr val="bg1"/>
              </a:solidFill>
              <a:latin typeface="Calibri" pitchFamily="34" charset="0"/>
            </a:endParaRPr>
          </a:p>
        </p:txBody>
      </p:sp>
      <p:sp>
        <p:nvSpPr>
          <p:cNvPr id="11272" name="Rectangle 8"/>
          <p:cNvSpPr>
            <a:spLocks noChangeArrowheads="1"/>
          </p:cNvSpPr>
          <p:nvPr/>
        </p:nvSpPr>
        <p:spPr bwMode="auto">
          <a:xfrm>
            <a:off x="4542668" y="3028950"/>
            <a:ext cx="506015"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err="1">
                <a:solidFill>
                  <a:schemeClr val="bg1"/>
                </a:solidFill>
                <a:latin typeface="Calibri" pitchFamily="34" charset="0"/>
              </a:rPr>
              <a:t>Arith</a:t>
            </a:r>
            <a:endParaRPr lang="en-US" sz="1050" dirty="0">
              <a:solidFill>
                <a:schemeClr val="bg1"/>
              </a:solidFill>
              <a:latin typeface="Calibri" pitchFamily="34" charset="0"/>
            </a:endParaRPr>
          </a:p>
        </p:txBody>
      </p:sp>
      <p:sp>
        <p:nvSpPr>
          <p:cNvPr id="11273" name="Rectangle 9"/>
          <p:cNvSpPr>
            <a:spLocks noChangeArrowheads="1"/>
          </p:cNvSpPr>
          <p:nvPr/>
        </p:nvSpPr>
        <p:spPr bwMode="auto">
          <a:xfrm>
            <a:off x="5120121" y="3028950"/>
            <a:ext cx="507206"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Load</a:t>
            </a:r>
          </a:p>
        </p:txBody>
      </p:sp>
      <p:sp>
        <p:nvSpPr>
          <p:cNvPr id="11274" name="Rectangle 10"/>
          <p:cNvSpPr>
            <a:spLocks noChangeArrowheads="1"/>
          </p:cNvSpPr>
          <p:nvPr/>
        </p:nvSpPr>
        <p:spPr bwMode="auto">
          <a:xfrm>
            <a:off x="5698765" y="3028950"/>
            <a:ext cx="507206" cy="342900"/>
          </a:xfrm>
          <a:prstGeom prst="rect">
            <a:avLst/>
          </a:prstGeom>
          <a:solidFill>
            <a:srgbClr val="8C4040"/>
          </a:solidFill>
          <a:ln w="9525">
            <a:solidFill>
              <a:schemeClr val="tx1"/>
            </a:solidFill>
            <a:miter lim="800000"/>
            <a:headEnd/>
            <a:tailEnd/>
          </a:ln>
        </p:spPr>
        <p:txBody>
          <a:bodyPr wrap="none" anchor="ctr"/>
          <a:lstStyle/>
          <a:p>
            <a:pPr algn="ctr" eaLnBrk="1" hangingPunct="1"/>
            <a:r>
              <a:rPr lang="en-US" sz="1050" dirty="0">
                <a:solidFill>
                  <a:schemeClr val="bg1"/>
                </a:solidFill>
                <a:latin typeface="Calibri" pitchFamily="34" charset="0"/>
              </a:rPr>
              <a:t>Store</a:t>
            </a:r>
          </a:p>
        </p:txBody>
      </p:sp>
      <p:sp>
        <p:nvSpPr>
          <p:cNvPr id="11275" name="Rectangle 11"/>
          <p:cNvSpPr>
            <a:spLocks noChangeArrowheads="1"/>
          </p:cNvSpPr>
          <p:nvPr/>
        </p:nvSpPr>
        <p:spPr bwMode="auto">
          <a:xfrm>
            <a:off x="5988087" y="1257300"/>
            <a:ext cx="977503" cy="85725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Instruction</a:t>
            </a:r>
          </a:p>
          <a:p>
            <a:pPr algn="ctr" eaLnBrk="1" hangingPunct="1">
              <a:lnSpc>
                <a:spcPct val="100000"/>
              </a:lnSpc>
            </a:pPr>
            <a:r>
              <a:rPr lang="en-US" sz="1050" dirty="0">
                <a:solidFill>
                  <a:schemeClr val="bg1"/>
                </a:solidFill>
                <a:latin typeface="Calibri" pitchFamily="34" charset="0"/>
              </a:rPr>
              <a:t>Cache</a:t>
            </a:r>
          </a:p>
        </p:txBody>
      </p:sp>
      <p:sp>
        <p:nvSpPr>
          <p:cNvPr id="11276" name="Rectangle 12"/>
          <p:cNvSpPr>
            <a:spLocks noChangeArrowheads="1"/>
          </p:cNvSpPr>
          <p:nvPr/>
        </p:nvSpPr>
        <p:spPr bwMode="auto">
          <a:xfrm>
            <a:off x="5120120" y="4171950"/>
            <a:ext cx="1085850" cy="4572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Data</a:t>
            </a:r>
          </a:p>
          <a:p>
            <a:pPr algn="ctr" eaLnBrk="1" hangingPunct="1">
              <a:lnSpc>
                <a:spcPct val="100000"/>
              </a:lnSpc>
            </a:pPr>
            <a:r>
              <a:rPr lang="en-US" sz="1050" dirty="0">
                <a:solidFill>
                  <a:schemeClr val="bg1"/>
                </a:solidFill>
                <a:latin typeface="Calibri" pitchFamily="34" charset="0"/>
              </a:rPr>
              <a:t>Cache</a:t>
            </a:r>
          </a:p>
        </p:txBody>
      </p:sp>
      <p:sp>
        <p:nvSpPr>
          <p:cNvPr id="11277" name="Rectangle 13"/>
          <p:cNvSpPr>
            <a:spLocks noChangeArrowheads="1"/>
          </p:cNvSpPr>
          <p:nvPr/>
        </p:nvSpPr>
        <p:spPr bwMode="auto">
          <a:xfrm>
            <a:off x="4324783" y="1257300"/>
            <a:ext cx="867966" cy="40005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Fetch</a:t>
            </a:r>
          </a:p>
          <a:p>
            <a:pPr algn="ctr" eaLnBrk="1" hangingPunct="1">
              <a:lnSpc>
                <a:spcPct val="100000"/>
              </a:lnSpc>
            </a:pPr>
            <a:r>
              <a:rPr lang="en-US" sz="1050" dirty="0">
                <a:solidFill>
                  <a:schemeClr val="bg1"/>
                </a:solidFill>
                <a:latin typeface="Calibri" pitchFamily="34" charset="0"/>
              </a:rPr>
              <a:t>Control</a:t>
            </a:r>
          </a:p>
        </p:txBody>
      </p:sp>
      <p:sp>
        <p:nvSpPr>
          <p:cNvPr id="11278" name="Rectangle 14"/>
          <p:cNvSpPr>
            <a:spLocks noChangeArrowheads="1"/>
          </p:cNvSpPr>
          <p:nvPr/>
        </p:nvSpPr>
        <p:spPr bwMode="auto">
          <a:xfrm>
            <a:off x="4324783" y="1714500"/>
            <a:ext cx="867966" cy="40005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Instruction</a:t>
            </a:r>
          </a:p>
          <a:p>
            <a:pPr algn="ctr" eaLnBrk="1" hangingPunct="1">
              <a:lnSpc>
                <a:spcPct val="100000"/>
              </a:lnSpc>
            </a:pPr>
            <a:r>
              <a:rPr lang="en-US" sz="1050" dirty="0">
                <a:solidFill>
                  <a:schemeClr val="bg1"/>
                </a:solidFill>
                <a:latin typeface="Calibri" pitchFamily="34" charset="0"/>
              </a:rPr>
              <a:t>Decode</a:t>
            </a:r>
          </a:p>
        </p:txBody>
      </p:sp>
      <p:sp>
        <p:nvSpPr>
          <p:cNvPr id="11279" name="Line 15"/>
          <p:cNvSpPr>
            <a:spLocks noChangeShapeType="1"/>
          </p:cNvSpPr>
          <p:nvPr/>
        </p:nvSpPr>
        <p:spPr bwMode="auto">
          <a:xfrm>
            <a:off x="5192749" y="1461098"/>
            <a:ext cx="795338"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0" name="Line 16"/>
          <p:cNvSpPr>
            <a:spLocks noChangeShapeType="1"/>
          </p:cNvSpPr>
          <p:nvPr/>
        </p:nvSpPr>
        <p:spPr bwMode="auto">
          <a:xfrm flipH="1">
            <a:off x="5192749" y="1922160"/>
            <a:ext cx="795338"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1" name="Line 17"/>
          <p:cNvSpPr>
            <a:spLocks noChangeShapeType="1"/>
          </p:cNvSpPr>
          <p:nvPr/>
        </p:nvSpPr>
        <p:spPr bwMode="auto">
          <a:xfrm>
            <a:off x="4758170" y="2114550"/>
            <a:ext cx="0" cy="7429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2" name="Freeform 18"/>
          <p:cNvSpPr>
            <a:spLocks/>
          </p:cNvSpPr>
          <p:nvPr/>
        </p:nvSpPr>
        <p:spPr bwMode="auto">
          <a:xfrm flipH="1">
            <a:off x="2878174" y="1314450"/>
            <a:ext cx="1446609" cy="1714500"/>
          </a:xfrm>
          <a:custGeom>
            <a:avLst/>
            <a:gdLst>
              <a:gd name="T0" fmla="*/ 0 w 144"/>
              <a:gd name="T1" fmla="*/ 0 h 864"/>
              <a:gd name="T2" fmla="*/ 144 w 144"/>
              <a:gd name="T3" fmla="*/ 0 h 864"/>
              <a:gd name="T4" fmla="*/ 144 w 144"/>
              <a:gd name="T5" fmla="*/ 864 h 864"/>
              <a:gd name="T6" fmla="*/ 0 60000 65536"/>
              <a:gd name="T7" fmla="*/ 0 60000 65536"/>
              <a:gd name="T8" fmla="*/ 0 60000 65536"/>
              <a:gd name="T9" fmla="*/ 0 w 144"/>
              <a:gd name="T10" fmla="*/ 0 h 864"/>
              <a:gd name="T11" fmla="*/ 144 w 144"/>
              <a:gd name="T12" fmla="*/ 864 h 864"/>
            </a:gdLst>
            <a:ahLst/>
            <a:cxnLst>
              <a:cxn ang="T6">
                <a:pos x="T0" y="T1"/>
              </a:cxn>
              <a:cxn ang="T7">
                <a:pos x="T2" y="T3"/>
              </a:cxn>
              <a:cxn ang="T8">
                <a:pos x="T4" y="T5"/>
              </a:cxn>
            </a:cxnLst>
            <a:rect l="T9" t="T10" r="T11" b="T12"/>
            <a:pathLst>
              <a:path w="144" h="864">
                <a:moveTo>
                  <a:pt x="0" y="0"/>
                </a:moveTo>
                <a:lnTo>
                  <a:pt x="144" y="0"/>
                </a:lnTo>
                <a:lnTo>
                  <a:pt x="144" y="864"/>
                </a:lnTo>
              </a:path>
            </a:pathLst>
          </a:custGeom>
          <a:noFill/>
          <a:ln w="28575">
            <a:solidFill>
              <a:schemeClr val="tx1"/>
            </a:solidFill>
            <a:prstDash val="sysDot"/>
            <a:round/>
            <a:headEnd type="triangle" w="med" len="med"/>
            <a:tailEnd/>
          </a:ln>
        </p:spPr>
        <p:txBody>
          <a:bodyPr/>
          <a:lstStyle/>
          <a:p>
            <a:endParaRPr lang="en-US" sz="1350" dirty="0">
              <a:latin typeface="Calibri" pitchFamily="34" charset="0"/>
            </a:endParaRPr>
          </a:p>
        </p:txBody>
      </p:sp>
      <p:sp>
        <p:nvSpPr>
          <p:cNvPr id="11283" name="Line 19"/>
          <p:cNvSpPr>
            <a:spLocks noChangeShapeType="1"/>
          </p:cNvSpPr>
          <p:nvPr/>
        </p:nvSpPr>
        <p:spPr bwMode="auto">
          <a:xfrm rot="5400000">
            <a:off x="4865327" y="3771900"/>
            <a:ext cx="80010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4" name="Line 20"/>
          <p:cNvSpPr>
            <a:spLocks noChangeShapeType="1"/>
          </p:cNvSpPr>
          <p:nvPr/>
        </p:nvSpPr>
        <p:spPr bwMode="auto">
          <a:xfrm rot="16200000" flipV="1">
            <a:off x="5083211" y="3771900"/>
            <a:ext cx="80010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5" name="Line 21"/>
          <p:cNvSpPr>
            <a:spLocks noChangeShapeType="1"/>
          </p:cNvSpPr>
          <p:nvPr/>
        </p:nvSpPr>
        <p:spPr bwMode="auto">
          <a:xfrm rot="5400000">
            <a:off x="5443970" y="3771900"/>
            <a:ext cx="80010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6" name="Line 22"/>
          <p:cNvSpPr>
            <a:spLocks noChangeShapeType="1"/>
          </p:cNvSpPr>
          <p:nvPr/>
        </p:nvSpPr>
        <p:spPr bwMode="auto">
          <a:xfrm rot="5400000">
            <a:off x="5660664" y="3771900"/>
            <a:ext cx="80010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87" name="Text Box 23"/>
          <p:cNvSpPr txBox="1">
            <a:spLocks noChangeArrowheads="1"/>
          </p:cNvSpPr>
          <p:nvPr/>
        </p:nvSpPr>
        <p:spPr bwMode="auto">
          <a:xfrm>
            <a:off x="5260121" y="1255067"/>
            <a:ext cx="623890" cy="253916"/>
          </a:xfrm>
          <a:prstGeom prst="rect">
            <a:avLst/>
          </a:prstGeom>
          <a:noFill/>
          <a:ln w="9525">
            <a:noFill/>
            <a:miter lim="800000"/>
            <a:headEnd/>
            <a:tailEnd/>
          </a:ln>
        </p:spPr>
        <p:txBody>
          <a:bodyPr wrap="none">
            <a:spAutoFit/>
          </a:bodyPr>
          <a:lstStyle/>
          <a:p>
            <a:pPr algn="ctr" eaLnBrk="1" hangingPunct="1">
              <a:lnSpc>
                <a:spcPct val="100000"/>
              </a:lnSpc>
            </a:pPr>
            <a:r>
              <a:rPr lang="en-US" sz="1050" dirty="0">
                <a:latin typeface="Calibri" pitchFamily="34" charset="0"/>
              </a:rPr>
              <a:t>Address</a:t>
            </a:r>
          </a:p>
        </p:txBody>
      </p:sp>
      <p:sp>
        <p:nvSpPr>
          <p:cNvPr id="11288" name="Text Box 24"/>
          <p:cNvSpPr txBox="1">
            <a:spLocks noChangeArrowheads="1"/>
          </p:cNvSpPr>
          <p:nvPr/>
        </p:nvSpPr>
        <p:spPr bwMode="auto">
          <a:xfrm>
            <a:off x="5186239" y="1714500"/>
            <a:ext cx="830677" cy="253916"/>
          </a:xfrm>
          <a:prstGeom prst="rect">
            <a:avLst/>
          </a:prstGeom>
          <a:noFill/>
          <a:ln w="9525">
            <a:noFill/>
            <a:miter lim="800000"/>
            <a:headEnd/>
            <a:tailEnd/>
          </a:ln>
        </p:spPr>
        <p:txBody>
          <a:bodyPr wrap="none">
            <a:spAutoFit/>
          </a:bodyPr>
          <a:lstStyle/>
          <a:p>
            <a:pPr algn="ctr" eaLnBrk="1" hangingPunct="1">
              <a:lnSpc>
                <a:spcPct val="100000"/>
              </a:lnSpc>
            </a:pPr>
            <a:r>
              <a:rPr lang="en-US" sz="1050" dirty="0">
                <a:latin typeface="Calibri" pitchFamily="34" charset="0"/>
              </a:rPr>
              <a:t>Instructions</a:t>
            </a:r>
          </a:p>
        </p:txBody>
      </p:sp>
      <p:sp>
        <p:nvSpPr>
          <p:cNvPr id="11289" name="Text Box 25"/>
          <p:cNvSpPr txBox="1">
            <a:spLocks noChangeArrowheads="1"/>
          </p:cNvSpPr>
          <p:nvPr/>
        </p:nvSpPr>
        <p:spPr bwMode="auto">
          <a:xfrm>
            <a:off x="4726465" y="2112317"/>
            <a:ext cx="792205" cy="253916"/>
          </a:xfrm>
          <a:prstGeom prst="rect">
            <a:avLst/>
          </a:prstGeom>
          <a:noFill/>
          <a:ln w="9525">
            <a:noFill/>
            <a:miter lim="800000"/>
            <a:headEnd/>
            <a:tailEnd/>
          </a:ln>
        </p:spPr>
        <p:txBody>
          <a:bodyPr wrap="none">
            <a:spAutoFit/>
          </a:bodyPr>
          <a:lstStyle/>
          <a:p>
            <a:pPr algn="ctr" eaLnBrk="1" hangingPunct="1">
              <a:lnSpc>
                <a:spcPct val="100000"/>
              </a:lnSpc>
            </a:pPr>
            <a:r>
              <a:rPr lang="en-US" sz="1050" dirty="0">
                <a:latin typeface="Calibri" pitchFamily="34" charset="0"/>
              </a:rPr>
              <a:t>Operations</a:t>
            </a:r>
          </a:p>
        </p:txBody>
      </p:sp>
      <p:sp>
        <p:nvSpPr>
          <p:cNvPr id="11290" name="Text Box 26"/>
          <p:cNvSpPr txBox="1">
            <a:spLocks noChangeArrowheads="1"/>
          </p:cNvSpPr>
          <p:nvPr/>
        </p:nvSpPr>
        <p:spPr bwMode="auto">
          <a:xfrm>
            <a:off x="2857500" y="2374560"/>
            <a:ext cx="995785" cy="253916"/>
          </a:xfrm>
          <a:prstGeom prst="rect">
            <a:avLst/>
          </a:prstGeom>
          <a:noFill/>
          <a:ln w="9525">
            <a:noFill/>
            <a:miter lim="800000"/>
            <a:headEnd/>
            <a:tailEnd/>
          </a:ln>
        </p:spPr>
        <p:txBody>
          <a:bodyPr wrap="none">
            <a:spAutoFit/>
          </a:bodyPr>
          <a:lstStyle/>
          <a:p>
            <a:pPr eaLnBrk="1" hangingPunct="1">
              <a:lnSpc>
                <a:spcPct val="100000"/>
              </a:lnSpc>
            </a:pPr>
            <a:r>
              <a:rPr lang="en-US" sz="1050" dirty="0">
                <a:latin typeface="Calibri" pitchFamily="34" charset="0"/>
              </a:rPr>
              <a:t>Prediction OK?</a:t>
            </a:r>
          </a:p>
        </p:txBody>
      </p:sp>
      <p:sp>
        <p:nvSpPr>
          <p:cNvPr id="11291" name="Text Box 27"/>
          <p:cNvSpPr txBox="1">
            <a:spLocks noChangeArrowheads="1"/>
          </p:cNvSpPr>
          <p:nvPr/>
        </p:nvSpPr>
        <p:spPr bwMode="auto">
          <a:xfrm>
            <a:off x="6008277" y="3930135"/>
            <a:ext cx="369012" cy="207749"/>
          </a:xfrm>
          <a:prstGeom prst="rect">
            <a:avLst/>
          </a:prstGeom>
          <a:noFill/>
          <a:ln w="9525">
            <a:noFill/>
            <a:miter lim="800000"/>
            <a:headEnd/>
            <a:tailEnd/>
          </a:ln>
        </p:spPr>
        <p:txBody>
          <a:bodyPr wrap="none">
            <a:spAutoFit/>
          </a:bodyPr>
          <a:lstStyle/>
          <a:p>
            <a:pPr algn="ctr" eaLnBrk="1" hangingPunct="1">
              <a:lnSpc>
                <a:spcPct val="100000"/>
              </a:lnSpc>
            </a:pPr>
            <a:r>
              <a:rPr lang="en-US" sz="750" dirty="0">
                <a:latin typeface="Calibri" pitchFamily="34" charset="0"/>
              </a:rPr>
              <a:t>Data</a:t>
            </a:r>
          </a:p>
        </p:txBody>
      </p:sp>
      <p:sp>
        <p:nvSpPr>
          <p:cNvPr id="11292" name="Text Box 28"/>
          <p:cNvSpPr txBox="1">
            <a:spLocks noChangeArrowheads="1"/>
          </p:cNvSpPr>
          <p:nvPr/>
        </p:nvSpPr>
        <p:spPr bwMode="auto">
          <a:xfrm>
            <a:off x="5423474" y="3943350"/>
            <a:ext cx="369012" cy="207749"/>
          </a:xfrm>
          <a:prstGeom prst="rect">
            <a:avLst/>
          </a:prstGeom>
          <a:noFill/>
          <a:ln w="9525">
            <a:noFill/>
            <a:miter lim="800000"/>
            <a:headEnd/>
            <a:tailEnd/>
          </a:ln>
        </p:spPr>
        <p:txBody>
          <a:bodyPr wrap="none">
            <a:spAutoFit/>
          </a:bodyPr>
          <a:lstStyle/>
          <a:p>
            <a:pPr algn="ctr" eaLnBrk="1" hangingPunct="1">
              <a:lnSpc>
                <a:spcPct val="100000"/>
              </a:lnSpc>
            </a:pPr>
            <a:r>
              <a:rPr lang="en-US" sz="750" dirty="0">
                <a:latin typeface="Calibri" pitchFamily="34" charset="0"/>
              </a:rPr>
              <a:t>Data</a:t>
            </a:r>
          </a:p>
        </p:txBody>
      </p:sp>
      <p:sp>
        <p:nvSpPr>
          <p:cNvPr id="11293" name="Text Box 29"/>
          <p:cNvSpPr txBox="1">
            <a:spLocks noChangeArrowheads="1"/>
          </p:cNvSpPr>
          <p:nvPr/>
        </p:nvSpPr>
        <p:spPr bwMode="auto">
          <a:xfrm>
            <a:off x="4935159" y="3758685"/>
            <a:ext cx="401072" cy="207749"/>
          </a:xfrm>
          <a:prstGeom prst="rect">
            <a:avLst/>
          </a:prstGeom>
          <a:noFill/>
          <a:ln w="9525">
            <a:noFill/>
            <a:miter lim="800000"/>
            <a:headEnd/>
            <a:tailEnd/>
          </a:ln>
        </p:spPr>
        <p:txBody>
          <a:bodyPr wrap="none">
            <a:spAutoFit/>
          </a:bodyPr>
          <a:lstStyle/>
          <a:p>
            <a:pPr algn="ctr" eaLnBrk="1" hangingPunct="1">
              <a:lnSpc>
                <a:spcPct val="100000"/>
              </a:lnSpc>
            </a:pPr>
            <a:r>
              <a:rPr lang="en-US" sz="750" dirty="0" err="1">
                <a:latin typeface="Calibri" pitchFamily="34" charset="0"/>
              </a:rPr>
              <a:t>Addr</a:t>
            </a:r>
            <a:r>
              <a:rPr lang="en-US" sz="750" dirty="0">
                <a:latin typeface="Calibri" pitchFamily="34" charset="0"/>
              </a:rPr>
              <a:t>.</a:t>
            </a:r>
          </a:p>
        </p:txBody>
      </p:sp>
      <p:sp>
        <p:nvSpPr>
          <p:cNvPr id="11294" name="Text Box 30"/>
          <p:cNvSpPr txBox="1">
            <a:spLocks noChangeArrowheads="1"/>
          </p:cNvSpPr>
          <p:nvPr/>
        </p:nvSpPr>
        <p:spPr bwMode="auto">
          <a:xfrm>
            <a:off x="5511801" y="3758685"/>
            <a:ext cx="401072" cy="207749"/>
          </a:xfrm>
          <a:prstGeom prst="rect">
            <a:avLst/>
          </a:prstGeom>
          <a:noFill/>
          <a:ln w="9525">
            <a:noFill/>
            <a:miter lim="800000"/>
            <a:headEnd/>
            <a:tailEnd/>
          </a:ln>
        </p:spPr>
        <p:txBody>
          <a:bodyPr wrap="none">
            <a:spAutoFit/>
          </a:bodyPr>
          <a:lstStyle/>
          <a:p>
            <a:pPr algn="ctr" eaLnBrk="1" hangingPunct="1">
              <a:lnSpc>
                <a:spcPct val="100000"/>
              </a:lnSpc>
            </a:pPr>
            <a:r>
              <a:rPr lang="en-US" sz="750" dirty="0" err="1">
                <a:latin typeface="Calibri" pitchFamily="34" charset="0"/>
              </a:rPr>
              <a:t>Addr</a:t>
            </a:r>
            <a:r>
              <a:rPr lang="en-US" sz="750" dirty="0">
                <a:latin typeface="Calibri" pitchFamily="34" charset="0"/>
              </a:rPr>
              <a:t>.</a:t>
            </a:r>
          </a:p>
        </p:txBody>
      </p:sp>
      <p:sp>
        <p:nvSpPr>
          <p:cNvPr id="11295" name="Line 31"/>
          <p:cNvSpPr>
            <a:spLocks noChangeShapeType="1"/>
          </p:cNvSpPr>
          <p:nvPr/>
        </p:nvSpPr>
        <p:spPr bwMode="auto">
          <a:xfrm>
            <a:off x="3050381"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96" name="Line 32"/>
          <p:cNvSpPr>
            <a:spLocks noChangeShapeType="1"/>
          </p:cNvSpPr>
          <p:nvPr/>
        </p:nvSpPr>
        <p:spPr bwMode="auto">
          <a:xfrm>
            <a:off x="4208859"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97" name="Line 33"/>
          <p:cNvSpPr>
            <a:spLocks noChangeShapeType="1"/>
          </p:cNvSpPr>
          <p:nvPr/>
        </p:nvSpPr>
        <p:spPr bwMode="auto">
          <a:xfrm>
            <a:off x="4786313"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98" name="Line 34"/>
          <p:cNvSpPr>
            <a:spLocks noChangeShapeType="1"/>
          </p:cNvSpPr>
          <p:nvPr/>
        </p:nvSpPr>
        <p:spPr bwMode="auto">
          <a:xfrm>
            <a:off x="5366147"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299" name="Line 35"/>
          <p:cNvSpPr>
            <a:spLocks noChangeShapeType="1"/>
          </p:cNvSpPr>
          <p:nvPr/>
        </p:nvSpPr>
        <p:spPr bwMode="auto">
          <a:xfrm>
            <a:off x="5943600"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300" name="Line 36"/>
          <p:cNvSpPr>
            <a:spLocks noChangeShapeType="1"/>
          </p:cNvSpPr>
          <p:nvPr/>
        </p:nvSpPr>
        <p:spPr bwMode="auto">
          <a:xfrm>
            <a:off x="3050382" y="2857500"/>
            <a:ext cx="2893219" cy="0"/>
          </a:xfrm>
          <a:prstGeom prst="line">
            <a:avLst/>
          </a:prstGeom>
          <a:noFill/>
          <a:ln w="28575">
            <a:solidFill>
              <a:schemeClr val="tx1"/>
            </a:solidFill>
            <a:round/>
            <a:headEnd/>
            <a:tailEnd/>
          </a:ln>
        </p:spPr>
        <p:txBody>
          <a:bodyPr/>
          <a:lstStyle/>
          <a:p>
            <a:endParaRPr lang="en-US" sz="1350" dirty="0">
              <a:latin typeface="Calibri" pitchFamily="34" charset="0"/>
            </a:endParaRPr>
          </a:p>
        </p:txBody>
      </p:sp>
      <p:sp>
        <p:nvSpPr>
          <p:cNvPr id="11301" name="Rectangle 37"/>
          <p:cNvSpPr>
            <a:spLocks noChangeArrowheads="1"/>
          </p:cNvSpPr>
          <p:nvPr/>
        </p:nvSpPr>
        <p:spPr bwMode="auto">
          <a:xfrm>
            <a:off x="3385380" y="3028950"/>
            <a:ext cx="504825" cy="342900"/>
          </a:xfrm>
          <a:prstGeom prst="rect">
            <a:avLst/>
          </a:prstGeom>
          <a:solidFill>
            <a:srgbClr val="8C4040"/>
          </a:solidFill>
          <a:ln w="9525">
            <a:solidFill>
              <a:schemeClr val="tx1"/>
            </a:solidFill>
            <a:miter lim="800000"/>
            <a:headEnd/>
            <a:tailEnd/>
          </a:ln>
        </p:spPr>
        <p:txBody>
          <a:bodyPr wrap="none" anchor="ctr"/>
          <a:lstStyle/>
          <a:p>
            <a:pPr algn="ctr" eaLnBrk="1" hangingPunct="1">
              <a:lnSpc>
                <a:spcPct val="100000"/>
              </a:lnSpc>
            </a:pPr>
            <a:r>
              <a:rPr lang="en-US" sz="1050" dirty="0" err="1">
                <a:solidFill>
                  <a:schemeClr val="bg1"/>
                </a:solidFill>
                <a:latin typeface="Calibri" pitchFamily="34" charset="0"/>
              </a:rPr>
              <a:t>Arith</a:t>
            </a:r>
            <a:endParaRPr lang="en-US" sz="1050" dirty="0">
              <a:solidFill>
                <a:schemeClr val="bg1"/>
              </a:solidFill>
              <a:latin typeface="Calibri" pitchFamily="34" charset="0"/>
            </a:endParaRPr>
          </a:p>
        </p:txBody>
      </p:sp>
      <p:sp>
        <p:nvSpPr>
          <p:cNvPr id="11302" name="Line 38"/>
          <p:cNvSpPr>
            <a:spLocks noChangeShapeType="1"/>
          </p:cNvSpPr>
          <p:nvPr/>
        </p:nvSpPr>
        <p:spPr bwMode="auto">
          <a:xfrm>
            <a:off x="3629025" y="2857500"/>
            <a:ext cx="0" cy="17145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303" name="Line 39"/>
          <p:cNvSpPr>
            <a:spLocks noChangeShapeType="1"/>
          </p:cNvSpPr>
          <p:nvPr/>
        </p:nvSpPr>
        <p:spPr bwMode="auto">
          <a:xfrm>
            <a:off x="2444786" y="3657600"/>
            <a:ext cx="3911022" cy="0"/>
          </a:xfrm>
          <a:prstGeom prst="line">
            <a:avLst/>
          </a:prstGeom>
          <a:noFill/>
          <a:ln w="28575">
            <a:solidFill>
              <a:schemeClr val="tx1"/>
            </a:solidFill>
            <a:round/>
            <a:headEnd/>
            <a:tailEnd/>
          </a:ln>
        </p:spPr>
        <p:txBody>
          <a:bodyPr/>
          <a:lstStyle/>
          <a:p>
            <a:endParaRPr lang="en-US" sz="1350" dirty="0">
              <a:latin typeface="Calibri" pitchFamily="34" charset="0"/>
            </a:endParaRPr>
          </a:p>
        </p:txBody>
      </p:sp>
      <p:grpSp>
        <p:nvGrpSpPr>
          <p:cNvPr id="2" name="Group 40"/>
          <p:cNvGrpSpPr>
            <a:grpSpLocks/>
          </p:cNvGrpSpPr>
          <p:nvPr/>
        </p:nvGrpSpPr>
        <p:grpSpPr bwMode="auto">
          <a:xfrm>
            <a:off x="3023430" y="3371850"/>
            <a:ext cx="2893219" cy="285750"/>
            <a:chOff x="768" y="2016"/>
            <a:chExt cx="1920" cy="144"/>
          </a:xfrm>
        </p:grpSpPr>
        <p:sp>
          <p:nvSpPr>
            <p:cNvPr id="11313" name="Line 41"/>
            <p:cNvSpPr>
              <a:spLocks noChangeShapeType="1"/>
            </p:cNvSpPr>
            <p:nvPr/>
          </p:nvSpPr>
          <p:spPr bwMode="auto">
            <a:xfrm>
              <a:off x="768"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4" name="Line 42"/>
            <p:cNvSpPr>
              <a:spLocks noChangeShapeType="1"/>
            </p:cNvSpPr>
            <p:nvPr/>
          </p:nvSpPr>
          <p:spPr bwMode="auto">
            <a:xfrm>
              <a:off x="1536"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5" name="Line 43"/>
            <p:cNvSpPr>
              <a:spLocks noChangeShapeType="1"/>
            </p:cNvSpPr>
            <p:nvPr/>
          </p:nvSpPr>
          <p:spPr bwMode="auto">
            <a:xfrm>
              <a:off x="1920"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6" name="Line 44"/>
            <p:cNvSpPr>
              <a:spLocks noChangeShapeType="1"/>
            </p:cNvSpPr>
            <p:nvPr/>
          </p:nvSpPr>
          <p:spPr bwMode="auto">
            <a:xfrm>
              <a:off x="2304"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7" name="Line 45"/>
            <p:cNvSpPr>
              <a:spLocks noChangeShapeType="1"/>
            </p:cNvSpPr>
            <p:nvPr/>
          </p:nvSpPr>
          <p:spPr bwMode="auto">
            <a:xfrm>
              <a:off x="2688"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sp>
          <p:nvSpPr>
            <p:cNvPr id="11318" name="Line 46"/>
            <p:cNvSpPr>
              <a:spLocks noChangeShapeType="1"/>
            </p:cNvSpPr>
            <p:nvPr/>
          </p:nvSpPr>
          <p:spPr bwMode="auto">
            <a:xfrm>
              <a:off x="1152" y="2016"/>
              <a:ext cx="0" cy="144"/>
            </a:xfrm>
            <a:prstGeom prst="line">
              <a:avLst/>
            </a:prstGeom>
            <a:noFill/>
            <a:ln w="28575">
              <a:solidFill>
                <a:schemeClr val="tx1"/>
              </a:solidFill>
              <a:round/>
              <a:headEnd type="triangle" w="med" len="med"/>
              <a:tailEnd type="triangle" w="med" len="med"/>
            </a:ln>
          </p:spPr>
          <p:txBody>
            <a:bodyPr/>
            <a:lstStyle/>
            <a:p>
              <a:endParaRPr lang="en-US" sz="1350" dirty="0">
                <a:latin typeface="Calibri" pitchFamily="34" charset="0"/>
              </a:endParaRPr>
            </a:p>
          </p:txBody>
        </p:sp>
      </p:grpSp>
      <p:sp>
        <p:nvSpPr>
          <p:cNvPr id="11305" name="Rectangle 47"/>
          <p:cNvSpPr>
            <a:spLocks noChangeArrowheads="1"/>
          </p:cNvSpPr>
          <p:nvPr/>
        </p:nvSpPr>
        <p:spPr bwMode="auto">
          <a:xfrm>
            <a:off x="3240124" y="3621881"/>
            <a:ext cx="1162498" cy="253916"/>
          </a:xfrm>
          <a:prstGeom prst="rect">
            <a:avLst/>
          </a:prstGeom>
          <a:noFill/>
          <a:ln w="9525">
            <a:noFill/>
            <a:miter lim="800000"/>
            <a:headEnd/>
            <a:tailEnd/>
          </a:ln>
        </p:spPr>
        <p:txBody>
          <a:bodyPr wrap="none">
            <a:spAutoFit/>
          </a:bodyPr>
          <a:lstStyle/>
          <a:p>
            <a:pPr eaLnBrk="1" hangingPunct="1">
              <a:lnSpc>
                <a:spcPct val="100000"/>
              </a:lnSpc>
            </a:pPr>
            <a:r>
              <a:rPr lang="en-US" sz="1050" dirty="0">
                <a:latin typeface="Calibri" pitchFamily="34" charset="0"/>
              </a:rPr>
              <a:t>Operation Results</a:t>
            </a:r>
          </a:p>
        </p:txBody>
      </p:sp>
      <p:sp>
        <p:nvSpPr>
          <p:cNvPr id="11306" name="Rectangle 48"/>
          <p:cNvSpPr>
            <a:spLocks noChangeArrowheads="1"/>
          </p:cNvSpPr>
          <p:nvPr/>
        </p:nvSpPr>
        <p:spPr bwMode="auto">
          <a:xfrm>
            <a:off x="3240124" y="1371600"/>
            <a:ext cx="867965" cy="742950"/>
          </a:xfrm>
          <a:prstGeom prst="rect">
            <a:avLst/>
          </a:prstGeom>
          <a:solidFill>
            <a:srgbClr val="8C4040"/>
          </a:solidFill>
          <a:ln w="9525">
            <a:solidFill>
              <a:schemeClr val="tx1"/>
            </a:solidFill>
            <a:miter lim="800000"/>
            <a:headEnd/>
            <a:tailEnd/>
          </a:ln>
        </p:spPr>
        <p:txBody>
          <a:bodyPr wrap="none"/>
          <a:lstStyle/>
          <a:p>
            <a:pPr algn="ctr" eaLnBrk="1" hangingPunct="1">
              <a:lnSpc>
                <a:spcPct val="100000"/>
              </a:lnSpc>
            </a:pPr>
            <a:r>
              <a:rPr lang="en-US" sz="1050" dirty="0">
                <a:solidFill>
                  <a:schemeClr val="bg1"/>
                </a:solidFill>
                <a:latin typeface="Calibri" pitchFamily="34" charset="0"/>
              </a:rPr>
              <a:t>Retirement</a:t>
            </a:r>
          </a:p>
          <a:p>
            <a:pPr algn="ctr" eaLnBrk="1" hangingPunct="1">
              <a:lnSpc>
                <a:spcPct val="100000"/>
              </a:lnSpc>
            </a:pPr>
            <a:r>
              <a:rPr lang="en-US" sz="1050" dirty="0">
                <a:solidFill>
                  <a:schemeClr val="bg1"/>
                </a:solidFill>
                <a:latin typeface="Calibri" pitchFamily="34" charset="0"/>
              </a:rPr>
              <a:t>Unit</a:t>
            </a:r>
          </a:p>
        </p:txBody>
      </p:sp>
      <p:sp>
        <p:nvSpPr>
          <p:cNvPr id="11307" name="Rectangle 49"/>
          <p:cNvSpPr>
            <a:spLocks noChangeArrowheads="1"/>
          </p:cNvSpPr>
          <p:nvPr/>
        </p:nvSpPr>
        <p:spPr bwMode="auto">
          <a:xfrm>
            <a:off x="3385380" y="1714500"/>
            <a:ext cx="577453" cy="342900"/>
          </a:xfrm>
          <a:prstGeom prst="rect">
            <a:avLst/>
          </a:prstGeom>
          <a:solidFill>
            <a:schemeClr val="bg1">
              <a:lumMod val="50000"/>
            </a:schemeClr>
          </a:solidFill>
          <a:ln w="9525">
            <a:solidFill>
              <a:schemeClr val="tx1"/>
            </a:solidFill>
            <a:miter lim="800000"/>
            <a:headEnd/>
            <a:tailEnd/>
          </a:ln>
        </p:spPr>
        <p:txBody>
          <a:bodyPr wrap="none" anchor="ctr"/>
          <a:lstStyle/>
          <a:p>
            <a:pPr algn="ctr" eaLnBrk="1" hangingPunct="1">
              <a:lnSpc>
                <a:spcPct val="100000"/>
              </a:lnSpc>
            </a:pPr>
            <a:r>
              <a:rPr lang="en-US" sz="1050" dirty="0">
                <a:solidFill>
                  <a:schemeClr val="bg1"/>
                </a:solidFill>
                <a:latin typeface="Calibri" pitchFamily="34" charset="0"/>
              </a:rPr>
              <a:t>Register</a:t>
            </a:r>
          </a:p>
          <a:p>
            <a:pPr algn="ctr" eaLnBrk="1" hangingPunct="1">
              <a:lnSpc>
                <a:spcPct val="100000"/>
              </a:lnSpc>
            </a:pPr>
            <a:r>
              <a:rPr lang="en-US" sz="1050" dirty="0">
                <a:solidFill>
                  <a:schemeClr val="bg1"/>
                </a:solidFill>
                <a:latin typeface="Calibri" pitchFamily="34" charset="0"/>
              </a:rPr>
              <a:t>File</a:t>
            </a:r>
          </a:p>
        </p:txBody>
      </p:sp>
      <p:sp>
        <p:nvSpPr>
          <p:cNvPr id="11308" name="Line 50"/>
          <p:cNvSpPr>
            <a:spLocks noChangeShapeType="1"/>
          </p:cNvSpPr>
          <p:nvPr/>
        </p:nvSpPr>
        <p:spPr bwMode="auto">
          <a:xfrm>
            <a:off x="2878174" y="1657350"/>
            <a:ext cx="361950" cy="0"/>
          </a:xfrm>
          <a:prstGeom prst="line">
            <a:avLst/>
          </a:prstGeom>
          <a:noFill/>
          <a:ln w="28575">
            <a:solidFill>
              <a:schemeClr val="tx1"/>
            </a:solidFill>
            <a:prstDash val="sysDot"/>
            <a:round/>
            <a:headEnd/>
            <a:tailEnd type="triangle" w="med" len="med"/>
          </a:ln>
        </p:spPr>
        <p:txBody>
          <a:bodyPr/>
          <a:lstStyle/>
          <a:p>
            <a:endParaRPr lang="en-US" sz="1350" dirty="0">
              <a:latin typeface="Calibri" pitchFamily="34" charset="0"/>
            </a:endParaRPr>
          </a:p>
        </p:txBody>
      </p:sp>
      <p:sp>
        <p:nvSpPr>
          <p:cNvPr id="11309" name="Freeform 51"/>
          <p:cNvSpPr>
            <a:spLocks/>
          </p:cNvSpPr>
          <p:nvPr/>
        </p:nvSpPr>
        <p:spPr bwMode="auto">
          <a:xfrm flipH="1">
            <a:off x="2571749" y="2000250"/>
            <a:ext cx="668375" cy="1657350"/>
          </a:xfrm>
          <a:custGeom>
            <a:avLst/>
            <a:gdLst>
              <a:gd name="T0" fmla="*/ 0 w 144"/>
              <a:gd name="T1" fmla="*/ 0 h 864"/>
              <a:gd name="T2" fmla="*/ 144 w 144"/>
              <a:gd name="T3" fmla="*/ 0 h 864"/>
              <a:gd name="T4" fmla="*/ 144 w 144"/>
              <a:gd name="T5" fmla="*/ 864 h 864"/>
              <a:gd name="T6" fmla="*/ 0 60000 65536"/>
              <a:gd name="T7" fmla="*/ 0 60000 65536"/>
              <a:gd name="T8" fmla="*/ 0 60000 65536"/>
              <a:gd name="T9" fmla="*/ 0 w 144"/>
              <a:gd name="T10" fmla="*/ 0 h 864"/>
              <a:gd name="T11" fmla="*/ 144 w 144"/>
              <a:gd name="T12" fmla="*/ 864 h 864"/>
            </a:gdLst>
            <a:ahLst/>
            <a:cxnLst>
              <a:cxn ang="T6">
                <a:pos x="T0" y="T1"/>
              </a:cxn>
              <a:cxn ang="T7">
                <a:pos x="T2" y="T3"/>
              </a:cxn>
              <a:cxn ang="T8">
                <a:pos x="T4" y="T5"/>
              </a:cxn>
            </a:cxnLst>
            <a:rect l="T9" t="T10" r="T11" b="T12"/>
            <a:pathLst>
              <a:path w="144" h="864">
                <a:moveTo>
                  <a:pt x="0" y="0"/>
                </a:moveTo>
                <a:lnTo>
                  <a:pt x="144" y="0"/>
                </a:lnTo>
                <a:lnTo>
                  <a:pt x="144" y="864"/>
                </a:lnTo>
              </a:path>
            </a:pathLst>
          </a:custGeom>
          <a:noFill/>
          <a:ln w="19050">
            <a:solidFill>
              <a:schemeClr val="tx1"/>
            </a:solidFill>
            <a:round/>
            <a:headEnd type="triangle" w="med" len="med"/>
            <a:tailEnd/>
          </a:ln>
        </p:spPr>
        <p:txBody>
          <a:bodyPr/>
          <a:lstStyle/>
          <a:p>
            <a:endParaRPr lang="en-US" sz="1350" dirty="0">
              <a:latin typeface="Calibri" pitchFamily="34" charset="0"/>
            </a:endParaRPr>
          </a:p>
        </p:txBody>
      </p:sp>
      <p:sp>
        <p:nvSpPr>
          <p:cNvPr id="11310" name="Text Box 52"/>
          <p:cNvSpPr txBox="1">
            <a:spLocks noChangeArrowheads="1"/>
          </p:cNvSpPr>
          <p:nvPr/>
        </p:nvSpPr>
        <p:spPr bwMode="auto">
          <a:xfrm>
            <a:off x="1450586" y="2369325"/>
            <a:ext cx="1119217" cy="253916"/>
          </a:xfrm>
          <a:prstGeom prst="rect">
            <a:avLst/>
          </a:prstGeom>
          <a:noFill/>
          <a:ln w="9525">
            <a:noFill/>
            <a:miter lim="800000"/>
            <a:headEnd/>
            <a:tailEnd/>
          </a:ln>
        </p:spPr>
        <p:txBody>
          <a:bodyPr wrap="none">
            <a:spAutoFit/>
          </a:bodyPr>
          <a:lstStyle/>
          <a:p>
            <a:pPr algn="r" eaLnBrk="1" hangingPunct="1">
              <a:lnSpc>
                <a:spcPct val="100000"/>
              </a:lnSpc>
            </a:pPr>
            <a:r>
              <a:rPr lang="en-US" sz="1050" dirty="0">
                <a:latin typeface="Calibri" pitchFamily="34" charset="0"/>
              </a:rPr>
              <a:t>Register Updates</a:t>
            </a:r>
          </a:p>
        </p:txBody>
      </p:sp>
      <p:sp>
        <p:nvSpPr>
          <p:cNvPr id="11311" name="Line 53"/>
          <p:cNvSpPr>
            <a:spLocks noChangeShapeType="1"/>
          </p:cNvSpPr>
          <p:nvPr/>
        </p:nvSpPr>
        <p:spPr bwMode="auto">
          <a:xfrm>
            <a:off x="3962833" y="1885950"/>
            <a:ext cx="361950" cy="0"/>
          </a:xfrm>
          <a:prstGeom prst="line">
            <a:avLst/>
          </a:prstGeom>
          <a:noFill/>
          <a:ln w="28575">
            <a:solidFill>
              <a:schemeClr val="tx1"/>
            </a:solidFill>
            <a:round/>
            <a:headEnd/>
            <a:tailEnd type="triangle" w="med" len="med"/>
          </a:ln>
        </p:spPr>
        <p:txBody>
          <a:bodyPr/>
          <a:lstStyle/>
          <a:p>
            <a:endParaRPr lang="en-US" sz="1350" dirty="0">
              <a:latin typeface="Calibri" pitchFamily="34" charset="0"/>
            </a:endParaRPr>
          </a:p>
        </p:txBody>
      </p:sp>
      <p:sp>
        <p:nvSpPr>
          <p:cNvPr id="11312" name="Freeform 54"/>
          <p:cNvSpPr>
            <a:spLocks/>
          </p:cNvSpPr>
          <p:nvPr/>
        </p:nvSpPr>
        <p:spPr bwMode="auto">
          <a:xfrm>
            <a:off x="4035461" y="2114550"/>
            <a:ext cx="722709" cy="171450"/>
          </a:xfrm>
          <a:custGeom>
            <a:avLst/>
            <a:gdLst>
              <a:gd name="T0" fmla="*/ 480 w 480"/>
              <a:gd name="T1" fmla="*/ 144 h 144"/>
              <a:gd name="T2" fmla="*/ 0 w 480"/>
              <a:gd name="T3" fmla="*/ 144 h 144"/>
              <a:gd name="T4" fmla="*/ 0 w 480"/>
              <a:gd name="T5" fmla="*/ 0 h 144"/>
              <a:gd name="T6" fmla="*/ 0 60000 65536"/>
              <a:gd name="T7" fmla="*/ 0 60000 65536"/>
              <a:gd name="T8" fmla="*/ 0 60000 65536"/>
              <a:gd name="T9" fmla="*/ 0 w 480"/>
              <a:gd name="T10" fmla="*/ 0 h 144"/>
              <a:gd name="T11" fmla="*/ 480 w 480"/>
              <a:gd name="T12" fmla="*/ 144 h 144"/>
            </a:gdLst>
            <a:ahLst/>
            <a:cxnLst>
              <a:cxn ang="T6">
                <a:pos x="T0" y="T1"/>
              </a:cxn>
              <a:cxn ang="T7">
                <a:pos x="T2" y="T3"/>
              </a:cxn>
              <a:cxn ang="T8">
                <a:pos x="T4" y="T5"/>
              </a:cxn>
            </a:cxnLst>
            <a:rect l="T9" t="T10" r="T11" b="T12"/>
            <a:pathLst>
              <a:path w="480" h="144">
                <a:moveTo>
                  <a:pt x="480" y="144"/>
                </a:moveTo>
                <a:lnTo>
                  <a:pt x="0" y="144"/>
                </a:lnTo>
                <a:lnTo>
                  <a:pt x="0" y="0"/>
                </a:lnTo>
              </a:path>
            </a:pathLst>
          </a:custGeom>
          <a:noFill/>
          <a:ln w="28575">
            <a:solidFill>
              <a:schemeClr val="tx1"/>
            </a:solidFill>
            <a:round/>
            <a:headEnd/>
            <a:tailEnd type="triangle" w="med" len="med"/>
          </a:ln>
        </p:spPr>
        <p:txBody>
          <a:bodyPr/>
          <a:lstStyle/>
          <a:p>
            <a:endParaRPr lang="en-US" sz="1350" dirty="0">
              <a:latin typeface="Calibri" pitchFamily="34" charset="0"/>
            </a:endParaRPr>
          </a:p>
        </p:txBody>
      </p:sp>
    </p:spTree>
    <p:extLst>
      <p:ext uri="{BB962C8B-B14F-4D97-AF65-F5344CB8AC3E}">
        <p14:creationId xmlns:p14="http://schemas.microsoft.com/office/powerpoint/2010/main" val="1036330314"/>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14DE0-2832-4421-A924-2F7B74BAA746}"/>
              </a:ext>
            </a:extLst>
          </p:cNvPr>
          <p:cNvSpPr>
            <a:spLocks noGrp="1"/>
          </p:cNvSpPr>
          <p:nvPr>
            <p:ph type="title"/>
          </p:nvPr>
        </p:nvSpPr>
        <p:spPr/>
        <p:txBody>
          <a:bodyPr/>
          <a:lstStyle/>
          <a:p>
            <a:r>
              <a:rPr lang="en-US" dirty="0"/>
              <a:t>Loop Unrolling</a:t>
            </a:r>
          </a:p>
        </p:txBody>
      </p:sp>
      <p:sp>
        <p:nvSpPr>
          <p:cNvPr id="3" name="Content Placeholder 2">
            <a:extLst>
              <a:ext uri="{FF2B5EF4-FFF2-40B4-BE49-F238E27FC236}">
                <a16:creationId xmlns:a16="http://schemas.microsoft.com/office/drawing/2014/main" id="{BF73F351-C652-4173-AD75-D42EC3D50212}"/>
              </a:ext>
            </a:extLst>
          </p:cNvPr>
          <p:cNvSpPr>
            <a:spLocks noGrp="1"/>
          </p:cNvSpPr>
          <p:nvPr>
            <p:ph idx="1"/>
          </p:nvPr>
        </p:nvSpPr>
        <p:spPr/>
        <p:txBody>
          <a:bodyPr/>
          <a:lstStyle/>
          <a:p>
            <a:r>
              <a:rPr lang="en-US" dirty="0"/>
              <a:t>Amortize cost of loop condition by duplicating body</a:t>
            </a:r>
          </a:p>
          <a:p>
            <a:r>
              <a:rPr lang="en-US" dirty="0"/>
              <a:t>Creates opportunities for CSE, code motion, scheduling</a:t>
            </a:r>
          </a:p>
          <a:p>
            <a:r>
              <a:rPr lang="en-US" dirty="0"/>
              <a:t>Prepares code for </a:t>
            </a:r>
            <a:r>
              <a:rPr lang="en-US" dirty="0" err="1"/>
              <a:t>SIMDilization</a:t>
            </a:r>
            <a:endParaRPr lang="en-US" dirty="0"/>
          </a:p>
          <a:p>
            <a:r>
              <a:rPr lang="en-US" dirty="0"/>
              <a:t>Can hurt performance by increasing code size</a:t>
            </a:r>
          </a:p>
          <a:p>
            <a:r>
              <a:rPr lang="en-US" dirty="0"/>
              <a:t>Can increase compile time significantly</a:t>
            </a:r>
          </a:p>
        </p:txBody>
      </p:sp>
      <p:sp>
        <p:nvSpPr>
          <p:cNvPr id="4" name="Rectangle 2">
            <a:extLst>
              <a:ext uri="{FF2B5EF4-FFF2-40B4-BE49-F238E27FC236}">
                <a16:creationId xmlns:a16="http://schemas.microsoft.com/office/drawing/2014/main" id="{EF253BD9-B83F-4226-90D7-C38171C0946F}"/>
              </a:ext>
            </a:extLst>
          </p:cNvPr>
          <p:cNvSpPr>
            <a:spLocks noChangeArrowheads="1"/>
          </p:cNvSpPr>
          <p:nvPr/>
        </p:nvSpPr>
        <p:spPr bwMode="auto">
          <a:xfrm>
            <a:off x="916085" y="3211716"/>
            <a:ext cx="3197029" cy="62324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200" dirty="0">
                <a:latin typeface="Consolas" panose="020B0609020204030204" pitchFamily="49" charset="0"/>
              </a:rPr>
              <a:t>for (</a:t>
            </a:r>
            <a:r>
              <a:rPr lang="en-US" altLang="en-US" sz="1200" dirty="0" err="1">
                <a:latin typeface="Consolas" panose="020B0609020204030204" pitchFamily="49" charset="0"/>
              </a:rPr>
              <a:t>size_t</a:t>
            </a:r>
            <a:r>
              <a:rPr lang="en-US" altLang="en-US" sz="1200" dirty="0">
                <a:latin typeface="Consolas" panose="020B0609020204030204" pitchFamily="49" charset="0"/>
              </a:rPr>
              <a:t> </a:t>
            </a:r>
            <a:r>
              <a:rPr lang="en-US" altLang="en-US" sz="1200" dirty="0" err="1">
                <a:latin typeface="Consolas" panose="020B0609020204030204" pitchFamily="49" charset="0"/>
              </a:rPr>
              <a:t>i</a:t>
            </a:r>
            <a:r>
              <a:rPr lang="en-US" altLang="en-US" sz="1200" dirty="0">
                <a:latin typeface="Consolas" panose="020B0609020204030204" pitchFamily="49" charset="0"/>
              </a:rPr>
              <a:t> = 0; </a:t>
            </a:r>
            <a:r>
              <a:rPr lang="en-US" altLang="en-US" sz="1200" dirty="0" err="1">
                <a:latin typeface="Consolas" panose="020B0609020204030204" pitchFamily="49" charset="0"/>
              </a:rPr>
              <a:t>i</a:t>
            </a:r>
            <a:r>
              <a:rPr lang="en-US" altLang="en-US" sz="1200" dirty="0">
                <a:latin typeface="Consolas" panose="020B0609020204030204" pitchFamily="49" charset="0"/>
              </a:rPr>
              <a:t> &lt; </a:t>
            </a:r>
            <a:r>
              <a:rPr lang="en-US" altLang="en-US" sz="1200" dirty="0" err="1">
                <a:solidFill>
                  <a:srgbClr val="FF0000"/>
                </a:solidFill>
                <a:latin typeface="Consolas" panose="020B0609020204030204" pitchFamily="49" charset="0"/>
              </a:rPr>
              <a:t>nelts</a:t>
            </a:r>
            <a:r>
              <a:rPr lang="en-US" altLang="en-US" sz="1200" dirty="0">
                <a:latin typeface="Consolas" panose="020B0609020204030204" pitchFamily="49" charset="0"/>
              </a:rPr>
              <a:t>; </a:t>
            </a:r>
            <a:r>
              <a:rPr lang="en-US" altLang="en-US" sz="1200" dirty="0" err="1">
                <a:latin typeface="Consolas" panose="020B0609020204030204" pitchFamily="49" charset="0"/>
              </a:rPr>
              <a:t>i</a:t>
            </a:r>
            <a:r>
              <a:rPr lang="en-US" altLang="en-US" sz="1200" dirty="0">
                <a:solidFill>
                  <a:srgbClr val="C00000"/>
                </a:solidFill>
                <a:latin typeface="Consolas" panose="020B0609020204030204" pitchFamily="49" charset="0"/>
              </a:rPr>
              <a:t>++</a:t>
            </a:r>
            <a:r>
              <a:rPr lang="en-US" altLang="en-US" sz="1200" dirty="0">
                <a:latin typeface="Consolas" panose="020B0609020204030204" pitchFamily="49" charset="0"/>
              </a:rPr>
              <a:t>) {</a:t>
            </a:r>
          </a:p>
          <a:p>
            <a:pPr defTabSz="685800" eaLnBrk="0" fontAlgn="base" hangingPunct="0">
              <a:spcBef>
                <a:spcPct val="0"/>
              </a:spcBef>
              <a:spcAft>
                <a:spcPct val="0"/>
              </a:spcAft>
            </a:pPr>
            <a:r>
              <a:rPr lang="en-US" altLang="en-US" sz="1200" dirty="0">
                <a:latin typeface="Consolas" panose="020B0609020204030204" pitchFamily="49" charset="0"/>
              </a:rPr>
              <a:t>    A[</a:t>
            </a:r>
            <a:r>
              <a:rPr lang="en-US" altLang="en-US" sz="1200" dirty="0" err="1">
                <a:latin typeface="Consolas" panose="020B0609020204030204" pitchFamily="49" charset="0"/>
              </a:rPr>
              <a:t>i</a:t>
            </a:r>
            <a:r>
              <a:rPr lang="en-US" altLang="en-US" sz="1200" dirty="0">
                <a:latin typeface="Consolas" panose="020B0609020204030204" pitchFamily="49" charset="0"/>
              </a:rPr>
              <a:t>] = B[</a:t>
            </a:r>
            <a:r>
              <a:rPr lang="en-US" altLang="en-US" sz="1200" dirty="0" err="1">
                <a:latin typeface="Consolas" panose="020B0609020204030204" pitchFamily="49" charset="0"/>
              </a:rPr>
              <a:t>i</a:t>
            </a:r>
            <a:r>
              <a:rPr lang="en-US" altLang="en-US" sz="1200" dirty="0">
                <a:latin typeface="Consolas" panose="020B0609020204030204" pitchFamily="49" charset="0"/>
              </a:rPr>
              <a:t>]*k + C[</a:t>
            </a:r>
            <a:r>
              <a:rPr lang="en-US" altLang="en-US" sz="1200" dirty="0" err="1">
                <a:latin typeface="Consolas" panose="020B0609020204030204" pitchFamily="49" charset="0"/>
              </a:rPr>
              <a:t>i</a:t>
            </a:r>
            <a:r>
              <a:rPr lang="en-US" altLang="en-US" sz="1200" dirty="0">
                <a:latin typeface="Consolas" panose="020B0609020204030204" pitchFamily="49" charset="0"/>
              </a:rPr>
              <a:t>];</a:t>
            </a:r>
          </a:p>
          <a:p>
            <a:pPr defTabSz="685800" eaLnBrk="0" fontAlgn="base" hangingPunct="0">
              <a:spcBef>
                <a:spcPct val="0"/>
              </a:spcBef>
              <a:spcAft>
                <a:spcPct val="0"/>
              </a:spcAft>
            </a:pPr>
            <a:r>
              <a:rPr lang="en-US" altLang="en-US" sz="1200" dirty="0">
                <a:latin typeface="Consolas" panose="020B0609020204030204" pitchFamily="49" charset="0"/>
              </a:rPr>
              <a:t>}</a:t>
            </a:r>
          </a:p>
        </p:txBody>
      </p:sp>
      <p:sp>
        <p:nvSpPr>
          <p:cNvPr id="5" name="Rectangle 2">
            <a:extLst>
              <a:ext uri="{FF2B5EF4-FFF2-40B4-BE49-F238E27FC236}">
                <a16:creationId xmlns:a16="http://schemas.microsoft.com/office/drawing/2014/main" id="{A63E469D-1631-4F0F-A971-9E1AD48A73C6}"/>
              </a:ext>
            </a:extLst>
          </p:cNvPr>
          <p:cNvSpPr>
            <a:spLocks noChangeArrowheads="1"/>
          </p:cNvSpPr>
          <p:nvPr/>
        </p:nvSpPr>
        <p:spPr bwMode="auto">
          <a:xfrm>
            <a:off x="5553701" y="2934243"/>
            <a:ext cx="3447098" cy="10541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1100" dirty="0">
                <a:latin typeface="Consolas" panose="020B0609020204030204" pitchFamily="49" charset="0"/>
              </a:rPr>
              <a:t>for (</a:t>
            </a:r>
            <a:r>
              <a:rPr lang="en-US" altLang="en-US" sz="1100" dirty="0" err="1">
                <a:latin typeface="Consolas" panose="020B0609020204030204" pitchFamily="49" charset="0"/>
              </a:rPr>
              <a:t>size_t</a:t>
            </a:r>
            <a:r>
              <a:rPr lang="en-US" altLang="en-US" sz="1100" dirty="0">
                <a:latin typeface="Consolas" panose="020B0609020204030204" pitchFamily="49" charset="0"/>
              </a:rPr>
              <a:t> </a:t>
            </a:r>
            <a:r>
              <a:rPr lang="en-US" altLang="en-US" sz="1100" dirty="0" err="1">
                <a:latin typeface="Consolas" panose="020B0609020204030204" pitchFamily="49" charset="0"/>
              </a:rPr>
              <a:t>i</a:t>
            </a:r>
            <a:r>
              <a:rPr lang="en-US" altLang="en-US" sz="1100" dirty="0">
                <a:latin typeface="Consolas" panose="020B0609020204030204" pitchFamily="49" charset="0"/>
              </a:rPr>
              <a:t> = 0; </a:t>
            </a:r>
            <a:r>
              <a:rPr lang="en-US" altLang="en-US" sz="1100" dirty="0" err="1">
                <a:latin typeface="Consolas" panose="020B0609020204030204" pitchFamily="49" charset="0"/>
              </a:rPr>
              <a:t>i</a:t>
            </a:r>
            <a:r>
              <a:rPr lang="en-US" altLang="en-US" sz="1100" dirty="0">
                <a:latin typeface="Consolas" panose="020B0609020204030204" pitchFamily="49" charset="0"/>
              </a:rPr>
              <a:t> &lt; </a:t>
            </a:r>
            <a:r>
              <a:rPr lang="en-US" altLang="en-US" sz="1100" dirty="0" err="1">
                <a:solidFill>
                  <a:srgbClr val="C00000"/>
                </a:solidFill>
                <a:highlight>
                  <a:srgbClr val="FFFF00"/>
                </a:highlight>
                <a:latin typeface="Consolas" panose="020B0609020204030204" pitchFamily="49" charset="0"/>
              </a:rPr>
              <a:t>nelts</a:t>
            </a:r>
            <a:r>
              <a:rPr lang="en-US" altLang="en-US" sz="1100" dirty="0">
                <a:solidFill>
                  <a:srgbClr val="C00000"/>
                </a:solidFill>
                <a:highlight>
                  <a:srgbClr val="FFFF00"/>
                </a:highlight>
                <a:latin typeface="Consolas" panose="020B0609020204030204" pitchFamily="49" charset="0"/>
              </a:rPr>
              <a:t> - 4</a:t>
            </a:r>
            <a:r>
              <a:rPr lang="en-US" altLang="en-US" sz="1100" dirty="0">
                <a:latin typeface="Consolas" panose="020B0609020204030204" pitchFamily="49" charset="0"/>
              </a:rPr>
              <a:t>; </a:t>
            </a:r>
            <a:r>
              <a:rPr lang="en-US" altLang="en-US" sz="1100" dirty="0" err="1">
                <a:latin typeface="Consolas" panose="020B0609020204030204" pitchFamily="49" charset="0"/>
              </a:rPr>
              <a:t>i</a:t>
            </a:r>
            <a:r>
              <a:rPr lang="en-US" altLang="en-US" sz="1100" dirty="0">
                <a:latin typeface="Consolas" panose="020B0609020204030204" pitchFamily="49" charset="0"/>
              </a:rPr>
              <a:t> </a:t>
            </a:r>
            <a:r>
              <a:rPr lang="en-US" altLang="en-US" sz="1100" dirty="0">
                <a:solidFill>
                  <a:srgbClr val="C00000"/>
                </a:solidFill>
                <a:highlight>
                  <a:srgbClr val="FFFF00"/>
                </a:highlight>
                <a:latin typeface="Consolas" panose="020B0609020204030204" pitchFamily="49" charset="0"/>
              </a:rPr>
              <a:t>+= 4</a:t>
            </a:r>
            <a:r>
              <a:rPr lang="en-US" altLang="en-US" sz="1100" dirty="0">
                <a:latin typeface="Consolas" panose="020B0609020204030204" pitchFamily="49" charset="0"/>
              </a:rPr>
              <a:t>) {</a:t>
            </a:r>
          </a:p>
          <a:p>
            <a:pPr defTabSz="685800" eaLnBrk="0" fontAlgn="base" hangingPunct="0">
              <a:spcBef>
                <a:spcPct val="0"/>
              </a:spcBef>
              <a:spcAft>
                <a:spcPct val="0"/>
              </a:spcAft>
            </a:pPr>
            <a:r>
              <a:rPr lang="en-US" altLang="en-US" sz="1100" dirty="0">
                <a:latin typeface="Consolas" panose="020B0609020204030204" pitchFamily="49" charset="0"/>
              </a:rPr>
              <a:t>    A[</a:t>
            </a:r>
            <a:r>
              <a:rPr lang="en-US" altLang="en-US" sz="1100" dirty="0" err="1">
                <a:latin typeface="Consolas" panose="020B0609020204030204" pitchFamily="49" charset="0"/>
              </a:rPr>
              <a:t>i</a:t>
            </a:r>
            <a:r>
              <a:rPr lang="en-US" altLang="en-US" sz="1100" dirty="0">
                <a:latin typeface="Consolas" panose="020B0609020204030204" pitchFamily="49" charset="0"/>
              </a:rPr>
              <a:t>  ] = B[</a:t>
            </a:r>
            <a:r>
              <a:rPr lang="en-US" altLang="en-US" sz="1100" dirty="0" err="1">
                <a:latin typeface="Consolas" panose="020B0609020204030204" pitchFamily="49" charset="0"/>
              </a:rPr>
              <a:t>i</a:t>
            </a:r>
            <a:r>
              <a:rPr lang="en-US" altLang="en-US" sz="1100" dirty="0">
                <a:latin typeface="Consolas" panose="020B0609020204030204" pitchFamily="49" charset="0"/>
              </a:rPr>
              <a:t>  ]*k + C[</a:t>
            </a:r>
            <a:r>
              <a:rPr lang="en-US" altLang="en-US" sz="1100" dirty="0" err="1">
                <a:latin typeface="Consolas" panose="020B0609020204030204" pitchFamily="49" charset="0"/>
              </a:rPr>
              <a:t>i</a:t>
            </a:r>
            <a:r>
              <a:rPr lang="en-US" altLang="en-US" sz="1100" dirty="0">
                <a:latin typeface="Consolas" panose="020B0609020204030204" pitchFamily="49" charset="0"/>
              </a:rPr>
              <a:t>  ];</a:t>
            </a:r>
          </a:p>
          <a:p>
            <a:pPr defTabSz="685800" eaLnBrk="0" fontAlgn="base" hangingPunct="0">
              <a:spcBef>
                <a:spcPct val="0"/>
              </a:spcBef>
              <a:spcAft>
                <a:spcPct val="0"/>
              </a:spcAft>
            </a:pPr>
            <a:r>
              <a:rPr lang="en-US" altLang="en-US" sz="1100" dirty="0">
                <a:latin typeface="Consolas" panose="020B0609020204030204" pitchFamily="49" charset="0"/>
              </a:rPr>
              <a:t>    </a:t>
            </a:r>
            <a:r>
              <a:rPr lang="en-US" altLang="en-US" sz="1100" dirty="0">
                <a:solidFill>
                  <a:srgbClr val="C00000"/>
                </a:solidFill>
                <a:highlight>
                  <a:srgbClr val="FFFF00"/>
                </a:highlight>
                <a:latin typeface="Consolas" panose="020B0609020204030204" pitchFamily="49" charset="0"/>
              </a:rPr>
              <a:t>A[i+1] = B[i+1]*k + C[i+1];</a:t>
            </a:r>
          </a:p>
          <a:p>
            <a:pPr defTabSz="685800" eaLnBrk="0" fontAlgn="base" hangingPunct="0">
              <a:spcBef>
                <a:spcPct val="0"/>
              </a:spcBef>
              <a:spcAft>
                <a:spcPct val="0"/>
              </a:spcAft>
            </a:pPr>
            <a:r>
              <a:rPr lang="en-US" altLang="en-US" sz="1100" dirty="0">
                <a:solidFill>
                  <a:srgbClr val="C00000"/>
                </a:solidFill>
                <a:latin typeface="Consolas" panose="020B0609020204030204" pitchFamily="49" charset="0"/>
              </a:rPr>
              <a:t>    </a:t>
            </a:r>
            <a:r>
              <a:rPr lang="en-US" altLang="en-US" sz="1100" dirty="0">
                <a:solidFill>
                  <a:srgbClr val="C00000"/>
                </a:solidFill>
                <a:highlight>
                  <a:srgbClr val="FFFF00"/>
                </a:highlight>
                <a:latin typeface="Consolas" panose="020B0609020204030204" pitchFamily="49" charset="0"/>
              </a:rPr>
              <a:t>A[i+2] = B[i+2]*k + C[i+2];</a:t>
            </a:r>
          </a:p>
          <a:p>
            <a:pPr defTabSz="685800" eaLnBrk="0" fontAlgn="base" hangingPunct="0">
              <a:spcBef>
                <a:spcPct val="0"/>
              </a:spcBef>
              <a:spcAft>
                <a:spcPct val="0"/>
              </a:spcAft>
            </a:pPr>
            <a:r>
              <a:rPr lang="en-US" altLang="en-US" sz="1100" dirty="0">
                <a:solidFill>
                  <a:srgbClr val="C00000"/>
                </a:solidFill>
                <a:latin typeface="Consolas" panose="020B0609020204030204" pitchFamily="49" charset="0"/>
              </a:rPr>
              <a:t>    </a:t>
            </a:r>
            <a:r>
              <a:rPr lang="en-US" altLang="en-US" sz="1100" dirty="0">
                <a:solidFill>
                  <a:srgbClr val="C00000"/>
                </a:solidFill>
                <a:highlight>
                  <a:srgbClr val="FFFF00"/>
                </a:highlight>
                <a:latin typeface="Consolas" panose="020B0609020204030204" pitchFamily="49" charset="0"/>
              </a:rPr>
              <a:t>A[i+3] = B[i+3]*k + C[i+3];</a:t>
            </a:r>
          </a:p>
          <a:p>
            <a:pPr defTabSz="685800" eaLnBrk="0" fontAlgn="base" hangingPunct="0">
              <a:spcBef>
                <a:spcPct val="0"/>
              </a:spcBef>
              <a:spcAft>
                <a:spcPct val="0"/>
              </a:spcAft>
            </a:pPr>
            <a:r>
              <a:rPr lang="en-US" altLang="en-US" sz="900" dirty="0">
                <a:latin typeface="Consolas" panose="020B0609020204030204" pitchFamily="49" charset="0"/>
              </a:rPr>
              <a:t>}</a:t>
            </a:r>
          </a:p>
        </p:txBody>
      </p:sp>
      <p:sp>
        <p:nvSpPr>
          <p:cNvPr id="6" name="Rectangle 5">
            <a:extLst>
              <a:ext uri="{FF2B5EF4-FFF2-40B4-BE49-F238E27FC236}">
                <a16:creationId xmlns:a16="http://schemas.microsoft.com/office/drawing/2014/main" id="{956454AC-1B87-421D-8F02-AD17BE3E7718}"/>
              </a:ext>
            </a:extLst>
          </p:cNvPr>
          <p:cNvSpPr/>
          <p:nvPr/>
        </p:nvSpPr>
        <p:spPr bwMode="auto">
          <a:xfrm>
            <a:off x="2514600" y="3943350"/>
            <a:ext cx="3829050" cy="571500"/>
          </a:xfrm>
          <a:prstGeom prst="rect">
            <a:avLst/>
          </a:prstGeom>
          <a:solidFill>
            <a:srgbClr val="FFC000"/>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350" dirty="0">
                <a:latin typeface="Calibri" pitchFamily="34" charset="0"/>
              </a:rPr>
              <a:t>When would this change be incorrect?</a:t>
            </a:r>
          </a:p>
        </p:txBody>
      </p:sp>
    </p:spTree>
    <p:extLst>
      <p:ext uri="{BB962C8B-B14F-4D97-AF65-F5344CB8AC3E}">
        <p14:creationId xmlns:p14="http://schemas.microsoft.com/office/powerpoint/2010/main" val="450071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5F572A-13DD-4EC6-B116-DAC569703F43}"/>
              </a:ext>
            </a:extLst>
          </p:cNvPr>
          <p:cNvSpPr>
            <a:spLocks noGrp="1"/>
          </p:cNvSpPr>
          <p:nvPr>
            <p:ph type="title"/>
          </p:nvPr>
        </p:nvSpPr>
        <p:spPr/>
        <p:txBody>
          <a:bodyPr/>
          <a:lstStyle/>
          <a:p>
            <a:r>
              <a:rPr lang="en-US" dirty="0"/>
              <a:t>Scheduling</a:t>
            </a:r>
          </a:p>
        </p:txBody>
      </p:sp>
      <p:sp>
        <p:nvSpPr>
          <p:cNvPr id="3" name="Content Placeholder 2">
            <a:extLst>
              <a:ext uri="{FF2B5EF4-FFF2-40B4-BE49-F238E27FC236}">
                <a16:creationId xmlns:a16="http://schemas.microsoft.com/office/drawing/2014/main" id="{2381E46E-576A-42E5-91D2-66D12D16B73E}"/>
              </a:ext>
            </a:extLst>
          </p:cNvPr>
          <p:cNvSpPr>
            <a:spLocks noGrp="1"/>
          </p:cNvSpPr>
          <p:nvPr>
            <p:ph idx="1"/>
          </p:nvPr>
        </p:nvSpPr>
        <p:spPr/>
        <p:txBody>
          <a:bodyPr/>
          <a:lstStyle/>
          <a:p>
            <a:r>
              <a:rPr lang="en-US" dirty="0"/>
              <a:t>Rearrange instructions to make it easier for the CPU</a:t>
            </a:r>
            <a:br>
              <a:rPr lang="en-US" dirty="0"/>
            </a:br>
            <a:r>
              <a:rPr lang="en-US" dirty="0"/>
              <a:t>to keep all functional units busy</a:t>
            </a:r>
          </a:p>
          <a:p>
            <a:r>
              <a:rPr lang="en-US" dirty="0"/>
              <a:t>For instance, move all the loads to the top of an</a:t>
            </a:r>
            <a:br>
              <a:rPr lang="en-US" dirty="0"/>
            </a:br>
            <a:r>
              <a:rPr lang="en-US" dirty="0"/>
              <a:t>unrolled loop</a:t>
            </a:r>
          </a:p>
          <a:p>
            <a:pPr lvl="1"/>
            <a:r>
              <a:rPr lang="en-US" dirty="0"/>
              <a:t>Now maybe it’s more obvious why we need lots of registers</a:t>
            </a:r>
          </a:p>
        </p:txBody>
      </p:sp>
      <p:sp>
        <p:nvSpPr>
          <p:cNvPr id="5" name="Rectangle 2">
            <a:extLst>
              <a:ext uri="{FF2B5EF4-FFF2-40B4-BE49-F238E27FC236}">
                <a16:creationId xmlns:a16="http://schemas.microsoft.com/office/drawing/2014/main" id="{B0F3183A-D0DE-496D-A5EB-C2B7F787A393}"/>
              </a:ext>
            </a:extLst>
          </p:cNvPr>
          <p:cNvSpPr>
            <a:spLocks noChangeArrowheads="1"/>
          </p:cNvSpPr>
          <p:nvPr/>
        </p:nvSpPr>
        <p:spPr bwMode="auto">
          <a:xfrm>
            <a:off x="5323395" y="2854171"/>
            <a:ext cx="3536866" cy="11772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900" dirty="0">
                <a:latin typeface="Consolas" panose="020B0609020204030204" pitchFamily="49" charset="0"/>
              </a:rPr>
              <a:t>for (</a:t>
            </a:r>
            <a:r>
              <a:rPr lang="en-US" altLang="en-US" sz="900" dirty="0" err="1">
                <a:latin typeface="Consolas" panose="020B0609020204030204" pitchFamily="49" charset="0"/>
              </a:rPr>
              <a:t>size_t</a:t>
            </a:r>
            <a:r>
              <a:rPr lang="en-US" altLang="en-US" sz="900" dirty="0">
                <a:latin typeface="Consolas" panose="020B0609020204030204" pitchFamily="49" charset="0"/>
              </a:rPr>
              <a:t> </a:t>
            </a:r>
            <a:r>
              <a:rPr lang="en-US" altLang="en-US" sz="900" dirty="0" err="1">
                <a:latin typeface="Consolas" panose="020B0609020204030204" pitchFamily="49" charset="0"/>
              </a:rPr>
              <a:t>i</a:t>
            </a:r>
            <a:r>
              <a:rPr lang="en-US" altLang="en-US" sz="900" dirty="0">
                <a:latin typeface="Consolas" panose="020B0609020204030204" pitchFamily="49" charset="0"/>
              </a:rPr>
              <a:t> = 0; </a:t>
            </a:r>
            <a:r>
              <a:rPr lang="en-US" altLang="en-US" sz="900" dirty="0" err="1">
                <a:latin typeface="Consolas" panose="020B0609020204030204" pitchFamily="49" charset="0"/>
              </a:rPr>
              <a:t>i</a:t>
            </a:r>
            <a:r>
              <a:rPr lang="en-US" altLang="en-US" sz="900" dirty="0">
                <a:latin typeface="Consolas" panose="020B0609020204030204" pitchFamily="49" charset="0"/>
              </a:rPr>
              <a:t> &lt; </a:t>
            </a:r>
            <a:r>
              <a:rPr lang="en-US" altLang="en-US" sz="900" dirty="0" err="1">
                <a:latin typeface="Consolas" panose="020B0609020204030204" pitchFamily="49" charset="0"/>
              </a:rPr>
              <a:t>nelts</a:t>
            </a:r>
            <a:r>
              <a:rPr lang="en-US" altLang="en-US" sz="900" dirty="0">
                <a:latin typeface="Consolas" panose="020B0609020204030204" pitchFamily="49" charset="0"/>
              </a:rPr>
              <a:t> - 4; </a:t>
            </a:r>
            <a:r>
              <a:rPr lang="en-US" altLang="en-US" sz="900" dirty="0" err="1">
                <a:latin typeface="Consolas" panose="020B0609020204030204" pitchFamily="49" charset="0"/>
              </a:rPr>
              <a:t>i</a:t>
            </a:r>
            <a:r>
              <a:rPr lang="en-US" altLang="en-US" sz="900" dirty="0">
                <a:latin typeface="Consolas" panose="020B0609020204030204" pitchFamily="49" charset="0"/>
              </a:rPr>
              <a:t> += 4) {</a:t>
            </a:r>
          </a:p>
          <a:p>
            <a:pPr defTabSz="685800" eaLnBrk="0" fontAlgn="base" hangingPunct="0">
              <a:spcBef>
                <a:spcPct val="0"/>
              </a:spcBef>
              <a:spcAft>
                <a:spcPct val="0"/>
              </a:spcAft>
            </a:pPr>
            <a:r>
              <a:rPr lang="en-US" altLang="en-US" sz="900" dirty="0">
                <a:latin typeface="Consolas" panose="020B0609020204030204" pitchFamily="49" charset="0"/>
              </a:rPr>
              <a:t>    </a:t>
            </a:r>
            <a:r>
              <a:rPr lang="en-US" altLang="en-US" sz="900" dirty="0">
                <a:solidFill>
                  <a:srgbClr val="C00000"/>
                </a:solidFill>
                <a:highlight>
                  <a:srgbClr val="FFFF00"/>
                </a:highlight>
                <a:latin typeface="Consolas" panose="020B0609020204030204" pitchFamily="49" charset="0"/>
              </a:rPr>
              <a:t>B0 = B[</a:t>
            </a:r>
            <a:r>
              <a:rPr lang="en-US" altLang="en-US" sz="900" dirty="0" err="1">
                <a:solidFill>
                  <a:srgbClr val="C00000"/>
                </a:solidFill>
                <a:highlight>
                  <a:srgbClr val="FFFF00"/>
                </a:highlight>
                <a:latin typeface="Consolas" panose="020B0609020204030204" pitchFamily="49" charset="0"/>
              </a:rPr>
              <a:t>i</a:t>
            </a:r>
            <a:r>
              <a:rPr lang="en-US" altLang="en-US" sz="900" dirty="0">
                <a:solidFill>
                  <a:srgbClr val="C00000"/>
                </a:solidFill>
                <a:highlight>
                  <a:srgbClr val="FFFF00"/>
                </a:highlight>
                <a:latin typeface="Consolas" panose="020B0609020204030204" pitchFamily="49" charset="0"/>
              </a:rPr>
              <a:t>]; B1 = B[i+1]; B2 = B[i+2]; B3 = B[i+3];</a:t>
            </a:r>
          </a:p>
          <a:p>
            <a:pPr defTabSz="685800" eaLnBrk="0" fontAlgn="base" hangingPunct="0">
              <a:spcBef>
                <a:spcPct val="0"/>
              </a:spcBef>
              <a:spcAft>
                <a:spcPct val="0"/>
              </a:spcAft>
            </a:pPr>
            <a:r>
              <a:rPr lang="en-US" altLang="en-US" sz="900" dirty="0">
                <a:solidFill>
                  <a:srgbClr val="C00000"/>
                </a:solidFill>
                <a:latin typeface="Consolas" panose="020B0609020204030204" pitchFamily="49" charset="0"/>
              </a:rPr>
              <a:t>    </a:t>
            </a:r>
            <a:r>
              <a:rPr lang="en-US" altLang="en-US" sz="900" dirty="0">
                <a:solidFill>
                  <a:srgbClr val="C00000"/>
                </a:solidFill>
                <a:highlight>
                  <a:srgbClr val="FFFF00"/>
                </a:highlight>
                <a:latin typeface="Consolas" panose="020B0609020204030204" pitchFamily="49" charset="0"/>
              </a:rPr>
              <a:t>C0 = C[</a:t>
            </a:r>
            <a:r>
              <a:rPr lang="en-US" altLang="en-US" sz="900" dirty="0" err="1">
                <a:solidFill>
                  <a:srgbClr val="C00000"/>
                </a:solidFill>
                <a:highlight>
                  <a:srgbClr val="FFFF00"/>
                </a:highlight>
                <a:latin typeface="Consolas" panose="020B0609020204030204" pitchFamily="49" charset="0"/>
              </a:rPr>
              <a:t>i</a:t>
            </a:r>
            <a:r>
              <a:rPr lang="en-US" altLang="en-US" sz="900" dirty="0">
                <a:solidFill>
                  <a:srgbClr val="C00000"/>
                </a:solidFill>
                <a:highlight>
                  <a:srgbClr val="FFFF00"/>
                </a:highlight>
                <a:latin typeface="Consolas" panose="020B0609020204030204" pitchFamily="49" charset="0"/>
              </a:rPr>
              <a:t>]; C1 = C[i+1]; C2 = C[i+2]; C3 = B[i+3];</a:t>
            </a:r>
          </a:p>
          <a:p>
            <a:pPr defTabSz="685800" eaLnBrk="0" fontAlgn="base" hangingPunct="0">
              <a:spcBef>
                <a:spcPct val="0"/>
              </a:spcBef>
              <a:spcAft>
                <a:spcPct val="0"/>
              </a:spcAft>
            </a:pPr>
            <a:r>
              <a:rPr lang="en-US" altLang="en-US" sz="900" dirty="0">
                <a:latin typeface="Consolas" panose="020B0609020204030204" pitchFamily="49" charset="0"/>
              </a:rPr>
              <a:t>    A[</a:t>
            </a:r>
            <a:r>
              <a:rPr lang="en-US" altLang="en-US" sz="900" dirty="0" err="1">
                <a:latin typeface="Consolas" panose="020B0609020204030204" pitchFamily="49" charset="0"/>
              </a:rPr>
              <a:t>i</a:t>
            </a:r>
            <a:r>
              <a:rPr lang="en-US" altLang="en-US" sz="900" dirty="0">
                <a:latin typeface="Consolas" panose="020B0609020204030204" pitchFamily="49" charset="0"/>
              </a:rPr>
              <a:t>  ] = B0*k + C0;</a:t>
            </a:r>
          </a:p>
          <a:p>
            <a:pPr defTabSz="685800" eaLnBrk="0" fontAlgn="base" hangingPunct="0">
              <a:spcBef>
                <a:spcPct val="0"/>
              </a:spcBef>
              <a:spcAft>
                <a:spcPct val="0"/>
              </a:spcAft>
            </a:pPr>
            <a:r>
              <a:rPr lang="en-US" altLang="en-US" sz="900" dirty="0">
                <a:latin typeface="Consolas" panose="020B0609020204030204" pitchFamily="49" charset="0"/>
              </a:rPr>
              <a:t>    A[i+1] = B1*k + C1;</a:t>
            </a:r>
          </a:p>
          <a:p>
            <a:pPr defTabSz="685800" eaLnBrk="0" fontAlgn="base" hangingPunct="0">
              <a:spcBef>
                <a:spcPct val="0"/>
              </a:spcBef>
              <a:spcAft>
                <a:spcPct val="0"/>
              </a:spcAft>
            </a:pPr>
            <a:r>
              <a:rPr lang="en-US" altLang="en-US" sz="900" dirty="0">
                <a:latin typeface="Consolas" panose="020B0609020204030204" pitchFamily="49" charset="0"/>
              </a:rPr>
              <a:t>    A[i+2] = B2*k + C2;</a:t>
            </a:r>
          </a:p>
          <a:p>
            <a:pPr defTabSz="685800" eaLnBrk="0" fontAlgn="base" hangingPunct="0">
              <a:spcBef>
                <a:spcPct val="0"/>
              </a:spcBef>
              <a:spcAft>
                <a:spcPct val="0"/>
              </a:spcAft>
            </a:pPr>
            <a:r>
              <a:rPr lang="en-US" altLang="en-US" sz="900" dirty="0">
                <a:latin typeface="Consolas" panose="020B0609020204030204" pitchFamily="49" charset="0"/>
              </a:rPr>
              <a:t>    A[i+3] = B3*k + C3;</a:t>
            </a:r>
          </a:p>
          <a:p>
            <a:pPr defTabSz="685800" eaLnBrk="0" fontAlgn="base" hangingPunct="0">
              <a:spcBef>
                <a:spcPct val="0"/>
              </a:spcBef>
              <a:spcAft>
                <a:spcPct val="0"/>
              </a:spcAft>
            </a:pPr>
            <a:r>
              <a:rPr lang="en-US" altLang="en-US" sz="900" dirty="0">
                <a:latin typeface="Consolas" panose="020B0609020204030204" pitchFamily="49" charset="0"/>
              </a:rPr>
              <a:t>}</a:t>
            </a:r>
          </a:p>
        </p:txBody>
      </p:sp>
      <p:sp>
        <p:nvSpPr>
          <p:cNvPr id="6" name="Rectangle 2">
            <a:extLst>
              <a:ext uri="{FF2B5EF4-FFF2-40B4-BE49-F238E27FC236}">
                <a16:creationId xmlns:a16="http://schemas.microsoft.com/office/drawing/2014/main" id="{018C4C7F-DE58-4168-9702-ABEC675AC1FE}"/>
              </a:ext>
            </a:extLst>
          </p:cNvPr>
          <p:cNvSpPr>
            <a:spLocks noChangeArrowheads="1"/>
          </p:cNvSpPr>
          <p:nvPr/>
        </p:nvSpPr>
        <p:spPr bwMode="auto">
          <a:xfrm>
            <a:off x="786458" y="2934718"/>
            <a:ext cx="2895664" cy="9002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68580" tIns="34290" rIns="68580" bIns="34290" numCol="1" anchor="ctr" anchorCtr="0" compatLnSpc="1">
            <a:prstTxWarp prst="textNoShape">
              <a:avLst/>
            </a:prstTxWarp>
            <a:spAutoFit/>
          </a:bodyPr>
          <a:lstStyle/>
          <a:p>
            <a:pPr defTabSz="685800" eaLnBrk="0" fontAlgn="base" hangingPunct="0">
              <a:spcBef>
                <a:spcPct val="0"/>
              </a:spcBef>
              <a:spcAft>
                <a:spcPct val="0"/>
              </a:spcAft>
            </a:pPr>
            <a:r>
              <a:rPr lang="en-US" altLang="en-US" sz="900" dirty="0">
                <a:latin typeface="Consolas" panose="020B0609020204030204" pitchFamily="49" charset="0"/>
              </a:rPr>
              <a:t>for (</a:t>
            </a:r>
            <a:r>
              <a:rPr lang="en-US" altLang="en-US" sz="900" dirty="0" err="1">
                <a:latin typeface="Consolas" panose="020B0609020204030204" pitchFamily="49" charset="0"/>
              </a:rPr>
              <a:t>size_t</a:t>
            </a:r>
            <a:r>
              <a:rPr lang="en-US" altLang="en-US" sz="900" dirty="0">
                <a:latin typeface="Consolas" panose="020B0609020204030204" pitchFamily="49" charset="0"/>
              </a:rPr>
              <a:t> </a:t>
            </a:r>
            <a:r>
              <a:rPr lang="en-US" altLang="en-US" sz="900" dirty="0" err="1">
                <a:latin typeface="Consolas" panose="020B0609020204030204" pitchFamily="49" charset="0"/>
              </a:rPr>
              <a:t>i</a:t>
            </a:r>
            <a:r>
              <a:rPr lang="en-US" altLang="en-US" sz="900" dirty="0">
                <a:latin typeface="Consolas" panose="020B0609020204030204" pitchFamily="49" charset="0"/>
              </a:rPr>
              <a:t> = 0; </a:t>
            </a:r>
            <a:r>
              <a:rPr lang="en-US" altLang="en-US" sz="900" dirty="0" err="1">
                <a:latin typeface="Consolas" panose="020B0609020204030204" pitchFamily="49" charset="0"/>
              </a:rPr>
              <a:t>i</a:t>
            </a:r>
            <a:r>
              <a:rPr lang="en-US" altLang="en-US" sz="900" dirty="0">
                <a:latin typeface="Consolas" panose="020B0609020204030204" pitchFamily="49" charset="0"/>
              </a:rPr>
              <a:t> &lt; </a:t>
            </a:r>
            <a:r>
              <a:rPr lang="en-US" altLang="en-US" sz="900" dirty="0" err="1">
                <a:latin typeface="Consolas" panose="020B0609020204030204" pitchFamily="49" charset="0"/>
              </a:rPr>
              <a:t>nelts</a:t>
            </a:r>
            <a:r>
              <a:rPr lang="en-US" altLang="en-US" sz="900" dirty="0">
                <a:latin typeface="Consolas" panose="020B0609020204030204" pitchFamily="49" charset="0"/>
              </a:rPr>
              <a:t> - 4; </a:t>
            </a:r>
            <a:r>
              <a:rPr lang="en-US" altLang="en-US" sz="900" dirty="0" err="1">
                <a:latin typeface="Consolas" panose="020B0609020204030204" pitchFamily="49" charset="0"/>
              </a:rPr>
              <a:t>i</a:t>
            </a:r>
            <a:r>
              <a:rPr lang="en-US" altLang="en-US" sz="900" dirty="0">
                <a:latin typeface="Consolas" panose="020B0609020204030204" pitchFamily="49" charset="0"/>
              </a:rPr>
              <a:t> += 4) {</a:t>
            </a:r>
          </a:p>
          <a:p>
            <a:pPr defTabSz="685800" eaLnBrk="0" fontAlgn="base" hangingPunct="0">
              <a:spcBef>
                <a:spcPct val="0"/>
              </a:spcBef>
              <a:spcAft>
                <a:spcPct val="0"/>
              </a:spcAft>
            </a:pPr>
            <a:r>
              <a:rPr lang="en-US" altLang="en-US" sz="900" dirty="0">
                <a:latin typeface="Consolas" panose="020B0609020204030204" pitchFamily="49" charset="0"/>
              </a:rPr>
              <a:t>    A[</a:t>
            </a:r>
            <a:r>
              <a:rPr lang="en-US" altLang="en-US" sz="900" dirty="0" err="1">
                <a:latin typeface="Consolas" panose="020B0609020204030204" pitchFamily="49" charset="0"/>
              </a:rPr>
              <a:t>i</a:t>
            </a:r>
            <a:r>
              <a:rPr lang="en-US" altLang="en-US" sz="900" dirty="0">
                <a:latin typeface="Consolas" panose="020B0609020204030204" pitchFamily="49" charset="0"/>
              </a:rPr>
              <a:t>  ] = B[</a:t>
            </a:r>
            <a:r>
              <a:rPr lang="en-US" altLang="en-US" sz="900" dirty="0" err="1">
                <a:latin typeface="Consolas" panose="020B0609020204030204" pitchFamily="49" charset="0"/>
              </a:rPr>
              <a:t>i</a:t>
            </a:r>
            <a:r>
              <a:rPr lang="en-US" altLang="en-US" sz="900" dirty="0">
                <a:latin typeface="Consolas" panose="020B0609020204030204" pitchFamily="49" charset="0"/>
              </a:rPr>
              <a:t>  ]*k + C[</a:t>
            </a:r>
            <a:r>
              <a:rPr lang="en-US" altLang="en-US" sz="900" dirty="0" err="1">
                <a:latin typeface="Consolas" panose="020B0609020204030204" pitchFamily="49" charset="0"/>
              </a:rPr>
              <a:t>i</a:t>
            </a:r>
            <a:r>
              <a:rPr lang="en-US" altLang="en-US" sz="900" dirty="0">
                <a:latin typeface="Consolas" panose="020B0609020204030204" pitchFamily="49" charset="0"/>
              </a:rPr>
              <a:t>  ];</a:t>
            </a:r>
          </a:p>
          <a:p>
            <a:pPr defTabSz="685800" eaLnBrk="0" fontAlgn="base" hangingPunct="0">
              <a:spcBef>
                <a:spcPct val="0"/>
              </a:spcBef>
              <a:spcAft>
                <a:spcPct val="0"/>
              </a:spcAft>
            </a:pPr>
            <a:r>
              <a:rPr lang="en-US" altLang="en-US" sz="900" dirty="0">
                <a:latin typeface="Consolas" panose="020B0609020204030204" pitchFamily="49" charset="0"/>
              </a:rPr>
              <a:t>    A[i+1] = B[i+1]*k + C[i+1];</a:t>
            </a:r>
          </a:p>
          <a:p>
            <a:pPr defTabSz="685800" eaLnBrk="0" fontAlgn="base" hangingPunct="0">
              <a:spcBef>
                <a:spcPct val="0"/>
              </a:spcBef>
              <a:spcAft>
                <a:spcPct val="0"/>
              </a:spcAft>
            </a:pPr>
            <a:r>
              <a:rPr lang="en-US" altLang="en-US" sz="900" dirty="0">
                <a:latin typeface="Consolas" panose="020B0609020204030204" pitchFamily="49" charset="0"/>
              </a:rPr>
              <a:t>    A[i+2] = B[i+2]*k + C[i+2];</a:t>
            </a:r>
          </a:p>
          <a:p>
            <a:pPr defTabSz="685800" eaLnBrk="0" fontAlgn="base" hangingPunct="0">
              <a:spcBef>
                <a:spcPct val="0"/>
              </a:spcBef>
              <a:spcAft>
                <a:spcPct val="0"/>
              </a:spcAft>
            </a:pPr>
            <a:r>
              <a:rPr lang="en-US" altLang="en-US" sz="900" dirty="0">
                <a:latin typeface="Consolas" panose="020B0609020204030204" pitchFamily="49" charset="0"/>
              </a:rPr>
              <a:t>    A[i+3] = B[i+3]*k + C[i+3];</a:t>
            </a:r>
          </a:p>
          <a:p>
            <a:pPr defTabSz="685800" eaLnBrk="0" fontAlgn="base" hangingPunct="0">
              <a:spcBef>
                <a:spcPct val="0"/>
              </a:spcBef>
              <a:spcAft>
                <a:spcPct val="0"/>
              </a:spcAft>
            </a:pPr>
            <a:r>
              <a:rPr lang="en-US" altLang="en-US" sz="900" dirty="0">
                <a:latin typeface="Consolas" panose="020B0609020204030204" pitchFamily="49" charset="0"/>
              </a:rPr>
              <a:t>}</a:t>
            </a:r>
          </a:p>
        </p:txBody>
      </p:sp>
      <p:sp>
        <p:nvSpPr>
          <p:cNvPr id="7" name="Rectangle 6">
            <a:extLst>
              <a:ext uri="{FF2B5EF4-FFF2-40B4-BE49-F238E27FC236}">
                <a16:creationId xmlns:a16="http://schemas.microsoft.com/office/drawing/2014/main" id="{20742E0F-A565-44A0-AF68-E6BD397192F0}"/>
              </a:ext>
            </a:extLst>
          </p:cNvPr>
          <p:cNvSpPr/>
          <p:nvPr/>
        </p:nvSpPr>
        <p:spPr bwMode="auto">
          <a:xfrm>
            <a:off x="2514600" y="3943350"/>
            <a:ext cx="3829050" cy="571500"/>
          </a:xfrm>
          <a:prstGeom prst="rect">
            <a:avLst/>
          </a:prstGeom>
          <a:solidFill>
            <a:srgbClr val="FFC000"/>
          </a:solidFill>
          <a:ln w="25400" cap="flat" cmpd="sng" algn="ctr">
            <a:noFill/>
            <a:prstDash val="solid"/>
            <a:round/>
            <a:headEnd type="none" w="med" len="med"/>
            <a:tailEnd type="triangle" w="med" len="med"/>
          </a:ln>
          <a:effectLst/>
        </p:spPr>
        <p:txBody>
          <a:bodyPr vert="horz" wrap="square" lIns="68580" tIns="34290" rIns="68580" bIns="34290" numCol="1" rtlCol="0" anchor="ctr" anchorCtr="1" compatLnSpc="1">
            <a:prstTxWarp prst="textNoShape">
              <a:avLst/>
            </a:prstTxWarp>
          </a:bodyPr>
          <a:lstStyle/>
          <a:p>
            <a:pPr algn="ctr" defTabSz="685800" eaLnBrk="0" fontAlgn="base" hangingPunct="0">
              <a:spcBef>
                <a:spcPct val="0"/>
              </a:spcBef>
              <a:spcAft>
                <a:spcPct val="0"/>
              </a:spcAft>
            </a:pPr>
            <a:r>
              <a:rPr lang="en-US" sz="1350" dirty="0">
                <a:latin typeface="Calibri" pitchFamily="34" charset="0"/>
              </a:rPr>
              <a:t>When would </a:t>
            </a:r>
            <a:r>
              <a:rPr lang="en-US" sz="1350" i="1" dirty="0">
                <a:latin typeface="Calibri" pitchFamily="34" charset="0"/>
              </a:rPr>
              <a:t>this</a:t>
            </a:r>
            <a:r>
              <a:rPr lang="en-US" sz="1350" dirty="0">
                <a:latin typeface="Calibri" pitchFamily="34" charset="0"/>
              </a:rPr>
              <a:t> change be incorrect?</a:t>
            </a:r>
          </a:p>
        </p:txBody>
      </p:sp>
    </p:spTree>
    <p:extLst>
      <p:ext uri="{BB962C8B-B14F-4D97-AF65-F5344CB8AC3E}">
        <p14:creationId xmlns:p14="http://schemas.microsoft.com/office/powerpoint/2010/main" val="558827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FC56C7-9AD8-425E-BD86-1C826035B8E6}"/>
              </a:ext>
            </a:extLst>
          </p:cNvPr>
          <p:cNvSpPr>
            <a:spLocks noGrp="1"/>
          </p:cNvSpPr>
          <p:nvPr>
            <p:ph type="title"/>
          </p:nvPr>
        </p:nvSpPr>
        <p:spPr/>
        <p:txBody>
          <a:bodyPr/>
          <a:lstStyle/>
          <a:p>
            <a:r>
              <a:rPr lang="en-US" sz="2800" dirty="0"/>
              <a:t>Unrolling/Scheduling are Compiler Optimizations</a:t>
            </a:r>
          </a:p>
        </p:txBody>
      </p:sp>
      <p:sp>
        <p:nvSpPr>
          <p:cNvPr id="3" name="Content Placeholder 2">
            <a:extLst>
              <a:ext uri="{FF2B5EF4-FFF2-40B4-BE49-F238E27FC236}">
                <a16:creationId xmlns:a16="http://schemas.microsoft.com/office/drawing/2014/main" id="{55F58940-CD92-4EF2-8178-F8948348F0CD}"/>
              </a:ext>
            </a:extLst>
          </p:cNvPr>
          <p:cNvSpPr>
            <a:spLocks noGrp="1"/>
          </p:cNvSpPr>
          <p:nvPr>
            <p:ph idx="1"/>
          </p:nvPr>
        </p:nvSpPr>
        <p:spPr>
          <a:xfrm>
            <a:off x="87782" y="714317"/>
            <a:ext cx="8968436" cy="3930835"/>
          </a:xfrm>
        </p:spPr>
        <p:txBody>
          <a:bodyPr/>
          <a:lstStyle/>
          <a:p>
            <a:pPr>
              <a:buSzPct val="200000"/>
              <a:buFont typeface="Arial" panose="020B0604020202020204" pitchFamily="34" charset="0"/>
              <a:buChar char="•"/>
            </a:pPr>
            <a:r>
              <a:rPr lang="en-US" sz="2200" b="0" i="0" dirty="0">
                <a:solidFill>
                  <a:srgbClr val="111827"/>
                </a:solidFill>
                <a:effectLst/>
                <a:latin typeface="ui-sans-serif"/>
              </a:rPr>
              <a:t>Modern compilers (like GCC, Clang, and MSVC) are incredibly advanced and handle these optimizations much better than a human can in almost all scenarios.</a:t>
            </a:r>
          </a:p>
          <a:p>
            <a:pPr>
              <a:buSzPct val="200000"/>
              <a:buFont typeface="Arial" panose="020B0604020202020204" pitchFamily="34" charset="0"/>
              <a:buChar char="•"/>
            </a:pPr>
            <a:r>
              <a:rPr lang="en-US" sz="2200" dirty="0">
                <a:solidFill>
                  <a:srgbClr val="111827"/>
                </a:solidFill>
                <a:latin typeface="ui-sans-serif"/>
              </a:rPr>
              <a:t>Compilers also know the underlying microarchitectures better than programmers. All you need to do is use the option</a:t>
            </a:r>
          </a:p>
          <a:p>
            <a:pPr marL="0" indent="0">
              <a:buSzPct val="200000"/>
              <a:buNone/>
            </a:pPr>
            <a:r>
              <a:rPr lang="en-US" sz="2200" i="0" dirty="0">
                <a:solidFill>
                  <a:srgbClr val="111827"/>
                </a:solidFill>
                <a:effectLst/>
                <a:latin typeface="ui-sans-serif"/>
              </a:rPr>
              <a:t>		-march = native</a:t>
            </a:r>
          </a:p>
          <a:p>
            <a:pPr marL="0" indent="0">
              <a:buSzPct val="200000"/>
              <a:buNone/>
            </a:pPr>
            <a:r>
              <a:rPr lang="en-US" sz="2200" dirty="0">
                <a:solidFill>
                  <a:srgbClr val="111827"/>
                </a:solidFill>
                <a:latin typeface="ui-sans-serif"/>
              </a:rPr>
              <a:t>		-</a:t>
            </a:r>
            <a:r>
              <a:rPr lang="en-US" sz="2200" dirty="0" err="1">
                <a:solidFill>
                  <a:srgbClr val="111827"/>
                </a:solidFill>
                <a:latin typeface="ui-sans-serif"/>
              </a:rPr>
              <a:t>mtune</a:t>
            </a:r>
            <a:r>
              <a:rPr lang="en-US" sz="2200" dirty="0">
                <a:solidFill>
                  <a:srgbClr val="111827"/>
                </a:solidFill>
                <a:latin typeface="ui-sans-serif"/>
              </a:rPr>
              <a:t> = native</a:t>
            </a:r>
          </a:p>
          <a:p>
            <a:pPr>
              <a:buSzPct val="200000"/>
              <a:buFont typeface="Arial" panose="020B0604020202020204" pitchFamily="34" charset="0"/>
              <a:buChar char="•"/>
            </a:pPr>
            <a:r>
              <a:rPr lang="en-US" sz="2200" i="0" dirty="0">
                <a:solidFill>
                  <a:srgbClr val="111827"/>
                </a:solidFill>
                <a:effectLst/>
                <a:latin typeface="ui-sans-serif"/>
              </a:rPr>
              <a:t>For machines with superscalar and out-of-order execution, programmers struggle with instruction scheduling. If the reorder buffer is empty, they should prioritize latency hiding; if it is full, they should prioritize retirement.</a:t>
            </a:r>
          </a:p>
        </p:txBody>
      </p:sp>
    </p:spTree>
    <p:extLst>
      <p:ext uri="{BB962C8B-B14F-4D97-AF65-F5344CB8AC3E}">
        <p14:creationId xmlns:p14="http://schemas.microsoft.com/office/powerpoint/2010/main" val="34819112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5013" y="50006"/>
            <a:ext cx="7511781" cy="571500"/>
          </a:xfrm>
        </p:spPr>
        <p:txBody>
          <a:bodyPr/>
          <a:lstStyle/>
          <a:p>
            <a:r>
              <a:rPr lang="en-US" dirty="0"/>
              <a:t>Benchmark Example: Data Type for Vectors</a:t>
            </a:r>
          </a:p>
        </p:txBody>
      </p:sp>
      <p:sp>
        <p:nvSpPr>
          <p:cNvPr id="4" name="Rectangle 7"/>
          <p:cNvSpPr>
            <a:spLocks noChangeArrowheads="1"/>
          </p:cNvSpPr>
          <p:nvPr/>
        </p:nvSpPr>
        <p:spPr bwMode="auto">
          <a:xfrm>
            <a:off x="1529116" y="1123894"/>
            <a:ext cx="3112229" cy="990657"/>
          </a:xfrm>
          <a:prstGeom prst="rect">
            <a:avLst/>
          </a:prstGeom>
          <a:solidFill>
            <a:srgbClr val="F6F5BD"/>
          </a:solidFill>
          <a:ln w="12700" cmpd="thickThin">
            <a:solidFill>
              <a:schemeClr val="tx1"/>
            </a:solidFill>
            <a:miter lim="800000"/>
            <a:headEnd/>
            <a:tailEnd/>
          </a:ln>
          <a:effectLst/>
        </p:spPr>
        <p:txBody>
          <a:bodyPr wrap="none" lIns="67865" tIns="33338" rIns="67865" bIns="33338">
            <a:spAutoFit/>
          </a:bodyPr>
          <a:lstStyle/>
          <a:p>
            <a:pPr algn="l">
              <a:lnSpc>
                <a:spcPct val="100000"/>
              </a:lnSpc>
            </a:pPr>
            <a:r>
              <a:rPr lang="en-US" sz="1200" dirty="0">
                <a:latin typeface="Courier New" pitchFamily="49" charset="0"/>
              </a:rPr>
              <a:t>/* data structure for vectors */</a:t>
            </a:r>
          </a:p>
          <a:p>
            <a:pPr algn="l">
              <a:lnSpc>
                <a:spcPct val="100000"/>
              </a:lnSpc>
            </a:pPr>
            <a:r>
              <a:rPr lang="en-US" sz="1200" dirty="0" err="1">
                <a:latin typeface="Courier New" pitchFamily="49" charset="0"/>
              </a:rPr>
              <a:t>typedef</a:t>
            </a:r>
            <a:r>
              <a:rPr lang="en-US" sz="1200" dirty="0">
                <a:latin typeface="Courier New" pitchFamily="49" charset="0"/>
              </a:rPr>
              <a:t> </a:t>
            </a:r>
            <a:r>
              <a:rPr lang="en-US" sz="1200" dirty="0" err="1">
                <a:latin typeface="Courier New" pitchFamily="49" charset="0"/>
              </a:rPr>
              <a:t>struct</a:t>
            </a:r>
            <a:r>
              <a:rPr lang="en-US" sz="1200" dirty="0">
                <a:latin typeface="Courier New" pitchFamily="49" charset="0"/>
              </a:rPr>
              <a:t>{</a:t>
            </a:r>
          </a:p>
          <a:p>
            <a:pPr defTabSz="342900"/>
            <a:r>
              <a:rPr lang="en-US" sz="1200" dirty="0">
                <a:latin typeface="Courier New" pitchFamily="49" charset="0"/>
              </a:rPr>
              <a:t>	</a:t>
            </a:r>
            <a:r>
              <a:rPr lang="en-US" sz="1200" dirty="0" err="1">
                <a:latin typeface="Courier New" pitchFamily="49" charset="0"/>
              </a:rPr>
              <a:t>size_t</a:t>
            </a:r>
            <a:r>
              <a:rPr lang="en-US" sz="1200" dirty="0">
                <a:latin typeface="Courier New" pitchFamily="49" charset="0"/>
              </a:rPr>
              <a:t> </a:t>
            </a:r>
            <a:r>
              <a:rPr lang="en-US" sz="1200" dirty="0" err="1">
                <a:latin typeface="Courier New" pitchFamily="49" charset="0"/>
              </a:rPr>
              <a:t>len</a:t>
            </a:r>
            <a:r>
              <a:rPr lang="en-US" sz="1200" dirty="0">
                <a:latin typeface="Courier New" pitchFamily="49" charset="0"/>
              </a:rPr>
              <a:t>;</a:t>
            </a:r>
          </a:p>
          <a:p>
            <a:pPr defTabSz="342900"/>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*data;</a:t>
            </a:r>
          </a:p>
          <a:p>
            <a:pPr algn="l">
              <a:lnSpc>
                <a:spcPct val="100000"/>
              </a:lnSpc>
            </a:pPr>
            <a:r>
              <a:rPr lang="en-US" sz="1200" dirty="0">
                <a:latin typeface="Courier New" pitchFamily="49" charset="0"/>
              </a:rPr>
              <a:t>} </a:t>
            </a:r>
            <a:r>
              <a:rPr lang="en-US" sz="1200" dirty="0" err="1">
                <a:latin typeface="Courier New" pitchFamily="49" charset="0"/>
              </a:rPr>
              <a:t>vec</a:t>
            </a:r>
            <a:r>
              <a:rPr lang="en-US" sz="1200" dirty="0">
                <a:latin typeface="Courier New" pitchFamily="49" charset="0"/>
              </a:rPr>
              <a:t>;</a:t>
            </a:r>
          </a:p>
        </p:txBody>
      </p:sp>
      <p:sp>
        <p:nvSpPr>
          <p:cNvPr id="5" name="Rectangle 7"/>
          <p:cNvSpPr>
            <a:spLocks noChangeArrowheads="1"/>
          </p:cNvSpPr>
          <p:nvPr/>
        </p:nvSpPr>
        <p:spPr bwMode="auto">
          <a:xfrm>
            <a:off x="4641345" y="2471737"/>
            <a:ext cx="3391151" cy="1913987"/>
          </a:xfrm>
          <a:prstGeom prst="rect">
            <a:avLst/>
          </a:prstGeom>
          <a:solidFill>
            <a:srgbClr val="F6F5BD"/>
          </a:solidFill>
          <a:ln w="12700" cmpd="thickThin">
            <a:solidFill>
              <a:schemeClr val="tx1"/>
            </a:solidFill>
            <a:miter lim="800000"/>
            <a:headEnd/>
            <a:tailEnd/>
          </a:ln>
          <a:effectLst/>
        </p:spPr>
        <p:txBody>
          <a:bodyPr wrap="none" lIns="67865" tIns="33338" rIns="67865" bIns="33338">
            <a:spAutoFit/>
          </a:bodyPr>
          <a:lstStyle/>
          <a:p>
            <a:pPr algn="l">
              <a:lnSpc>
                <a:spcPct val="100000"/>
              </a:lnSpc>
            </a:pPr>
            <a:r>
              <a:rPr lang="en-US" sz="1200" dirty="0">
                <a:latin typeface="Courier New" pitchFamily="49" charset="0"/>
              </a:rPr>
              <a:t>/* retrieve vector element</a:t>
            </a:r>
          </a:p>
          <a:p>
            <a:pPr algn="l">
              <a:lnSpc>
                <a:spcPct val="100000"/>
              </a:lnSpc>
            </a:pPr>
            <a:r>
              <a:rPr lang="en-US" sz="1200" dirty="0">
                <a:latin typeface="Courier New" pitchFamily="49" charset="0"/>
              </a:rPr>
              <a:t>   and store at </a:t>
            </a:r>
            <a:r>
              <a:rPr lang="en-US" sz="1200" dirty="0" err="1">
                <a:latin typeface="Courier New" pitchFamily="49" charset="0"/>
              </a:rPr>
              <a:t>val</a:t>
            </a:r>
            <a:r>
              <a:rPr lang="en-US" sz="1200" dirty="0">
                <a:latin typeface="Courier New" pitchFamily="49" charset="0"/>
              </a:rPr>
              <a:t> */</a:t>
            </a:r>
          </a:p>
          <a:p>
            <a:pPr algn="l">
              <a:lnSpc>
                <a:spcPct val="100000"/>
              </a:lnSpc>
            </a:pPr>
            <a:r>
              <a:rPr lang="en-US" sz="1200" dirty="0" err="1">
                <a:latin typeface="Courier New" pitchFamily="49" charset="0"/>
              </a:rPr>
              <a:t>int</a:t>
            </a:r>
            <a:r>
              <a:rPr lang="en-US" sz="1200" dirty="0">
                <a:latin typeface="Courier New" pitchFamily="49" charset="0"/>
              </a:rPr>
              <a:t> </a:t>
            </a:r>
            <a:r>
              <a:rPr lang="en-US" sz="1200" dirty="0" err="1">
                <a:latin typeface="Courier New" pitchFamily="49" charset="0"/>
              </a:rPr>
              <a:t>get_vec_element</a:t>
            </a:r>
            <a:endParaRPr lang="en-US" sz="1200" dirty="0">
              <a:latin typeface="Courier New" pitchFamily="49" charset="0"/>
            </a:endParaRPr>
          </a:p>
          <a:p>
            <a:pPr algn="l">
              <a:lnSpc>
                <a:spcPct val="100000"/>
              </a:lnSpc>
            </a:pPr>
            <a:r>
              <a:rPr lang="en-US" sz="1200" dirty="0">
                <a:latin typeface="Courier New" pitchFamily="49" charset="0"/>
              </a:rPr>
              <a:t>  (*</a:t>
            </a:r>
            <a:r>
              <a:rPr lang="en-US" sz="1200" dirty="0" err="1">
                <a:latin typeface="Courier New" pitchFamily="49" charset="0"/>
              </a:rPr>
              <a:t>vec</a:t>
            </a:r>
            <a:r>
              <a:rPr lang="en-US" sz="1200" dirty="0">
                <a:latin typeface="Courier New" pitchFamily="49" charset="0"/>
              </a:rPr>
              <a:t> v, </a:t>
            </a:r>
            <a:r>
              <a:rPr lang="en-US" sz="1200" dirty="0" err="1">
                <a:latin typeface="Courier New" pitchFamily="49" charset="0"/>
              </a:rPr>
              <a:t>size_t</a:t>
            </a:r>
            <a:r>
              <a:rPr lang="en-US" sz="1200" dirty="0">
                <a:latin typeface="Courier New" pitchFamily="49" charset="0"/>
              </a:rPr>
              <a:t> </a:t>
            </a:r>
            <a:r>
              <a:rPr lang="en-US" sz="1200" dirty="0" err="1">
                <a:latin typeface="Courier New" pitchFamily="49" charset="0"/>
              </a:rPr>
              <a:t>idx</a:t>
            </a:r>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a:t>
            </a:r>
            <a:r>
              <a:rPr lang="en-US" sz="1200" dirty="0" err="1">
                <a:latin typeface="Courier New" pitchFamily="49" charset="0"/>
              </a:rPr>
              <a:t>val</a:t>
            </a:r>
            <a:r>
              <a:rPr lang="en-US" sz="1200" dirty="0">
                <a:latin typeface="Courier New" pitchFamily="49" charset="0"/>
              </a:rPr>
              <a:t>)</a:t>
            </a:r>
          </a:p>
          <a:p>
            <a:pPr algn="l">
              <a:lnSpc>
                <a:spcPct val="100000"/>
              </a:lnSpc>
            </a:pPr>
            <a:r>
              <a:rPr lang="en-US" sz="1200" dirty="0">
                <a:latin typeface="Courier New" pitchFamily="49" charset="0"/>
              </a:rPr>
              <a:t>{</a:t>
            </a:r>
          </a:p>
          <a:p>
            <a:pPr defTabSz="386954"/>
            <a:r>
              <a:rPr lang="en-US" sz="1200" dirty="0">
                <a:latin typeface="Courier New" pitchFamily="49" charset="0"/>
              </a:rPr>
              <a:t>	if (</a:t>
            </a:r>
            <a:r>
              <a:rPr lang="en-US" sz="1200" dirty="0" err="1">
                <a:latin typeface="Courier New" pitchFamily="49" charset="0"/>
              </a:rPr>
              <a:t>idx</a:t>
            </a:r>
            <a:r>
              <a:rPr lang="en-US" sz="1200" dirty="0">
                <a:latin typeface="Courier New" pitchFamily="49" charset="0"/>
              </a:rPr>
              <a:t> &gt;= v-&gt;</a:t>
            </a:r>
            <a:r>
              <a:rPr lang="en-US" sz="1200" dirty="0" err="1">
                <a:latin typeface="Courier New" pitchFamily="49" charset="0"/>
              </a:rPr>
              <a:t>len</a:t>
            </a:r>
            <a:r>
              <a:rPr lang="en-US" sz="1200" dirty="0">
                <a:latin typeface="Courier New" pitchFamily="49" charset="0"/>
              </a:rPr>
              <a:t>)</a:t>
            </a:r>
          </a:p>
          <a:p>
            <a:pPr defTabSz="386954"/>
            <a:r>
              <a:rPr lang="en-US" sz="1200" dirty="0">
                <a:latin typeface="Courier New" pitchFamily="49" charset="0"/>
              </a:rPr>
              <a:t>		return 0;</a:t>
            </a:r>
          </a:p>
          <a:p>
            <a:pPr defTabSz="386954"/>
            <a:r>
              <a:rPr lang="en-US" sz="1200" dirty="0">
                <a:latin typeface="Courier New" pitchFamily="49" charset="0"/>
              </a:rPr>
              <a:t>	*</a:t>
            </a:r>
            <a:r>
              <a:rPr lang="en-US" sz="1200" dirty="0" err="1">
                <a:latin typeface="Courier New" pitchFamily="49" charset="0"/>
              </a:rPr>
              <a:t>val</a:t>
            </a:r>
            <a:r>
              <a:rPr lang="en-US" sz="1200" dirty="0">
                <a:latin typeface="Courier New" pitchFamily="49" charset="0"/>
              </a:rPr>
              <a:t> = v-&gt;data[</a:t>
            </a:r>
            <a:r>
              <a:rPr lang="en-US" sz="1200" dirty="0" err="1">
                <a:latin typeface="Courier New" pitchFamily="49" charset="0"/>
              </a:rPr>
              <a:t>idx</a:t>
            </a:r>
            <a:r>
              <a:rPr lang="en-US" sz="1200" dirty="0">
                <a:latin typeface="Courier New" pitchFamily="49" charset="0"/>
              </a:rPr>
              <a:t>];</a:t>
            </a:r>
          </a:p>
          <a:p>
            <a:pPr defTabSz="386954"/>
            <a:r>
              <a:rPr lang="en-US" sz="1200" dirty="0">
                <a:latin typeface="Courier New" pitchFamily="49" charset="0"/>
              </a:rPr>
              <a:t>	return 1;</a:t>
            </a:r>
          </a:p>
          <a:p>
            <a:pPr algn="l">
              <a:lnSpc>
                <a:spcPct val="100000"/>
              </a:lnSpc>
            </a:pPr>
            <a:r>
              <a:rPr lang="en-US" sz="1200" dirty="0">
                <a:latin typeface="Courier New" pitchFamily="49" charset="0"/>
              </a:rPr>
              <a:t>}</a:t>
            </a:r>
          </a:p>
        </p:txBody>
      </p:sp>
      <p:sp>
        <p:nvSpPr>
          <p:cNvPr id="7" name="Rectangle 10"/>
          <p:cNvSpPr>
            <a:spLocks noChangeArrowheads="1"/>
          </p:cNvSpPr>
          <p:nvPr/>
        </p:nvSpPr>
        <p:spPr bwMode="auto">
          <a:xfrm>
            <a:off x="6020512" y="1600200"/>
            <a:ext cx="265274" cy="219075"/>
          </a:xfrm>
          <a:prstGeom prst="rect">
            <a:avLst/>
          </a:prstGeom>
          <a:solidFill>
            <a:schemeClr val="bg1">
              <a:lumMod val="95000"/>
            </a:schemeClr>
          </a:solidFill>
          <a:ln w="25400">
            <a:solidFill>
              <a:schemeClr val="tx1"/>
            </a:solidFill>
            <a:miter lim="800000"/>
            <a:headEnd/>
            <a:tailEnd/>
          </a:ln>
          <a:effectLst/>
        </p:spPr>
        <p:txBody>
          <a:bodyPr wrap="none" lIns="67865" tIns="33338" rIns="67865" bIns="33338" anchor="ctr"/>
          <a:lstStyle/>
          <a:p>
            <a:pPr algn="ctr">
              <a:lnSpc>
                <a:spcPct val="100000"/>
              </a:lnSpc>
            </a:pPr>
            <a:endParaRPr lang="en-US" sz="1500" dirty="0">
              <a:latin typeface="Courier New" pitchFamily="49" charset="0"/>
            </a:endParaRPr>
          </a:p>
        </p:txBody>
      </p:sp>
      <p:sp>
        <p:nvSpPr>
          <p:cNvPr id="8" name="Rectangle 11"/>
          <p:cNvSpPr>
            <a:spLocks noChangeArrowheads="1"/>
          </p:cNvSpPr>
          <p:nvPr/>
        </p:nvSpPr>
        <p:spPr bwMode="auto">
          <a:xfrm>
            <a:off x="4743450" y="1381125"/>
            <a:ext cx="582402" cy="219075"/>
          </a:xfrm>
          <a:prstGeom prst="rect">
            <a:avLst/>
          </a:prstGeom>
          <a:solidFill>
            <a:schemeClr val="accent2">
              <a:lumMod val="20000"/>
              <a:lumOff val="80000"/>
            </a:schemeClr>
          </a:solidFill>
          <a:ln w="25400">
            <a:solidFill>
              <a:schemeClr val="tx1"/>
            </a:solidFill>
            <a:miter lim="800000"/>
            <a:headEnd/>
            <a:tailEnd/>
          </a:ln>
          <a:effectLst/>
        </p:spPr>
        <p:txBody>
          <a:bodyPr wrap="none" lIns="67865" tIns="33338" rIns="67865" bIns="33338" anchor="ctr"/>
          <a:lstStyle/>
          <a:p>
            <a:pPr algn="ctr">
              <a:lnSpc>
                <a:spcPct val="100000"/>
              </a:lnSpc>
            </a:pPr>
            <a:r>
              <a:rPr lang="en-US" sz="1350" dirty="0" err="1">
                <a:latin typeface="Courier New" pitchFamily="49" charset="0"/>
              </a:rPr>
              <a:t>len</a:t>
            </a:r>
            <a:endParaRPr lang="en-US" sz="1350" dirty="0">
              <a:latin typeface="Courier New" pitchFamily="49" charset="0"/>
            </a:endParaRPr>
          </a:p>
        </p:txBody>
      </p:sp>
      <p:sp>
        <p:nvSpPr>
          <p:cNvPr id="11" name="Rectangle 11"/>
          <p:cNvSpPr>
            <a:spLocks noChangeArrowheads="1"/>
          </p:cNvSpPr>
          <p:nvPr/>
        </p:nvSpPr>
        <p:spPr bwMode="auto">
          <a:xfrm>
            <a:off x="4743450" y="1600200"/>
            <a:ext cx="582402" cy="219075"/>
          </a:xfrm>
          <a:prstGeom prst="rect">
            <a:avLst/>
          </a:prstGeom>
          <a:solidFill>
            <a:schemeClr val="accent2">
              <a:lumMod val="20000"/>
              <a:lumOff val="80000"/>
            </a:schemeClr>
          </a:solidFill>
          <a:ln w="25400">
            <a:solidFill>
              <a:schemeClr val="tx1"/>
            </a:solidFill>
            <a:miter lim="800000"/>
            <a:headEnd/>
            <a:tailEnd/>
          </a:ln>
          <a:effectLst/>
        </p:spPr>
        <p:txBody>
          <a:bodyPr wrap="none" lIns="67865" tIns="33338" rIns="67865" bIns="33338" anchor="ctr"/>
          <a:lstStyle/>
          <a:p>
            <a:pPr algn="ctr">
              <a:lnSpc>
                <a:spcPct val="100000"/>
              </a:lnSpc>
            </a:pPr>
            <a:r>
              <a:rPr lang="en-US" sz="1350" dirty="0">
                <a:latin typeface="Courier New" pitchFamily="49" charset="0"/>
              </a:rPr>
              <a:t>data</a:t>
            </a:r>
          </a:p>
        </p:txBody>
      </p:sp>
      <p:sp>
        <p:nvSpPr>
          <p:cNvPr id="12" name="Rectangle 10"/>
          <p:cNvSpPr>
            <a:spLocks noChangeArrowheads="1"/>
          </p:cNvSpPr>
          <p:nvPr/>
        </p:nvSpPr>
        <p:spPr bwMode="auto">
          <a:xfrm>
            <a:off x="6286501" y="1600200"/>
            <a:ext cx="265274" cy="219075"/>
          </a:xfrm>
          <a:prstGeom prst="rect">
            <a:avLst/>
          </a:prstGeom>
          <a:solidFill>
            <a:schemeClr val="bg1">
              <a:lumMod val="95000"/>
            </a:schemeClr>
          </a:solidFill>
          <a:ln w="25400">
            <a:solidFill>
              <a:schemeClr val="tx1"/>
            </a:solidFill>
            <a:miter lim="800000"/>
            <a:headEnd/>
            <a:tailEnd/>
          </a:ln>
          <a:effectLst/>
        </p:spPr>
        <p:txBody>
          <a:bodyPr wrap="none" lIns="67865" tIns="33338" rIns="67865" bIns="33338" anchor="ctr"/>
          <a:lstStyle/>
          <a:p>
            <a:pPr algn="ctr">
              <a:lnSpc>
                <a:spcPct val="100000"/>
              </a:lnSpc>
            </a:pPr>
            <a:endParaRPr lang="en-US" sz="1500" dirty="0">
              <a:latin typeface="Courier New" pitchFamily="49" charset="0"/>
            </a:endParaRPr>
          </a:p>
        </p:txBody>
      </p:sp>
      <p:sp>
        <p:nvSpPr>
          <p:cNvPr id="13" name="Rectangle 10"/>
          <p:cNvSpPr>
            <a:spLocks noChangeArrowheads="1"/>
          </p:cNvSpPr>
          <p:nvPr/>
        </p:nvSpPr>
        <p:spPr bwMode="auto">
          <a:xfrm>
            <a:off x="7335676" y="1600200"/>
            <a:ext cx="265274" cy="219075"/>
          </a:xfrm>
          <a:prstGeom prst="rect">
            <a:avLst/>
          </a:prstGeom>
          <a:solidFill>
            <a:schemeClr val="bg1">
              <a:lumMod val="95000"/>
            </a:schemeClr>
          </a:solidFill>
          <a:ln w="25400">
            <a:solidFill>
              <a:schemeClr val="tx1"/>
            </a:solidFill>
            <a:miter lim="800000"/>
            <a:headEnd/>
            <a:tailEnd/>
          </a:ln>
          <a:effectLst/>
        </p:spPr>
        <p:txBody>
          <a:bodyPr wrap="none" lIns="67865" tIns="33338" rIns="67865" bIns="33338" anchor="ctr"/>
          <a:lstStyle/>
          <a:p>
            <a:pPr algn="ctr">
              <a:lnSpc>
                <a:spcPct val="100000"/>
              </a:lnSpc>
            </a:pPr>
            <a:endParaRPr lang="en-US" sz="1500" dirty="0">
              <a:latin typeface="Courier New" pitchFamily="49" charset="0"/>
            </a:endParaRPr>
          </a:p>
        </p:txBody>
      </p:sp>
      <p:cxnSp>
        <p:nvCxnSpPr>
          <p:cNvPr id="15" name="Straight Arrow Connector 14"/>
          <p:cNvCxnSpPr>
            <a:stCxn id="11" idx="3"/>
            <a:endCxn id="7" idx="1"/>
          </p:cNvCxnSpPr>
          <p:nvPr/>
        </p:nvCxnSpPr>
        <p:spPr bwMode="auto">
          <a:xfrm>
            <a:off x="5325852" y="1709738"/>
            <a:ext cx="694660" cy="1191"/>
          </a:xfrm>
          <a:prstGeom prst="straightConnector1">
            <a:avLst/>
          </a:prstGeom>
          <a:noFill/>
          <a:ln w="25400" cap="flat" cmpd="sng" algn="ctr">
            <a:solidFill>
              <a:schemeClr val="tx1"/>
            </a:solidFill>
            <a:prstDash val="solid"/>
            <a:round/>
            <a:headEnd type="none" w="med" len="med"/>
            <a:tailEnd type="arrow"/>
          </a:ln>
          <a:effectLst/>
        </p:spPr>
      </p:cxnSp>
      <p:sp>
        <p:nvSpPr>
          <p:cNvPr id="16" name="Rectangle 10"/>
          <p:cNvSpPr>
            <a:spLocks noChangeArrowheads="1"/>
          </p:cNvSpPr>
          <p:nvPr/>
        </p:nvSpPr>
        <p:spPr bwMode="auto">
          <a:xfrm>
            <a:off x="6554624" y="1600200"/>
            <a:ext cx="781052" cy="219075"/>
          </a:xfrm>
          <a:prstGeom prst="rect">
            <a:avLst/>
          </a:prstGeom>
          <a:solidFill>
            <a:schemeClr val="bg1">
              <a:lumMod val="95000"/>
            </a:schemeClr>
          </a:solidFill>
          <a:ln w="25400">
            <a:solidFill>
              <a:schemeClr val="tx1"/>
            </a:solidFill>
            <a:miter lim="800000"/>
            <a:headEnd/>
            <a:tailEnd/>
          </a:ln>
          <a:effectLst/>
        </p:spPr>
        <p:txBody>
          <a:bodyPr wrap="none" lIns="67865" tIns="33338" rIns="67865" bIns="33338" anchor="ctr"/>
          <a:lstStyle/>
          <a:p>
            <a:pPr algn="ctr">
              <a:lnSpc>
                <a:spcPct val="100000"/>
              </a:lnSpc>
            </a:pPr>
            <a:endParaRPr lang="en-US" sz="1500" dirty="0">
              <a:latin typeface="Courier New" pitchFamily="49" charset="0"/>
            </a:endParaRPr>
          </a:p>
        </p:txBody>
      </p:sp>
      <p:sp>
        <p:nvSpPr>
          <p:cNvPr id="17" name="Rectangle 16"/>
          <p:cNvSpPr/>
          <p:nvPr/>
        </p:nvSpPr>
        <p:spPr>
          <a:xfrm>
            <a:off x="6006742" y="1378036"/>
            <a:ext cx="277641" cy="276999"/>
          </a:xfrm>
          <a:prstGeom prst="rect">
            <a:avLst/>
          </a:prstGeom>
        </p:spPr>
        <p:txBody>
          <a:bodyPr wrap="none">
            <a:spAutoFit/>
          </a:bodyPr>
          <a:lstStyle/>
          <a:p>
            <a:pPr algn="ctr">
              <a:lnSpc>
                <a:spcPct val="100000"/>
              </a:lnSpc>
            </a:pPr>
            <a:r>
              <a:rPr lang="en-US" sz="1200" dirty="0">
                <a:latin typeface="Courier New" pitchFamily="49" charset="0"/>
              </a:rPr>
              <a:t>0</a:t>
            </a:r>
          </a:p>
        </p:txBody>
      </p:sp>
      <p:sp>
        <p:nvSpPr>
          <p:cNvPr id="18" name="Rectangle 17"/>
          <p:cNvSpPr/>
          <p:nvPr/>
        </p:nvSpPr>
        <p:spPr>
          <a:xfrm>
            <a:off x="6288618" y="1377951"/>
            <a:ext cx="277641" cy="276999"/>
          </a:xfrm>
          <a:prstGeom prst="rect">
            <a:avLst/>
          </a:prstGeom>
        </p:spPr>
        <p:txBody>
          <a:bodyPr wrap="none">
            <a:spAutoFit/>
          </a:bodyPr>
          <a:lstStyle/>
          <a:p>
            <a:pPr algn="ctr">
              <a:lnSpc>
                <a:spcPct val="100000"/>
              </a:lnSpc>
            </a:pPr>
            <a:r>
              <a:rPr lang="en-US" sz="1200" dirty="0">
                <a:latin typeface="Courier New" pitchFamily="49" charset="0"/>
              </a:rPr>
              <a:t>1</a:t>
            </a:r>
          </a:p>
        </p:txBody>
      </p:sp>
      <p:sp>
        <p:nvSpPr>
          <p:cNvPr id="19" name="Rectangle 18"/>
          <p:cNvSpPr/>
          <p:nvPr/>
        </p:nvSpPr>
        <p:spPr>
          <a:xfrm>
            <a:off x="7146948" y="1377951"/>
            <a:ext cx="649538" cy="276999"/>
          </a:xfrm>
          <a:prstGeom prst="rect">
            <a:avLst/>
          </a:prstGeom>
        </p:spPr>
        <p:txBody>
          <a:bodyPr wrap="none">
            <a:spAutoFit/>
          </a:bodyPr>
          <a:lstStyle/>
          <a:p>
            <a:pPr algn="ctr">
              <a:lnSpc>
                <a:spcPct val="100000"/>
              </a:lnSpc>
            </a:pPr>
            <a:r>
              <a:rPr lang="en-US" sz="1200" dirty="0">
                <a:latin typeface="Courier New" pitchFamily="49" charset="0"/>
              </a:rPr>
              <a:t>len-1</a:t>
            </a:r>
          </a:p>
        </p:txBody>
      </p:sp>
      <p:cxnSp>
        <p:nvCxnSpPr>
          <p:cNvPr id="21" name="Straight Connector 20"/>
          <p:cNvCxnSpPr/>
          <p:nvPr/>
        </p:nvCxnSpPr>
        <p:spPr bwMode="auto">
          <a:xfrm>
            <a:off x="6669742" y="1714500"/>
            <a:ext cx="550209" cy="1043"/>
          </a:xfrm>
          <a:prstGeom prst="line">
            <a:avLst/>
          </a:prstGeom>
          <a:noFill/>
          <a:ln w="63500" cap="rnd" cmpd="sng" algn="ctr">
            <a:solidFill>
              <a:schemeClr val="tx1"/>
            </a:solidFill>
            <a:prstDash val="sysDot"/>
            <a:round/>
            <a:headEnd type="none" w="med" len="med"/>
            <a:tailEnd type="none" w="med" len="med"/>
          </a:ln>
          <a:effectLst/>
        </p:spPr>
      </p:cxnSp>
      <p:sp>
        <p:nvSpPr>
          <p:cNvPr id="20" name="Rectangle 3"/>
          <p:cNvSpPr>
            <a:spLocks noGrp="1" noChangeArrowheads="1"/>
          </p:cNvSpPr>
          <p:nvPr>
            <p:ph sz="half" idx="1"/>
          </p:nvPr>
        </p:nvSpPr>
        <p:spPr>
          <a:xfrm>
            <a:off x="1364457" y="2486025"/>
            <a:ext cx="2903935" cy="1664494"/>
          </a:xfrm>
        </p:spPr>
        <p:txBody>
          <a:bodyPr/>
          <a:lstStyle/>
          <a:p>
            <a:r>
              <a:rPr lang="en-US" sz="1800" dirty="0"/>
              <a:t>Data Types</a:t>
            </a:r>
          </a:p>
          <a:p>
            <a:pPr lvl="1"/>
            <a:r>
              <a:rPr lang="en-US" sz="1500" dirty="0"/>
              <a:t>Use different declarations for </a:t>
            </a:r>
            <a:r>
              <a:rPr lang="en-US" sz="1350" b="1" dirty="0" err="1">
                <a:latin typeface="Courier New" pitchFamily="49" charset="0"/>
              </a:rPr>
              <a:t>data_t</a:t>
            </a:r>
            <a:endParaRPr lang="en-US" sz="1350" b="1" dirty="0">
              <a:latin typeface="Courier New" pitchFamily="49" charset="0"/>
            </a:endParaRPr>
          </a:p>
          <a:p>
            <a:pPr lvl="1"/>
            <a:r>
              <a:rPr lang="en-US" sz="1350" b="1" dirty="0" err="1">
                <a:latin typeface="Courier New" pitchFamily="49" charset="0"/>
              </a:rPr>
              <a:t>int</a:t>
            </a:r>
            <a:endParaRPr lang="en-US" sz="1350" b="1" dirty="0">
              <a:latin typeface="Courier New" pitchFamily="49" charset="0"/>
            </a:endParaRPr>
          </a:p>
          <a:p>
            <a:pPr lvl="1"/>
            <a:r>
              <a:rPr lang="en-US" sz="1350" b="1" dirty="0">
                <a:latin typeface="Courier New" pitchFamily="49" charset="0"/>
              </a:rPr>
              <a:t>long</a:t>
            </a:r>
          </a:p>
          <a:p>
            <a:pPr lvl="1"/>
            <a:r>
              <a:rPr lang="en-US" sz="1350" b="1" dirty="0">
                <a:latin typeface="Courier New" pitchFamily="49" charset="0"/>
              </a:rPr>
              <a:t>float</a:t>
            </a:r>
          </a:p>
          <a:p>
            <a:pPr lvl="1"/>
            <a:r>
              <a:rPr lang="en-US" sz="1350" b="1" dirty="0">
                <a:latin typeface="Courier New" pitchFamily="49" charset="0"/>
              </a:rPr>
              <a:t>double</a:t>
            </a:r>
          </a:p>
        </p:txBody>
      </p:sp>
    </p:spTree>
    <p:extLst>
      <p:ext uri="{BB962C8B-B14F-4D97-AF65-F5344CB8AC3E}">
        <p14:creationId xmlns:p14="http://schemas.microsoft.com/office/powerpoint/2010/main" val="30041473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r>
              <a:rPr lang="en-US" dirty="0"/>
              <a:t>Benchmark Computation</a:t>
            </a:r>
          </a:p>
        </p:txBody>
      </p:sp>
      <p:sp>
        <p:nvSpPr>
          <p:cNvPr id="775171" name="Rectangle 3"/>
          <p:cNvSpPr>
            <a:spLocks noGrp="1" noChangeArrowheads="1"/>
          </p:cNvSpPr>
          <p:nvPr>
            <p:ph sz="half" idx="1"/>
          </p:nvPr>
        </p:nvSpPr>
        <p:spPr>
          <a:xfrm>
            <a:off x="642938" y="2928937"/>
            <a:ext cx="3855419" cy="1664494"/>
          </a:xfrm>
        </p:spPr>
        <p:txBody>
          <a:bodyPr/>
          <a:lstStyle/>
          <a:p>
            <a:pPr marL="215504" indent="-215504"/>
            <a:r>
              <a:rPr lang="en-US" sz="1800" dirty="0"/>
              <a:t>Data Types</a:t>
            </a:r>
          </a:p>
          <a:p>
            <a:pPr lvl="1"/>
            <a:r>
              <a:rPr lang="en-US" sz="1500" dirty="0"/>
              <a:t>Use different declarations for </a:t>
            </a:r>
            <a:r>
              <a:rPr lang="en-US" sz="1350" b="1" dirty="0" err="1">
                <a:latin typeface="Courier New" pitchFamily="49" charset="0"/>
              </a:rPr>
              <a:t>data_t</a:t>
            </a:r>
            <a:endParaRPr lang="en-US" sz="1350" b="1" dirty="0">
              <a:latin typeface="Courier New" pitchFamily="49" charset="0"/>
            </a:endParaRPr>
          </a:p>
          <a:p>
            <a:pPr lvl="1"/>
            <a:r>
              <a:rPr lang="en-US" sz="1350" b="1" dirty="0" err="1">
                <a:latin typeface="Courier New" pitchFamily="49" charset="0"/>
              </a:rPr>
              <a:t>int</a:t>
            </a:r>
            <a:endParaRPr lang="en-US" sz="1350" b="1" dirty="0">
              <a:latin typeface="Courier New" pitchFamily="49" charset="0"/>
            </a:endParaRPr>
          </a:p>
          <a:p>
            <a:pPr lvl="1"/>
            <a:r>
              <a:rPr lang="en-US" sz="1350" b="1" dirty="0">
                <a:latin typeface="Courier New" pitchFamily="49" charset="0"/>
              </a:rPr>
              <a:t>long</a:t>
            </a:r>
          </a:p>
          <a:p>
            <a:pPr lvl="1"/>
            <a:r>
              <a:rPr lang="en-US" sz="1350" b="1" dirty="0">
                <a:latin typeface="Courier New" pitchFamily="49" charset="0"/>
              </a:rPr>
              <a:t>float</a:t>
            </a:r>
          </a:p>
          <a:p>
            <a:pPr lvl="1"/>
            <a:r>
              <a:rPr lang="en-US" sz="1350" b="1" dirty="0">
                <a:latin typeface="Courier New" pitchFamily="49" charset="0"/>
              </a:rPr>
              <a:t>double</a:t>
            </a:r>
          </a:p>
        </p:txBody>
      </p:sp>
      <p:sp>
        <p:nvSpPr>
          <p:cNvPr id="775173" name="Rectangle 5"/>
          <p:cNvSpPr>
            <a:spLocks noGrp="1" noChangeArrowheads="1"/>
          </p:cNvSpPr>
          <p:nvPr>
            <p:ph sz="half" idx="2"/>
          </p:nvPr>
        </p:nvSpPr>
        <p:spPr>
          <a:xfrm>
            <a:off x="4618433" y="2961822"/>
            <a:ext cx="4168379" cy="1664494"/>
          </a:xfrm>
        </p:spPr>
        <p:txBody>
          <a:bodyPr/>
          <a:lstStyle/>
          <a:p>
            <a:pPr marL="215504" indent="-215504"/>
            <a:r>
              <a:rPr lang="en-US" sz="1800" dirty="0"/>
              <a:t>Operations</a:t>
            </a:r>
          </a:p>
          <a:p>
            <a:pPr lvl="1"/>
            <a:r>
              <a:rPr lang="en-US" sz="1500" dirty="0"/>
              <a:t>Use different definitions of </a:t>
            </a:r>
            <a:r>
              <a:rPr lang="en-US" sz="1350" b="1" dirty="0">
                <a:latin typeface="Courier New" pitchFamily="49" charset="0"/>
              </a:rPr>
              <a:t>OP</a:t>
            </a:r>
            <a:r>
              <a:rPr lang="en-US" sz="1500" dirty="0"/>
              <a:t> and </a:t>
            </a:r>
            <a:r>
              <a:rPr lang="en-US" sz="1350" b="1" dirty="0">
                <a:latin typeface="Courier New" pitchFamily="49" charset="0"/>
              </a:rPr>
              <a:t>IDENT</a:t>
            </a:r>
          </a:p>
          <a:p>
            <a:pPr lvl="1"/>
            <a:r>
              <a:rPr lang="en-US" sz="1500" dirty="0"/>
              <a:t> </a:t>
            </a:r>
            <a:r>
              <a:rPr lang="en-US" sz="1500" b="1" dirty="0">
                <a:latin typeface="Courier New" pitchFamily="49" charset="0"/>
              </a:rPr>
              <a:t>+</a:t>
            </a:r>
            <a:r>
              <a:rPr lang="en-US" sz="1500" dirty="0">
                <a:latin typeface="Courier New" pitchFamily="49" charset="0"/>
              </a:rPr>
              <a:t> </a:t>
            </a:r>
            <a:r>
              <a:rPr lang="en-US" sz="1500" dirty="0"/>
              <a:t>/</a:t>
            </a:r>
            <a:r>
              <a:rPr lang="en-US" sz="1500" dirty="0">
                <a:latin typeface="Courier New" pitchFamily="49" charset="0"/>
              </a:rPr>
              <a:t> </a:t>
            </a:r>
            <a:r>
              <a:rPr lang="en-US" sz="1500" b="1" dirty="0">
                <a:latin typeface="Courier New" pitchFamily="49" charset="0"/>
              </a:rPr>
              <a:t>0</a:t>
            </a:r>
          </a:p>
          <a:p>
            <a:pPr lvl="1"/>
            <a:r>
              <a:rPr lang="en-US" sz="1500" dirty="0"/>
              <a:t> </a:t>
            </a:r>
            <a:r>
              <a:rPr lang="en-US" sz="1500" b="1" dirty="0">
                <a:latin typeface="Courier New" pitchFamily="49" charset="0"/>
              </a:rPr>
              <a:t>*</a:t>
            </a:r>
            <a:r>
              <a:rPr lang="en-US" sz="1500" dirty="0">
                <a:latin typeface="Courier New" pitchFamily="49" charset="0"/>
              </a:rPr>
              <a:t> </a:t>
            </a:r>
            <a:r>
              <a:rPr lang="en-US" sz="1500" dirty="0"/>
              <a:t>/</a:t>
            </a:r>
            <a:r>
              <a:rPr lang="en-US" sz="1500" dirty="0">
                <a:latin typeface="Courier New" pitchFamily="49" charset="0"/>
              </a:rPr>
              <a:t> </a:t>
            </a:r>
            <a:r>
              <a:rPr lang="en-US" sz="1500" b="1" dirty="0">
                <a:latin typeface="Courier New" pitchFamily="49" charset="0"/>
              </a:rPr>
              <a:t>1</a:t>
            </a:r>
          </a:p>
        </p:txBody>
      </p:sp>
      <p:sp>
        <p:nvSpPr>
          <p:cNvPr id="775172" name="Rectangle 4"/>
          <p:cNvSpPr>
            <a:spLocks noChangeArrowheads="1"/>
          </p:cNvSpPr>
          <p:nvPr/>
        </p:nvSpPr>
        <p:spPr bwMode="auto">
          <a:xfrm>
            <a:off x="1621632" y="849887"/>
            <a:ext cx="4409059" cy="2144819"/>
          </a:xfrm>
          <a:prstGeom prst="rect">
            <a:avLst/>
          </a:prstGeom>
          <a:solidFill>
            <a:srgbClr val="F6F5BD"/>
          </a:solidFill>
          <a:ln w="38100" cmpd="dbl">
            <a:solidFill>
              <a:schemeClr val="tx1"/>
            </a:solidFill>
            <a:miter lim="800000"/>
            <a:headEnd/>
            <a:tailEnd/>
          </a:ln>
          <a:effectLst/>
        </p:spPr>
        <p:txBody>
          <a:bodyPr wrap="none" lIns="67865" tIns="33338" rIns="67865" bIns="33338">
            <a:spAutoFit/>
          </a:bodyPr>
          <a:lstStyle/>
          <a:p>
            <a:pPr>
              <a:tabLst>
                <a:tab pos="685800" algn="l"/>
                <a:tab pos="1714500" algn="l"/>
              </a:tabLst>
            </a:pPr>
            <a:r>
              <a:rPr lang="en-US" sz="1350" dirty="0">
                <a:latin typeface="Courier New" pitchFamily="49" charset="0"/>
              </a:rPr>
              <a:t>void combine1(</a:t>
            </a:r>
            <a:r>
              <a:rPr lang="en-US" sz="1350" dirty="0" err="1">
                <a:latin typeface="Courier New" pitchFamily="49" charset="0"/>
              </a:rPr>
              <a:t>vec_ptr</a:t>
            </a:r>
            <a:r>
              <a:rPr lang="en-US" sz="1350" dirty="0">
                <a:latin typeface="Courier New" pitchFamily="49" charset="0"/>
              </a:rPr>
              <a:t> v,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a:t>
            </a:r>
          </a:p>
          <a:p>
            <a:pPr>
              <a:tabLst>
                <a:tab pos="685800" algn="l"/>
                <a:tab pos="1714500" algn="l"/>
              </a:tabLst>
            </a:pPr>
            <a:r>
              <a:rPr lang="en-US" sz="1350" dirty="0">
                <a:latin typeface="Courier New" pitchFamily="49" charset="0"/>
              </a:rPr>
              <a:t>{</a:t>
            </a:r>
          </a:p>
          <a:p>
            <a:pPr>
              <a:tabLst>
                <a:tab pos="685800" algn="l"/>
                <a:tab pos="1714500" algn="l"/>
              </a:tabLst>
            </a:pPr>
            <a:r>
              <a:rPr lang="en-US" sz="1350" dirty="0">
                <a:latin typeface="Courier New" pitchFamily="49" charset="0"/>
              </a:rPr>
              <a:t>    long </a:t>
            </a:r>
            <a:r>
              <a:rPr lang="en-US" sz="1350" dirty="0" err="1">
                <a:latin typeface="Courier New" pitchFamily="49" charset="0"/>
              </a:rPr>
              <a:t>int</a:t>
            </a:r>
            <a:r>
              <a:rPr lang="en-US" sz="1350" dirty="0">
                <a:latin typeface="Courier New" pitchFamily="49" charset="0"/>
              </a:rPr>
              <a:t>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IDENT;</a:t>
            </a:r>
          </a:p>
          <a:p>
            <a:pPr>
              <a:tabLst>
                <a:tab pos="685800" algn="l"/>
                <a:tab pos="1714500" algn="l"/>
              </a:tabLst>
            </a:pPr>
            <a:r>
              <a:rPr lang="en-US" sz="1350" dirty="0">
                <a:latin typeface="Courier New" pitchFamily="49" charset="0"/>
              </a:rPr>
              <a:t>    for (</a:t>
            </a:r>
            <a:r>
              <a:rPr lang="en-US" sz="1350" dirty="0" err="1">
                <a:latin typeface="Courier New" pitchFamily="49" charset="0"/>
              </a:rPr>
              <a:t>i</a:t>
            </a:r>
            <a:r>
              <a:rPr lang="en-US" sz="1350" dirty="0">
                <a:latin typeface="Courier New" pitchFamily="49" charset="0"/>
              </a:rPr>
              <a:t> = 0; </a:t>
            </a:r>
            <a:r>
              <a:rPr lang="en-US" sz="1350" dirty="0" err="1">
                <a:latin typeface="Courier New" pitchFamily="49" charset="0"/>
              </a:rPr>
              <a:t>i</a:t>
            </a:r>
            <a:r>
              <a:rPr lang="en-US" sz="1350" dirty="0">
                <a:latin typeface="Courier New" pitchFamily="49" charset="0"/>
              </a:rPr>
              <a:t> &lt; </a:t>
            </a:r>
            <a:r>
              <a:rPr lang="en-US" sz="1350" dirty="0" err="1">
                <a:latin typeface="Courier New" pitchFamily="49" charset="0"/>
              </a:rPr>
              <a:t>vec_length</a:t>
            </a:r>
            <a:r>
              <a:rPr lang="en-US" sz="1350" dirty="0">
                <a:latin typeface="Courier New" pitchFamily="49" charset="0"/>
              </a:rPr>
              <a:t>(v); </a:t>
            </a:r>
            <a:r>
              <a:rPr lang="en-US" sz="1350" dirty="0" err="1">
                <a:latin typeface="Courier New" pitchFamily="49" charset="0"/>
              </a:rPr>
              <a:t>i</a:t>
            </a:r>
            <a:r>
              <a:rPr lang="en-US" sz="1350" dirty="0">
                <a:latin typeface="Courier New" pitchFamily="49" charset="0"/>
              </a:rPr>
              <a:t>++) {</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get_vec_element</a:t>
            </a:r>
            <a:r>
              <a:rPr lang="en-US" sz="1350" dirty="0">
                <a:latin typeface="Courier New" pitchFamily="49" charset="0"/>
              </a:rPr>
              <a:t>(v, </a:t>
            </a:r>
            <a:r>
              <a:rPr lang="en-US" sz="1350" dirty="0" err="1">
                <a:latin typeface="Courier New" pitchFamily="49" charset="0"/>
              </a:rPr>
              <a:t>i</a:t>
            </a:r>
            <a:r>
              <a:rPr lang="en-US" sz="1350" dirty="0">
                <a:latin typeface="Courier New" pitchFamily="49" charset="0"/>
              </a:rPr>
              <a:t>, &amp;</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a:t>
            </a:r>
            <a:r>
              <a:rPr lang="en-US" sz="1350" dirty="0" err="1">
                <a:latin typeface="Courier New" pitchFamily="49" charset="0"/>
              </a:rPr>
              <a:t>dest</a:t>
            </a:r>
            <a:r>
              <a:rPr lang="en-US" sz="1350" dirty="0">
                <a:latin typeface="Courier New" pitchFamily="49" charset="0"/>
              </a:rPr>
              <a:t> OP </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p>
          <a:p>
            <a:pPr>
              <a:tabLst>
                <a:tab pos="685800" algn="l"/>
                <a:tab pos="1714500" algn="l"/>
              </a:tabLst>
            </a:pPr>
            <a:r>
              <a:rPr lang="en-US" sz="1350" dirty="0">
                <a:latin typeface="Courier New" pitchFamily="49" charset="0"/>
              </a:rPr>
              <a:t>}</a:t>
            </a:r>
          </a:p>
        </p:txBody>
      </p:sp>
      <p:sp>
        <p:nvSpPr>
          <p:cNvPr id="6" name="TextBox 5"/>
          <p:cNvSpPr txBox="1"/>
          <p:nvPr/>
        </p:nvSpPr>
        <p:spPr>
          <a:xfrm>
            <a:off x="6172200" y="1200151"/>
            <a:ext cx="1828800" cy="715581"/>
          </a:xfrm>
          <a:prstGeom prst="rect">
            <a:avLst/>
          </a:prstGeom>
          <a:noFill/>
        </p:spPr>
        <p:txBody>
          <a:bodyPr wrap="square" rtlCol="0">
            <a:spAutoFit/>
          </a:bodyPr>
          <a:lstStyle/>
          <a:p>
            <a:r>
              <a:rPr lang="en-US" sz="1350" dirty="0">
                <a:latin typeface="Calibri" pitchFamily="34" charset="0"/>
              </a:rPr>
              <a:t>Compute sum or product of vector elements</a:t>
            </a:r>
          </a:p>
        </p:txBody>
      </p:sp>
    </p:spTree>
    <p:extLst>
      <p:ext uri="{BB962C8B-B14F-4D97-AF65-F5344CB8AC3E}">
        <p14:creationId xmlns:p14="http://schemas.microsoft.com/office/powerpoint/2010/main" val="3516953873"/>
      </p:ext>
    </p:extLst>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8898" name="Rectangle 2"/>
          <p:cNvSpPr>
            <a:spLocks noGrp="1" noChangeArrowheads="1"/>
          </p:cNvSpPr>
          <p:nvPr>
            <p:ph type="title"/>
          </p:nvPr>
        </p:nvSpPr>
        <p:spPr>
          <a:xfrm>
            <a:off x="1423392" y="55102"/>
            <a:ext cx="6105525" cy="429815"/>
          </a:xfrm>
        </p:spPr>
        <p:txBody>
          <a:bodyPr/>
          <a:lstStyle/>
          <a:p>
            <a:pPr eaLnBrk="1" hangingPunct="1">
              <a:defRPr/>
            </a:pPr>
            <a:r>
              <a:rPr lang="en-US" dirty="0"/>
              <a:t>Cycles Per Element (CPE)</a:t>
            </a:r>
          </a:p>
        </p:txBody>
      </p:sp>
      <p:sp>
        <p:nvSpPr>
          <p:cNvPr id="1028" name="Rectangle 3"/>
          <p:cNvSpPr>
            <a:spLocks noGrp="1" noChangeArrowheads="1"/>
          </p:cNvSpPr>
          <p:nvPr>
            <p:ph type="body" idx="1"/>
          </p:nvPr>
        </p:nvSpPr>
        <p:spPr>
          <a:xfrm>
            <a:off x="1360885" y="742951"/>
            <a:ext cx="6230540" cy="1137047"/>
          </a:xfrm>
        </p:spPr>
        <p:txBody>
          <a:bodyPr/>
          <a:lstStyle/>
          <a:p>
            <a:r>
              <a:rPr lang="en-US" sz="1500" dirty="0"/>
              <a:t>Convenient way to express performance of program that operates on vectors or lists</a:t>
            </a:r>
          </a:p>
          <a:p>
            <a:r>
              <a:rPr lang="en-US" sz="1500" dirty="0"/>
              <a:t>Length = n</a:t>
            </a:r>
          </a:p>
          <a:p>
            <a:r>
              <a:rPr lang="en-US" sz="1500" dirty="0"/>
              <a:t>In our case: </a:t>
            </a:r>
            <a:r>
              <a:rPr lang="en-US" sz="1500" dirty="0">
                <a:solidFill>
                  <a:srgbClr val="C00000"/>
                </a:solidFill>
              </a:rPr>
              <a:t>CPE = cycles per OP</a:t>
            </a:r>
            <a:endParaRPr lang="en-US" sz="1500" dirty="0"/>
          </a:p>
          <a:p>
            <a:r>
              <a:rPr lang="en-US" sz="1500" dirty="0"/>
              <a:t>Cycles = CPE*n + Overhead</a:t>
            </a:r>
          </a:p>
          <a:p>
            <a:pPr lvl="1"/>
            <a:r>
              <a:rPr lang="en-US" sz="1200" dirty="0"/>
              <a:t>CPE is slope of line</a:t>
            </a:r>
          </a:p>
        </p:txBody>
      </p:sp>
      <p:graphicFrame>
        <p:nvGraphicFramePr>
          <p:cNvPr id="7" name="Chart 6"/>
          <p:cNvGraphicFramePr>
            <a:graphicFrameLocks/>
          </p:cNvGraphicFramePr>
          <p:nvPr/>
        </p:nvGraphicFramePr>
        <p:xfrm>
          <a:off x="2457450" y="2457450"/>
          <a:ext cx="4316233" cy="245745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Box 2"/>
          <p:cNvSpPr txBox="1">
            <a:spLocks noChangeArrowheads="1"/>
          </p:cNvSpPr>
          <p:nvPr/>
        </p:nvSpPr>
        <p:spPr bwMode="auto">
          <a:xfrm>
            <a:off x="4709191" y="3015208"/>
            <a:ext cx="628249" cy="297774"/>
          </a:xfrm>
          <a:prstGeom prst="rect">
            <a:avLst/>
          </a:prstGeom>
          <a:solidFill>
            <a:srgbClr val="FFFFFF"/>
          </a:solidFill>
          <a:ln w="9525">
            <a:noFill/>
            <a:miter lim="800000"/>
            <a:headEnd/>
            <a:tailEnd/>
          </a:ln>
        </p:spPr>
        <p:txBody>
          <a:bodyPr wrap="none" lIns="20574" tIns="20574" rIns="20574" bIns="0" anchor="t" upright="1">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sz="900" dirty="0">
                <a:solidFill>
                  <a:srgbClr val="000000"/>
                </a:solidFill>
                <a:latin typeface="Courier New"/>
                <a:cs typeface="Courier New"/>
              </a:rPr>
              <a:t>psum1</a:t>
            </a:r>
            <a:endParaRPr lang="en-US" sz="900" dirty="0">
              <a:solidFill>
                <a:srgbClr val="000000"/>
              </a:solidFill>
              <a:latin typeface="Arial"/>
              <a:cs typeface="Arial"/>
            </a:endParaRPr>
          </a:p>
          <a:p>
            <a:pPr algn="ctr" rtl="0">
              <a:defRPr sz="1000"/>
            </a:pPr>
            <a:r>
              <a:rPr lang="en-US" sz="900" dirty="0">
                <a:solidFill>
                  <a:srgbClr val="000000"/>
                </a:solidFill>
                <a:latin typeface="Arial"/>
                <a:cs typeface="Arial"/>
              </a:rPr>
              <a:t>Slope = 9.0</a:t>
            </a:r>
          </a:p>
        </p:txBody>
      </p:sp>
      <p:sp>
        <p:nvSpPr>
          <p:cNvPr id="9" name="Text Box 3"/>
          <p:cNvSpPr txBox="1">
            <a:spLocks noChangeArrowheads="1"/>
          </p:cNvSpPr>
          <p:nvPr/>
        </p:nvSpPr>
        <p:spPr bwMode="auto">
          <a:xfrm>
            <a:off x="4823491" y="3829050"/>
            <a:ext cx="628249" cy="294311"/>
          </a:xfrm>
          <a:prstGeom prst="rect">
            <a:avLst/>
          </a:prstGeom>
          <a:solidFill>
            <a:srgbClr val="FFFFFF"/>
          </a:solidFill>
          <a:ln w="9525">
            <a:noFill/>
            <a:miter lim="800000"/>
            <a:headEnd/>
            <a:tailEnd/>
          </a:ln>
        </p:spPr>
        <p:txBody>
          <a:bodyPr wrap="none" lIns="20574" tIns="17145" rIns="20574" bIns="0" anchor="t" upright="1">
            <a:sp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algn="ctr" rtl="0">
              <a:defRPr sz="1000"/>
            </a:pPr>
            <a:r>
              <a:rPr lang="en-US" sz="900" dirty="0">
                <a:solidFill>
                  <a:srgbClr val="000000"/>
                </a:solidFill>
                <a:latin typeface="Arial"/>
                <a:cs typeface="Arial"/>
              </a:rPr>
              <a:t> </a:t>
            </a:r>
            <a:r>
              <a:rPr lang="en-US" sz="900" dirty="0">
                <a:solidFill>
                  <a:srgbClr val="000000"/>
                </a:solidFill>
                <a:latin typeface="Courier New"/>
                <a:cs typeface="Courier New"/>
              </a:rPr>
              <a:t>psum2</a:t>
            </a:r>
            <a:endParaRPr lang="en-US" sz="900" dirty="0">
              <a:solidFill>
                <a:srgbClr val="000000"/>
              </a:solidFill>
              <a:latin typeface="Arial"/>
              <a:cs typeface="Arial"/>
            </a:endParaRPr>
          </a:p>
          <a:p>
            <a:pPr algn="ctr" rtl="0">
              <a:defRPr sz="1000"/>
            </a:pPr>
            <a:r>
              <a:rPr lang="en-US" sz="900" dirty="0">
                <a:solidFill>
                  <a:srgbClr val="000000"/>
                </a:solidFill>
                <a:latin typeface="Arial"/>
                <a:cs typeface="Arial"/>
              </a:rPr>
              <a:t>Slope = 6.0</a:t>
            </a:r>
          </a:p>
        </p:txBody>
      </p:sp>
    </p:spTree>
    <p:extLst>
      <p:ext uri="{BB962C8B-B14F-4D97-AF65-F5344CB8AC3E}">
        <p14:creationId xmlns:p14="http://schemas.microsoft.com/office/powerpoint/2010/main" val="40496866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a:xfrm>
            <a:off x="1155290" y="72693"/>
            <a:ext cx="5693569" cy="571500"/>
          </a:xfrm>
        </p:spPr>
        <p:txBody>
          <a:bodyPr/>
          <a:lstStyle/>
          <a:p>
            <a:r>
              <a:rPr lang="en-US" dirty="0"/>
              <a:t>Benchmark Performance</a:t>
            </a:r>
          </a:p>
        </p:txBody>
      </p:sp>
      <p:sp>
        <p:nvSpPr>
          <p:cNvPr id="775172" name="Rectangle 4"/>
          <p:cNvSpPr>
            <a:spLocks noChangeArrowheads="1"/>
          </p:cNvSpPr>
          <p:nvPr/>
        </p:nvSpPr>
        <p:spPr bwMode="auto">
          <a:xfrm>
            <a:off x="1621632" y="849887"/>
            <a:ext cx="4409059" cy="2144819"/>
          </a:xfrm>
          <a:prstGeom prst="rect">
            <a:avLst/>
          </a:prstGeom>
          <a:solidFill>
            <a:srgbClr val="F6F5BD"/>
          </a:solidFill>
          <a:ln w="38100" cmpd="dbl">
            <a:solidFill>
              <a:schemeClr val="tx1"/>
            </a:solidFill>
            <a:miter lim="800000"/>
            <a:headEnd/>
            <a:tailEnd/>
          </a:ln>
          <a:effectLst/>
        </p:spPr>
        <p:txBody>
          <a:bodyPr wrap="none" lIns="67865" tIns="33338" rIns="67865" bIns="33338">
            <a:spAutoFit/>
          </a:bodyPr>
          <a:lstStyle/>
          <a:p>
            <a:pPr>
              <a:tabLst>
                <a:tab pos="685800" algn="l"/>
                <a:tab pos="1714500" algn="l"/>
              </a:tabLst>
            </a:pPr>
            <a:r>
              <a:rPr lang="en-US" sz="1350" dirty="0">
                <a:latin typeface="Courier New" pitchFamily="49" charset="0"/>
              </a:rPr>
              <a:t>void combine1(</a:t>
            </a:r>
            <a:r>
              <a:rPr lang="en-US" sz="1350" dirty="0" err="1">
                <a:latin typeface="Courier New" pitchFamily="49" charset="0"/>
              </a:rPr>
              <a:t>vec_ptr</a:t>
            </a:r>
            <a:r>
              <a:rPr lang="en-US" sz="1350" dirty="0">
                <a:latin typeface="Courier New" pitchFamily="49" charset="0"/>
              </a:rPr>
              <a:t> v,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a:t>
            </a:r>
          </a:p>
          <a:p>
            <a:pPr>
              <a:tabLst>
                <a:tab pos="685800" algn="l"/>
                <a:tab pos="1714500" algn="l"/>
              </a:tabLst>
            </a:pPr>
            <a:r>
              <a:rPr lang="en-US" sz="1350" dirty="0">
                <a:latin typeface="Courier New" pitchFamily="49" charset="0"/>
              </a:rPr>
              <a:t>{</a:t>
            </a:r>
          </a:p>
          <a:p>
            <a:pPr>
              <a:tabLst>
                <a:tab pos="685800" algn="l"/>
                <a:tab pos="1714500" algn="l"/>
              </a:tabLst>
            </a:pPr>
            <a:r>
              <a:rPr lang="en-US" sz="1350" dirty="0">
                <a:latin typeface="Courier New" pitchFamily="49" charset="0"/>
              </a:rPr>
              <a:t>    long </a:t>
            </a:r>
            <a:r>
              <a:rPr lang="en-US" sz="1350" dirty="0" err="1">
                <a:latin typeface="Courier New" pitchFamily="49" charset="0"/>
              </a:rPr>
              <a:t>int</a:t>
            </a:r>
            <a:r>
              <a:rPr lang="en-US" sz="1350" dirty="0">
                <a:latin typeface="Courier New" pitchFamily="49" charset="0"/>
              </a:rPr>
              <a:t>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IDENT;</a:t>
            </a:r>
          </a:p>
          <a:p>
            <a:pPr>
              <a:tabLst>
                <a:tab pos="685800" algn="l"/>
                <a:tab pos="1714500" algn="l"/>
              </a:tabLst>
            </a:pPr>
            <a:r>
              <a:rPr lang="en-US" sz="1350" dirty="0">
                <a:latin typeface="Courier New" pitchFamily="49" charset="0"/>
              </a:rPr>
              <a:t>    for (</a:t>
            </a:r>
            <a:r>
              <a:rPr lang="en-US" sz="1350" dirty="0" err="1">
                <a:latin typeface="Courier New" pitchFamily="49" charset="0"/>
              </a:rPr>
              <a:t>i</a:t>
            </a:r>
            <a:r>
              <a:rPr lang="en-US" sz="1350" dirty="0">
                <a:latin typeface="Courier New" pitchFamily="49" charset="0"/>
              </a:rPr>
              <a:t> = 0; </a:t>
            </a:r>
            <a:r>
              <a:rPr lang="en-US" sz="1350" dirty="0" err="1">
                <a:latin typeface="Courier New" pitchFamily="49" charset="0"/>
              </a:rPr>
              <a:t>i</a:t>
            </a:r>
            <a:r>
              <a:rPr lang="en-US" sz="1350" dirty="0">
                <a:latin typeface="Courier New" pitchFamily="49" charset="0"/>
              </a:rPr>
              <a:t> &lt; </a:t>
            </a:r>
            <a:r>
              <a:rPr lang="en-US" sz="1350" dirty="0" err="1">
                <a:latin typeface="Courier New" pitchFamily="49" charset="0"/>
              </a:rPr>
              <a:t>vec_length</a:t>
            </a:r>
            <a:r>
              <a:rPr lang="en-US" sz="1350" dirty="0">
                <a:latin typeface="Courier New" pitchFamily="49" charset="0"/>
              </a:rPr>
              <a:t>(v); </a:t>
            </a:r>
            <a:r>
              <a:rPr lang="en-US" sz="1350" dirty="0" err="1">
                <a:latin typeface="Courier New" pitchFamily="49" charset="0"/>
              </a:rPr>
              <a:t>i</a:t>
            </a:r>
            <a:r>
              <a:rPr lang="en-US" sz="1350" dirty="0">
                <a:latin typeface="Courier New" pitchFamily="49" charset="0"/>
              </a:rPr>
              <a:t>++) {</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get_vec_element</a:t>
            </a:r>
            <a:r>
              <a:rPr lang="en-US" sz="1350" dirty="0">
                <a:latin typeface="Courier New" pitchFamily="49" charset="0"/>
              </a:rPr>
              <a:t>(v, </a:t>
            </a:r>
            <a:r>
              <a:rPr lang="en-US" sz="1350" dirty="0" err="1">
                <a:latin typeface="Courier New" pitchFamily="49" charset="0"/>
              </a:rPr>
              <a:t>i</a:t>
            </a:r>
            <a:r>
              <a:rPr lang="en-US" sz="1350" dirty="0">
                <a:latin typeface="Courier New" pitchFamily="49" charset="0"/>
              </a:rPr>
              <a:t>, &amp;</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a:t>
            </a:r>
            <a:r>
              <a:rPr lang="en-US" sz="1350" dirty="0" err="1">
                <a:latin typeface="Courier New" pitchFamily="49" charset="0"/>
              </a:rPr>
              <a:t>dest</a:t>
            </a:r>
            <a:r>
              <a:rPr lang="en-US" sz="1350" dirty="0">
                <a:latin typeface="Courier New" pitchFamily="49" charset="0"/>
              </a:rPr>
              <a:t> OP </a:t>
            </a:r>
            <a:r>
              <a:rPr lang="en-US" sz="1350" dirty="0" err="1">
                <a:latin typeface="Courier New" pitchFamily="49" charset="0"/>
              </a:rPr>
              <a:t>val</a:t>
            </a:r>
            <a:r>
              <a:rPr lang="en-US" sz="1350" dirty="0">
                <a:latin typeface="Courier New" pitchFamily="49" charset="0"/>
              </a:rPr>
              <a:t>;</a:t>
            </a:r>
          </a:p>
          <a:p>
            <a:pPr>
              <a:tabLst>
                <a:tab pos="685800" algn="l"/>
                <a:tab pos="1714500" algn="l"/>
              </a:tabLst>
            </a:pPr>
            <a:r>
              <a:rPr lang="en-US" sz="1350" dirty="0">
                <a:latin typeface="Courier New" pitchFamily="49" charset="0"/>
              </a:rPr>
              <a:t>    }</a:t>
            </a:r>
          </a:p>
          <a:p>
            <a:pPr>
              <a:tabLst>
                <a:tab pos="685800" algn="l"/>
                <a:tab pos="1714500" algn="l"/>
              </a:tabLst>
            </a:pPr>
            <a:r>
              <a:rPr lang="en-US" sz="1350" dirty="0">
                <a:latin typeface="Courier New" pitchFamily="49" charset="0"/>
              </a:rPr>
              <a:t>}</a:t>
            </a:r>
          </a:p>
        </p:txBody>
      </p:sp>
      <p:sp>
        <p:nvSpPr>
          <p:cNvPr id="6" name="TextBox 5"/>
          <p:cNvSpPr txBox="1"/>
          <p:nvPr/>
        </p:nvSpPr>
        <p:spPr>
          <a:xfrm>
            <a:off x="6172200" y="1200151"/>
            <a:ext cx="1828800" cy="715581"/>
          </a:xfrm>
          <a:prstGeom prst="rect">
            <a:avLst/>
          </a:prstGeom>
          <a:noFill/>
        </p:spPr>
        <p:txBody>
          <a:bodyPr wrap="square" rtlCol="0">
            <a:spAutoFit/>
          </a:bodyPr>
          <a:lstStyle/>
          <a:p>
            <a:r>
              <a:rPr lang="en-US" sz="1350" dirty="0">
                <a:latin typeface="Calibri" pitchFamily="34" charset="0"/>
              </a:rPr>
              <a:t>Compute sum or product of vector elements</a:t>
            </a:r>
          </a:p>
        </p:txBody>
      </p:sp>
      <p:graphicFrame>
        <p:nvGraphicFramePr>
          <p:cNvPr id="10" name="Group 49"/>
          <p:cNvGraphicFramePr>
            <a:graphicFrameLocks noGrp="1"/>
          </p:cNvGraphicFramePr>
          <p:nvPr>
            <p:extLst>
              <p:ext uri="{D42A27DB-BD31-4B8C-83A1-F6EECF244321}">
                <p14:modId xmlns:p14="http://schemas.microsoft.com/office/powerpoint/2010/main" val="2770836016"/>
              </p:ext>
            </p:extLst>
          </p:nvPr>
        </p:nvGraphicFramePr>
        <p:xfrm>
          <a:off x="1398453" y="3047904"/>
          <a:ext cx="6172202" cy="1638397"/>
        </p:xfrm>
        <a:graphic>
          <a:graphicData uri="http://schemas.openxmlformats.org/drawingml/2006/table">
            <a:tbl>
              <a:tblPr/>
              <a:tblGrid>
                <a:gridCol w="1771650">
                  <a:extLst>
                    <a:ext uri="{9D8B030D-6E8A-4147-A177-3AD203B41FA5}">
                      <a16:colId xmlns:a16="http://schemas.microsoft.com/office/drawing/2014/main" val="20000"/>
                    </a:ext>
                  </a:extLst>
                </a:gridCol>
                <a:gridCol w="1100138">
                  <a:extLst>
                    <a:ext uri="{9D8B030D-6E8A-4147-A177-3AD203B41FA5}">
                      <a16:colId xmlns:a16="http://schemas.microsoft.com/office/drawing/2014/main" val="20001"/>
                    </a:ext>
                  </a:extLst>
                </a:gridCol>
                <a:gridCol w="1100138">
                  <a:extLst>
                    <a:ext uri="{9D8B030D-6E8A-4147-A177-3AD203B41FA5}">
                      <a16:colId xmlns:a16="http://schemas.microsoft.com/office/drawing/2014/main" val="20002"/>
                    </a:ext>
                  </a:extLst>
                </a:gridCol>
                <a:gridCol w="1100138">
                  <a:extLst>
                    <a:ext uri="{9D8B030D-6E8A-4147-A177-3AD203B41FA5}">
                      <a16:colId xmlns:a16="http://schemas.microsoft.com/office/drawing/2014/main" val="20003"/>
                    </a:ext>
                  </a:extLst>
                </a:gridCol>
                <a:gridCol w="1100138">
                  <a:extLst>
                    <a:ext uri="{9D8B030D-6E8A-4147-A177-3AD203B41FA5}">
                      <a16:colId xmlns:a16="http://schemas.microsoft.com/office/drawing/2014/main" val="20004"/>
                    </a:ext>
                  </a:extLst>
                </a:gridCol>
              </a:tblGrid>
              <a:tr h="292894">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Method</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Integer</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Double FP</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extLst>
                  <a:ext uri="{0D108BD9-81ED-4DB2-BD59-A6C34878D82A}">
                    <a16:rowId xmlns:a16="http://schemas.microsoft.com/office/drawing/2014/main" val="10000"/>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Operation</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1"/>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a:t>
                      </a:r>
                      <a:r>
                        <a:rPr kumimoji="0" lang="en-US" sz="1400" b="1" i="0" u="none" strike="noStrike" cap="none" normalizeH="0" baseline="0" dirty="0" err="1">
                          <a:ln>
                            <a:noFill/>
                          </a:ln>
                          <a:solidFill>
                            <a:schemeClr val="tx1"/>
                          </a:solidFill>
                          <a:effectLst/>
                          <a:latin typeface="Calibri" panose="020F0502020204030204" pitchFamily="34" charset="0"/>
                        </a:rPr>
                        <a:t>unoptimized</a:t>
                      </a:r>
                      <a:endParaRPr kumimoji="0" lang="en-US" sz="1400" b="1" i="0" u="none" strike="noStrike" cap="none" normalizeH="0" baseline="0" dirty="0">
                        <a:ln>
                          <a:noFill/>
                        </a:ln>
                        <a:solidFill>
                          <a:schemeClr val="tx1"/>
                        </a:solidFill>
                        <a:effectLst/>
                        <a:latin typeface="Calibri" panose="020F0502020204030204" pitchFamily="34" charset="0"/>
                      </a:endParaRP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22.68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20.02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19.98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20.18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–O1</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11.14</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–O3</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6</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7.8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2395414996"/>
                  </a:ext>
                </a:extLst>
              </a:tr>
            </a:tbl>
          </a:graphicData>
        </a:graphic>
      </p:graphicFrame>
      <p:sp>
        <p:nvSpPr>
          <p:cNvPr id="7" name="TextBox 6"/>
          <p:cNvSpPr txBox="1"/>
          <p:nvPr/>
        </p:nvSpPr>
        <p:spPr>
          <a:xfrm>
            <a:off x="1314450" y="4686301"/>
            <a:ext cx="4057650" cy="276999"/>
          </a:xfrm>
          <a:prstGeom prst="rect">
            <a:avLst/>
          </a:prstGeom>
          <a:noFill/>
        </p:spPr>
        <p:txBody>
          <a:bodyPr wrap="square" rtlCol="0">
            <a:spAutoFit/>
          </a:bodyPr>
          <a:lstStyle/>
          <a:p>
            <a:r>
              <a:rPr lang="en-US" sz="1200" dirty="0">
                <a:solidFill>
                  <a:schemeClr val="bg2">
                    <a:lumMod val="75000"/>
                  </a:schemeClr>
                </a:solidFill>
                <a:latin typeface="Calibri" pitchFamily="34" charset="0"/>
              </a:rPr>
              <a:t>Results in CPE (cycles per element)</a:t>
            </a:r>
          </a:p>
        </p:txBody>
      </p:sp>
    </p:spTree>
    <p:extLst>
      <p:ext uri="{BB962C8B-B14F-4D97-AF65-F5344CB8AC3E}">
        <p14:creationId xmlns:p14="http://schemas.microsoft.com/office/powerpoint/2010/main" val="872120929"/>
      </p:ext>
    </p:extLst>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r>
              <a:rPr lang="en-US" dirty="0"/>
              <a:t>Basic Optimizations</a:t>
            </a:r>
          </a:p>
        </p:txBody>
      </p:sp>
      <p:sp>
        <p:nvSpPr>
          <p:cNvPr id="6" name="Content Placeholder 5"/>
          <p:cNvSpPr>
            <a:spLocks noGrp="1"/>
          </p:cNvSpPr>
          <p:nvPr>
            <p:ph idx="1"/>
          </p:nvPr>
        </p:nvSpPr>
        <p:spPr>
          <a:xfrm>
            <a:off x="1440657" y="3193257"/>
            <a:ext cx="5922169" cy="1378743"/>
          </a:xfrm>
        </p:spPr>
        <p:txBody>
          <a:bodyPr/>
          <a:lstStyle/>
          <a:p>
            <a:r>
              <a:rPr lang="en-US" sz="2200" dirty="0"/>
              <a:t>Move </a:t>
            </a:r>
            <a:r>
              <a:rPr lang="en-US" sz="2200" dirty="0" err="1"/>
              <a:t>vec_length</a:t>
            </a:r>
            <a:r>
              <a:rPr lang="en-US" sz="2200" dirty="0"/>
              <a:t> out of loop</a:t>
            </a:r>
          </a:p>
          <a:p>
            <a:r>
              <a:rPr lang="en-US" sz="2200" dirty="0"/>
              <a:t>Avoid bounds check on each cycle</a:t>
            </a:r>
          </a:p>
          <a:p>
            <a:r>
              <a:rPr lang="en-US" sz="2200" dirty="0"/>
              <a:t>Accumulate in temporary</a:t>
            </a:r>
          </a:p>
        </p:txBody>
      </p:sp>
      <p:sp>
        <p:nvSpPr>
          <p:cNvPr id="775172" name="Rectangle 4"/>
          <p:cNvSpPr>
            <a:spLocks noChangeArrowheads="1"/>
          </p:cNvSpPr>
          <p:nvPr/>
        </p:nvSpPr>
        <p:spPr bwMode="auto">
          <a:xfrm>
            <a:off x="2114551" y="998432"/>
            <a:ext cx="4096473" cy="2144819"/>
          </a:xfrm>
          <a:prstGeom prst="rect">
            <a:avLst/>
          </a:prstGeom>
          <a:solidFill>
            <a:srgbClr val="F6F5BD"/>
          </a:solidFill>
          <a:ln w="38100" cmpd="dbl">
            <a:solidFill>
              <a:schemeClr val="tx1"/>
            </a:solidFill>
            <a:miter lim="800000"/>
            <a:headEnd/>
            <a:tailEnd/>
          </a:ln>
          <a:effectLst/>
        </p:spPr>
        <p:txBody>
          <a:bodyPr wrap="none" lIns="67865" tIns="33338" rIns="67865" bIns="33338">
            <a:spAutoFit/>
          </a:bodyPr>
          <a:lstStyle/>
          <a:p>
            <a:pPr>
              <a:tabLst>
                <a:tab pos="685800" algn="l"/>
                <a:tab pos="1714500" algn="l"/>
              </a:tabLst>
            </a:pPr>
            <a:r>
              <a:rPr lang="en-US" sz="1350" dirty="0">
                <a:latin typeface="Courier New" pitchFamily="49" charset="0"/>
              </a:rPr>
              <a:t>void combine4(</a:t>
            </a:r>
            <a:r>
              <a:rPr lang="en-US" sz="1350" dirty="0" err="1">
                <a:latin typeface="Courier New" pitchFamily="49" charset="0"/>
              </a:rPr>
              <a:t>vec_ptr</a:t>
            </a:r>
            <a:r>
              <a:rPr lang="en-US" sz="1350" dirty="0">
                <a:latin typeface="Courier New" pitchFamily="49" charset="0"/>
              </a:rPr>
              <a:t> v,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a:t>
            </a:r>
          </a:p>
          <a:p>
            <a:pPr>
              <a:tabLst>
                <a:tab pos="685800" algn="l"/>
                <a:tab pos="1714500" algn="l"/>
              </a:tabLst>
            </a:pPr>
            <a:r>
              <a:rPr lang="en-US" sz="1350" dirty="0">
                <a:latin typeface="Courier New" pitchFamily="49" charset="0"/>
              </a:rPr>
              <a:t>{</a:t>
            </a:r>
          </a:p>
          <a:p>
            <a:pPr>
              <a:tabLst>
                <a:tab pos="685800" algn="l"/>
                <a:tab pos="1714500" algn="l"/>
              </a:tabLst>
            </a:pPr>
            <a:r>
              <a:rPr lang="en-US" sz="1350" dirty="0">
                <a:latin typeface="Courier New" pitchFamily="49" charset="0"/>
              </a:rPr>
              <a:t>  long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long length = </a:t>
            </a:r>
            <a:r>
              <a:rPr lang="en-US" sz="1350" dirty="0" err="1">
                <a:latin typeface="Courier New" pitchFamily="49" charset="0"/>
              </a:rPr>
              <a:t>vec_length</a:t>
            </a:r>
            <a:r>
              <a:rPr lang="en-US" sz="1350" dirty="0">
                <a:latin typeface="Courier New" pitchFamily="49" charset="0"/>
              </a:rPr>
              <a:t>(v);</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*d = </a:t>
            </a:r>
            <a:r>
              <a:rPr lang="en-US" sz="1350" dirty="0" err="1">
                <a:latin typeface="Courier New" pitchFamily="49" charset="0"/>
              </a:rPr>
              <a:t>get_vec_start</a:t>
            </a:r>
            <a:r>
              <a:rPr lang="en-US" sz="1350" dirty="0">
                <a:latin typeface="Courier New" pitchFamily="49" charset="0"/>
              </a:rPr>
              <a:t>(v);</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t = IDENT;</a:t>
            </a:r>
          </a:p>
          <a:p>
            <a:pPr>
              <a:tabLst>
                <a:tab pos="685800" algn="l"/>
                <a:tab pos="1714500" algn="l"/>
              </a:tabLst>
            </a:pPr>
            <a:r>
              <a:rPr lang="en-US" sz="1350" dirty="0">
                <a:latin typeface="Courier New" pitchFamily="49" charset="0"/>
              </a:rPr>
              <a:t>  for (</a:t>
            </a:r>
            <a:r>
              <a:rPr lang="en-US" sz="1350" dirty="0" err="1">
                <a:latin typeface="Courier New" pitchFamily="49" charset="0"/>
              </a:rPr>
              <a:t>i</a:t>
            </a:r>
            <a:r>
              <a:rPr lang="en-US" sz="1350" dirty="0">
                <a:latin typeface="Courier New" pitchFamily="49" charset="0"/>
              </a:rPr>
              <a:t> = 0; </a:t>
            </a:r>
            <a:r>
              <a:rPr lang="en-US" sz="1350" dirty="0" err="1">
                <a:latin typeface="Courier New" pitchFamily="49" charset="0"/>
              </a:rPr>
              <a:t>i</a:t>
            </a:r>
            <a:r>
              <a:rPr lang="en-US" sz="1350" dirty="0">
                <a:latin typeface="Courier New" pitchFamily="49" charset="0"/>
              </a:rPr>
              <a:t> &lt; length;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t = t OP d[</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t;</a:t>
            </a:r>
          </a:p>
          <a:p>
            <a:pPr>
              <a:tabLst>
                <a:tab pos="685800" algn="l"/>
                <a:tab pos="1714500" algn="l"/>
              </a:tabLst>
            </a:pPr>
            <a:r>
              <a:rPr lang="en-US" sz="1350" dirty="0">
                <a:latin typeface="Courier New" pitchFamily="49" charset="0"/>
              </a:rPr>
              <a:t>}</a:t>
            </a:r>
          </a:p>
        </p:txBody>
      </p:sp>
    </p:spTree>
    <p:extLst>
      <p:ext uri="{BB962C8B-B14F-4D97-AF65-F5344CB8AC3E}">
        <p14:creationId xmlns:p14="http://schemas.microsoft.com/office/powerpoint/2010/main" val="1544043833"/>
      </p:ext>
    </p:extLst>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5170" name="Rectangle 2"/>
          <p:cNvSpPr>
            <a:spLocks noGrp="1" noChangeArrowheads="1"/>
          </p:cNvSpPr>
          <p:nvPr>
            <p:ph type="title"/>
          </p:nvPr>
        </p:nvSpPr>
        <p:spPr/>
        <p:txBody>
          <a:bodyPr/>
          <a:lstStyle/>
          <a:p>
            <a:r>
              <a:rPr lang="en-US" dirty="0"/>
              <a:t>Effect of Basic Optimizations</a:t>
            </a:r>
          </a:p>
        </p:txBody>
      </p:sp>
      <p:sp>
        <p:nvSpPr>
          <p:cNvPr id="775172" name="Rectangle 4"/>
          <p:cNvSpPr>
            <a:spLocks noChangeArrowheads="1"/>
          </p:cNvSpPr>
          <p:nvPr/>
        </p:nvSpPr>
        <p:spPr bwMode="auto">
          <a:xfrm>
            <a:off x="2195018" y="734663"/>
            <a:ext cx="4096473" cy="2144819"/>
          </a:xfrm>
          <a:prstGeom prst="rect">
            <a:avLst/>
          </a:prstGeom>
          <a:solidFill>
            <a:srgbClr val="F6F5BD"/>
          </a:solidFill>
          <a:ln w="38100" cmpd="dbl">
            <a:solidFill>
              <a:schemeClr val="tx1"/>
            </a:solidFill>
            <a:miter lim="800000"/>
            <a:headEnd/>
            <a:tailEnd/>
          </a:ln>
          <a:effectLst/>
        </p:spPr>
        <p:txBody>
          <a:bodyPr wrap="none" lIns="67865" tIns="33338" rIns="67865" bIns="33338">
            <a:spAutoFit/>
          </a:bodyPr>
          <a:lstStyle/>
          <a:p>
            <a:pPr>
              <a:tabLst>
                <a:tab pos="685800" algn="l"/>
                <a:tab pos="1714500" algn="l"/>
              </a:tabLst>
            </a:pPr>
            <a:r>
              <a:rPr lang="en-US" sz="1350" dirty="0">
                <a:latin typeface="Courier New" pitchFamily="49" charset="0"/>
              </a:rPr>
              <a:t>void combine4(</a:t>
            </a:r>
            <a:r>
              <a:rPr lang="en-US" sz="1350" dirty="0" err="1">
                <a:latin typeface="Courier New" pitchFamily="49" charset="0"/>
              </a:rPr>
              <a:t>vec_ptr</a:t>
            </a:r>
            <a:r>
              <a:rPr lang="en-US" sz="1350" dirty="0">
                <a:latin typeface="Courier New" pitchFamily="49" charset="0"/>
              </a:rPr>
              <a:t> v, </a:t>
            </a:r>
            <a:r>
              <a:rPr lang="en-US" sz="1350" dirty="0" err="1">
                <a:latin typeface="Courier New" pitchFamily="49" charset="0"/>
              </a:rPr>
              <a:t>data_t</a:t>
            </a: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a:t>
            </a:r>
          </a:p>
          <a:p>
            <a:pPr>
              <a:tabLst>
                <a:tab pos="685800" algn="l"/>
                <a:tab pos="1714500" algn="l"/>
              </a:tabLst>
            </a:pPr>
            <a:r>
              <a:rPr lang="en-US" sz="1350" dirty="0">
                <a:latin typeface="Courier New" pitchFamily="49" charset="0"/>
              </a:rPr>
              <a:t>{</a:t>
            </a:r>
          </a:p>
          <a:p>
            <a:pPr>
              <a:tabLst>
                <a:tab pos="685800" algn="l"/>
                <a:tab pos="1714500" algn="l"/>
              </a:tabLst>
            </a:pPr>
            <a:r>
              <a:rPr lang="en-US" sz="1350" dirty="0">
                <a:latin typeface="Courier New" pitchFamily="49" charset="0"/>
              </a:rPr>
              <a:t>  long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long length = </a:t>
            </a:r>
            <a:r>
              <a:rPr lang="en-US" sz="1350" dirty="0" err="1">
                <a:latin typeface="Courier New" pitchFamily="49" charset="0"/>
              </a:rPr>
              <a:t>vec_length</a:t>
            </a:r>
            <a:r>
              <a:rPr lang="en-US" sz="1350" dirty="0">
                <a:latin typeface="Courier New" pitchFamily="49" charset="0"/>
              </a:rPr>
              <a:t>(v);</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*d = </a:t>
            </a:r>
            <a:r>
              <a:rPr lang="en-US" sz="1350" dirty="0" err="1">
                <a:latin typeface="Courier New" pitchFamily="49" charset="0"/>
              </a:rPr>
              <a:t>get_vec_start</a:t>
            </a:r>
            <a:r>
              <a:rPr lang="en-US" sz="1350" dirty="0">
                <a:latin typeface="Courier New" pitchFamily="49" charset="0"/>
              </a:rPr>
              <a:t>(v);</a:t>
            </a:r>
          </a:p>
          <a:p>
            <a:pPr>
              <a:tabLst>
                <a:tab pos="685800" algn="l"/>
                <a:tab pos="1714500" algn="l"/>
              </a:tabLst>
            </a:pPr>
            <a:r>
              <a:rPr lang="en-US" sz="1350" dirty="0">
                <a:latin typeface="Courier New" pitchFamily="49" charset="0"/>
              </a:rPr>
              <a:t>  </a:t>
            </a:r>
            <a:r>
              <a:rPr lang="en-US" sz="1350" dirty="0" err="1">
                <a:latin typeface="Courier New" pitchFamily="49" charset="0"/>
              </a:rPr>
              <a:t>data_t</a:t>
            </a:r>
            <a:r>
              <a:rPr lang="en-US" sz="1350" dirty="0">
                <a:latin typeface="Courier New" pitchFamily="49" charset="0"/>
              </a:rPr>
              <a:t> t = IDENT;</a:t>
            </a:r>
          </a:p>
          <a:p>
            <a:pPr>
              <a:tabLst>
                <a:tab pos="685800" algn="l"/>
                <a:tab pos="1714500" algn="l"/>
              </a:tabLst>
            </a:pPr>
            <a:r>
              <a:rPr lang="en-US" sz="1350" dirty="0">
                <a:latin typeface="Courier New" pitchFamily="49" charset="0"/>
              </a:rPr>
              <a:t>  for (</a:t>
            </a:r>
            <a:r>
              <a:rPr lang="en-US" sz="1350" dirty="0" err="1">
                <a:latin typeface="Courier New" pitchFamily="49" charset="0"/>
              </a:rPr>
              <a:t>i</a:t>
            </a:r>
            <a:r>
              <a:rPr lang="en-US" sz="1350" dirty="0">
                <a:latin typeface="Courier New" pitchFamily="49" charset="0"/>
              </a:rPr>
              <a:t> = 0; </a:t>
            </a:r>
            <a:r>
              <a:rPr lang="en-US" sz="1350" dirty="0" err="1">
                <a:latin typeface="Courier New" pitchFamily="49" charset="0"/>
              </a:rPr>
              <a:t>i</a:t>
            </a:r>
            <a:r>
              <a:rPr lang="en-US" sz="1350" dirty="0">
                <a:latin typeface="Courier New" pitchFamily="49" charset="0"/>
              </a:rPr>
              <a:t> &lt; length; </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t = t OP d[</a:t>
            </a:r>
            <a:r>
              <a:rPr lang="en-US" sz="1350" dirty="0" err="1">
                <a:latin typeface="Courier New" pitchFamily="49" charset="0"/>
              </a:rPr>
              <a:t>i</a:t>
            </a:r>
            <a:r>
              <a:rPr lang="en-US" sz="1350" dirty="0">
                <a:latin typeface="Courier New" pitchFamily="49" charset="0"/>
              </a:rPr>
              <a:t>];</a:t>
            </a:r>
          </a:p>
          <a:p>
            <a:pPr>
              <a:tabLst>
                <a:tab pos="685800" algn="l"/>
                <a:tab pos="1714500" algn="l"/>
              </a:tabLst>
            </a:pPr>
            <a:r>
              <a:rPr lang="en-US" sz="1350" dirty="0">
                <a:latin typeface="Courier New" pitchFamily="49" charset="0"/>
              </a:rPr>
              <a:t>  *</a:t>
            </a:r>
            <a:r>
              <a:rPr lang="en-US" sz="1350" dirty="0" err="1">
                <a:latin typeface="Courier New" pitchFamily="49" charset="0"/>
              </a:rPr>
              <a:t>dest</a:t>
            </a:r>
            <a:r>
              <a:rPr lang="en-US" sz="1350" dirty="0">
                <a:latin typeface="Courier New" pitchFamily="49" charset="0"/>
              </a:rPr>
              <a:t> = t;</a:t>
            </a:r>
          </a:p>
          <a:p>
            <a:pPr>
              <a:tabLst>
                <a:tab pos="685800" algn="l"/>
                <a:tab pos="1714500" algn="l"/>
              </a:tabLst>
            </a:pPr>
            <a:r>
              <a:rPr lang="en-US" sz="1350" dirty="0">
                <a:latin typeface="Courier New" pitchFamily="49" charset="0"/>
              </a:rPr>
              <a:t>}</a:t>
            </a:r>
          </a:p>
        </p:txBody>
      </p:sp>
      <p:graphicFrame>
        <p:nvGraphicFramePr>
          <p:cNvPr id="4" name="Group 49">
            <a:extLst>
              <a:ext uri="{FF2B5EF4-FFF2-40B4-BE49-F238E27FC236}">
                <a16:creationId xmlns:a16="http://schemas.microsoft.com/office/drawing/2014/main" id="{E83DA316-770C-9750-356D-0C7EE2F1708B}"/>
              </a:ext>
            </a:extLst>
          </p:cNvPr>
          <p:cNvGraphicFramePr>
            <a:graphicFrameLocks noGrp="1"/>
          </p:cNvGraphicFramePr>
          <p:nvPr>
            <p:extLst>
              <p:ext uri="{D42A27DB-BD31-4B8C-83A1-F6EECF244321}">
                <p14:modId xmlns:p14="http://schemas.microsoft.com/office/powerpoint/2010/main" val="1855056844"/>
              </p:ext>
            </p:extLst>
          </p:nvPr>
        </p:nvGraphicFramePr>
        <p:xfrm>
          <a:off x="1360189" y="2733178"/>
          <a:ext cx="6172202" cy="1928910"/>
        </p:xfrm>
        <a:graphic>
          <a:graphicData uri="http://schemas.openxmlformats.org/drawingml/2006/table">
            <a:tbl>
              <a:tblPr/>
              <a:tblGrid>
                <a:gridCol w="1771650">
                  <a:extLst>
                    <a:ext uri="{9D8B030D-6E8A-4147-A177-3AD203B41FA5}">
                      <a16:colId xmlns:a16="http://schemas.microsoft.com/office/drawing/2014/main" val="20000"/>
                    </a:ext>
                  </a:extLst>
                </a:gridCol>
                <a:gridCol w="1100138">
                  <a:extLst>
                    <a:ext uri="{9D8B030D-6E8A-4147-A177-3AD203B41FA5}">
                      <a16:colId xmlns:a16="http://schemas.microsoft.com/office/drawing/2014/main" val="20001"/>
                    </a:ext>
                  </a:extLst>
                </a:gridCol>
                <a:gridCol w="1100138">
                  <a:extLst>
                    <a:ext uri="{9D8B030D-6E8A-4147-A177-3AD203B41FA5}">
                      <a16:colId xmlns:a16="http://schemas.microsoft.com/office/drawing/2014/main" val="20002"/>
                    </a:ext>
                  </a:extLst>
                </a:gridCol>
                <a:gridCol w="1100138">
                  <a:extLst>
                    <a:ext uri="{9D8B030D-6E8A-4147-A177-3AD203B41FA5}">
                      <a16:colId xmlns:a16="http://schemas.microsoft.com/office/drawing/2014/main" val="20003"/>
                    </a:ext>
                  </a:extLst>
                </a:gridCol>
                <a:gridCol w="1100138">
                  <a:extLst>
                    <a:ext uri="{9D8B030D-6E8A-4147-A177-3AD203B41FA5}">
                      <a16:colId xmlns:a16="http://schemas.microsoft.com/office/drawing/2014/main" val="20004"/>
                    </a:ext>
                  </a:extLst>
                </a:gridCol>
              </a:tblGrid>
              <a:tr h="292894">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Method</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Integer</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Double FP</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extLst>
                  <a:ext uri="{0D108BD9-81ED-4DB2-BD59-A6C34878D82A}">
                    <a16:rowId xmlns:a16="http://schemas.microsoft.com/office/drawing/2014/main" val="10000"/>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Operation</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1"/>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a:t>
                      </a:r>
                      <a:r>
                        <a:rPr kumimoji="0" lang="en-US" sz="1400" b="1" i="0" u="none" strike="noStrike" cap="none" normalizeH="0" baseline="0" dirty="0" err="1">
                          <a:ln>
                            <a:noFill/>
                          </a:ln>
                          <a:solidFill>
                            <a:schemeClr val="tx1"/>
                          </a:solidFill>
                          <a:effectLst/>
                          <a:latin typeface="Calibri" panose="020F0502020204030204" pitchFamily="34" charset="0"/>
                        </a:rPr>
                        <a:t>unoptimized</a:t>
                      </a:r>
                      <a:endParaRPr kumimoji="0" lang="en-US" sz="1400" b="1" i="0" u="none" strike="noStrike" cap="none" normalizeH="0" baseline="0" dirty="0">
                        <a:ln>
                          <a:noFill/>
                        </a:ln>
                        <a:solidFill>
                          <a:schemeClr val="tx1"/>
                        </a:solidFill>
                        <a:effectLst/>
                        <a:latin typeface="Calibri" panose="020F0502020204030204" pitchFamily="34" charset="0"/>
                      </a:endParaRP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22.68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20.02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19.98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20.18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–O1</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11.14</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–O3</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6</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7.8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2395414996"/>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Combine4</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3.01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3.01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5.01</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4219735563"/>
                  </a:ext>
                </a:extLst>
              </a:tr>
            </a:tbl>
          </a:graphicData>
        </a:graphic>
      </p:graphicFrame>
    </p:spTree>
    <p:extLst>
      <p:ext uri="{BB962C8B-B14F-4D97-AF65-F5344CB8AC3E}">
        <p14:creationId xmlns:p14="http://schemas.microsoft.com/office/powerpoint/2010/main" val="1549490701"/>
      </p:ext>
    </p:extLst>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6674" name="Rectangle 2"/>
          <p:cNvSpPr>
            <a:spLocks noGrp="1" noChangeArrowheads="1"/>
          </p:cNvSpPr>
          <p:nvPr>
            <p:ph type="title"/>
          </p:nvPr>
        </p:nvSpPr>
        <p:spPr>
          <a:xfrm>
            <a:off x="1410763" y="228600"/>
            <a:ext cx="6418787" cy="571500"/>
          </a:xfrm>
        </p:spPr>
        <p:txBody>
          <a:bodyPr/>
          <a:lstStyle/>
          <a:p>
            <a:pPr eaLnBrk="1" hangingPunct="1">
              <a:defRPr/>
            </a:pPr>
            <a:r>
              <a:rPr lang="en-US" sz="2400" dirty="0"/>
              <a:t>Loop Unrolling</a:t>
            </a:r>
            <a:endParaRPr lang="en-US" sz="2400" dirty="0">
              <a:solidFill>
                <a:srgbClr val="0070C0"/>
              </a:solidFill>
            </a:endParaRPr>
          </a:p>
        </p:txBody>
      </p:sp>
      <p:sp>
        <p:nvSpPr>
          <p:cNvPr id="26628" name="Rectangle 4"/>
          <p:cNvSpPr>
            <a:spLocks noChangeArrowheads="1"/>
          </p:cNvSpPr>
          <p:nvPr/>
        </p:nvSpPr>
        <p:spPr bwMode="auto">
          <a:xfrm>
            <a:off x="2429407" y="971550"/>
            <a:ext cx="4413867" cy="3575980"/>
          </a:xfrm>
          <a:prstGeom prst="rect">
            <a:avLst/>
          </a:prstGeom>
          <a:solidFill>
            <a:srgbClr val="F6F5BD"/>
          </a:solidFill>
          <a:ln w="12700" cmpd="dbl">
            <a:solidFill>
              <a:schemeClr val="tx1"/>
            </a:solidFill>
            <a:miter lim="800000"/>
            <a:headEnd/>
            <a:tailEnd/>
          </a:ln>
        </p:spPr>
        <p:txBody>
          <a:bodyPr wrap="none" lIns="67865" tIns="33338" rIns="67865" bIns="33338">
            <a:spAutoFit/>
          </a:bodyPr>
          <a:lstStyle/>
          <a:p>
            <a:pPr>
              <a:tabLst>
                <a:tab pos="685800" algn="l"/>
                <a:tab pos="1714500" algn="l"/>
              </a:tabLst>
            </a:pPr>
            <a:r>
              <a:rPr lang="en-US" sz="1200" dirty="0">
                <a:latin typeface="Courier New" pitchFamily="49" charset="0"/>
              </a:rPr>
              <a:t>void unroll2a_combine(</a:t>
            </a:r>
            <a:r>
              <a:rPr lang="en-US" sz="1200" dirty="0" err="1">
                <a:latin typeface="Courier New" pitchFamily="49" charset="0"/>
              </a:rPr>
              <a:t>vec_ptr</a:t>
            </a:r>
            <a:r>
              <a:rPr lang="en-US" sz="1200" dirty="0">
                <a:latin typeface="Courier New" pitchFamily="49" charset="0"/>
              </a:rPr>
              <a:t> v, </a:t>
            </a:r>
            <a:r>
              <a:rPr lang="en-US" sz="1200" dirty="0" err="1">
                <a:latin typeface="Courier New" pitchFamily="49" charset="0"/>
              </a:rPr>
              <a:t>data_t</a:t>
            </a:r>
            <a:r>
              <a:rPr lang="en-US" sz="1200" dirty="0">
                <a:latin typeface="Courier New" pitchFamily="49" charset="0"/>
              </a:rPr>
              <a:t> *</a:t>
            </a:r>
            <a:r>
              <a:rPr lang="en-US" sz="1200" dirty="0" err="1">
                <a:latin typeface="Courier New" pitchFamily="49" charset="0"/>
              </a:rPr>
              <a:t>dest</a:t>
            </a:r>
            <a:r>
              <a:rPr lang="en-US" sz="1200" dirty="0">
                <a:latin typeface="Courier New" pitchFamily="49" charset="0"/>
              </a:rPr>
              <a:t>)</a:t>
            </a:r>
          </a:p>
          <a:p>
            <a:pPr>
              <a:tabLst>
                <a:tab pos="685800" algn="l"/>
                <a:tab pos="1714500" algn="l"/>
              </a:tabLst>
            </a:pPr>
            <a:r>
              <a:rPr lang="en-US" sz="1200" dirty="0">
                <a:latin typeface="Courier New" pitchFamily="49" charset="0"/>
              </a:rPr>
              <a:t>{</a:t>
            </a:r>
          </a:p>
          <a:p>
            <a:pPr>
              <a:tabLst>
                <a:tab pos="685800" algn="l"/>
                <a:tab pos="1714500" algn="l"/>
              </a:tabLst>
            </a:pPr>
            <a:r>
              <a:rPr lang="en-US" sz="1200" dirty="0">
                <a:latin typeface="Courier New" pitchFamily="49" charset="0"/>
              </a:rPr>
              <a:t>    long length = </a:t>
            </a:r>
            <a:r>
              <a:rPr lang="en-US" sz="1200" dirty="0" err="1">
                <a:latin typeface="Courier New" pitchFamily="49" charset="0"/>
              </a:rPr>
              <a:t>vec_length</a:t>
            </a:r>
            <a:r>
              <a:rPr lang="en-US" sz="1200" dirty="0">
                <a:latin typeface="Courier New" pitchFamily="49" charset="0"/>
              </a:rPr>
              <a:t>(v);</a:t>
            </a:r>
          </a:p>
          <a:p>
            <a:pPr>
              <a:tabLst>
                <a:tab pos="685800" algn="l"/>
                <a:tab pos="1714500" algn="l"/>
              </a:tabLst>
            </a:pPr>
            <a:r>
              <a:rPr lang="en-US" sz="1200" dirty="0">
                <a:latin typeface="Courier New" pitchFamily="49" charset="0"/>
              </a:rPr>
              <a:t>    long limit = length-1;</a:t>
            </a:r>
          </a:p>
          <a:p>
            <a:pPr>
              <a:tabLst>
                <a:tab pos="685800" algn="l"/>
                <a:tab pos="1714500" algn="l"/>
              </a:tabLst>
            </a:pPr>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*d = </a:t>
            </a:r>
            <a:r>
              <a:rPr lang="en-US" sz="1200" dirty="0" err="1">
                <a:latin typeface="Courier New" pitchFamily="49" charset="0"/>
              </a:rPr>
              <a:t>get_vec_start</a:t>
            </a:r>
            <a:r>
              <a:rPr lang="en-US" sz="1200" dirty="0">
                <a:latin typeface="Courier New" pitchFamily="49" charset="0"/>
              </a:rPr>
              <a:t>(v);</a:t>
            </a:r>
          </a:p>
          <a:p>
            <a:pPr>
              <a:tabLst>
                <a:tab pos="685800" algn="l"/>
                <a:tab pos="1714500" algn="l"/>
              </a:tabLst>
            </a:pPr>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x0 = IDENT;</a:t>
            </a:r>
          </a:p>
          <a:p>
            <a:pPr>
              <a:tabLst>
                <a:tab pos="685800" algn="l"/>
                <a:tab pos="1714500" algn="l"/>
              </a:tabLst>
            </a:pPr>
            <a:r>
              <a:rPr lang="en-US" sz="1200" dirty="0">
                <a:latin typeface="Courier New" pitchFamily="49" charset="0"/>
              </a:rPr>
              <a:t>    </a:t>
            </a:r>
            <a:r>
              <a:rPr lang="en-US" sz="1200" dirty="0" err="1">
                <a:latin typeface="Courier New" pitchFamily="49" charset="0"/>
              </a:rPr>
              <a:t>data_t</a:t>
            </a:r>
            <a:r>
              <a:rPr lang="en-US" sz="1200" dirty="0">
                <a:latin typeface="Courier New" pitchFamily="49" charset="0"/>
              </a:rPr>
              <a:t> x1 = IDENT;</a:t>
            </a:r>
          </a:p>
          <a:p>
            <a:pPr>
              <a:tabLst>
                <a:tab pos="685800" algn="l"/>
                <a:tab pos="1714500" algn="l"/>
              </a:tabLst>
            </a:pPr>
            <a:r>
              <a:rPr lang="en-US" sz="1200" dirty="0">
                <a:latin typeface="Courier New" pitchFamily="49" charset="0"/>
              </a:rPr>
              <a:t>    long </a:t>
            </a:r>
            <a:r>
              <a:rPr lang="en-US" sz="1200" dirty="0" err="1">
                <a:latin typeface="Courier New" pitchFamily="49" charset="0"/>
              </a:rPr>
              <a:t>i</a:t>
            </a:r>
            <a:r>
              <a:rPr lang="en-US" sz="1200" dirty="0">
                <a:latin typeface="Courier New" pitchFamily="49" charset="0"/>
              </a:rPr>
              <a:t>;</a:t>
            </a:r>
          </a:p>
          <a:p>
            <a:pPr>
              <a:tabLst>
                <a:tab pos="685800" algn="l"/>
                <a:tab pos="1714500" algn="l"/>
              </a:tabLst>
            </a:pPr>
            <a:r>
              <a:rPr lang="en-US" sz="1200" dirty="0">
                <a:latin typeface="Courier New" pitchFamily="49" charset="0"/>
              </a:rPr>
              <a:t>    /* Combine 2 elements at a time */</a:t>
            </a:r>
          </a:p>
          <a:p>
            <a:pPr>
              <a:tabLst>
                <a:tab pos="685800" algn="l"/>
                <a:tab pos="1714500" algn="l"/>
              </a:tabLst>
            </a:pPr>
            <a:r>
              <a:rPr lang="en-US" sz="1200" dirty="0">
                <a:latin typeface="Courier New" pitchFamily="49" charset="0"/>
              </a:rPr>
              <a:t>    </a:t>
            </a:r>
            <a:r>
              <a:rPr lang="en-US" sz="1200" dirty="0">
                <a:solidFill>
                  <a:srgbClr val="A50021"/>
                </a:solidFill>
                <a:latin typeface="Courier New" pitchFamily="49" charset="0"/>
              </a:rPr>
              <a:t>for (</a:t>
            </a:r>
            <a:r>
              <a:rPr lang="en-US" sz="1200" dirty="0" err="1">
                <a:solidFill>
                  <a:srgbClr val="A50021"/>
                </a:solidFill>
                <a:latin typeface="Courier New" pitchFamily="49" charset="0"/>
              </a:rPr>
              <a:t>i</a:t>
            </a:r>
            <a:r>
              <a:rPr lang="en-US" sz="1200" dirty="0">
                <a:solidFill>
                  <a:srgbClr val="A50021"/>
                </a:solidFill>
                <a:latin typeface="Courier New" pitchFamily="49" charset="0"/>
              </a:rPr>
              <a:t> = 0; </a:t>
            </a:r>
            <a:r>
              <a:rPr lang="en-US" sz="1200" dirty="0" err="1">
                <a:solidFill>
                  <a:srgbClr val="A50021"/>
                </a:solidFill>
                <a:latin typeface="Courier New" pitchFamily="49" charset="0"/>
              </a:rPr>
              <a:t>i</a:t>
            </a:r>
            <a:r>
              <a:rPr lang="en-US" sz="1200" dirty="0">
                <a:solidFill>
                  <a:srgbClr val="A50021"/>
                </a:solidFill>
                <a:latin typeface="Courier New" pitchFamily="49" charset="0"/>
              </a:rPr>
              <a:t> &lt; limit; </a:t>
            </a:r>
            <a:r>
              <a:rPr lang="en-US" sz="1200" dirty="0" err="1">
                <a:solidFill>
                  <a:srgbClr val="A50021"/>
                </a:solidFill>
                <a:latin typeface="Courier New" pitchFamily="49" charset="0"/>
              </a:rPr>
              <a:t>i</a:t>
            </a:r>
            <a:r>
              <a:rPr lang="en-US" sz="1200" dirty="0">
                <a:solidFill>
                  <a:srgbClr val="A50021"/>
                </a:solidFill>
                <a:latin typeface="Courier New" pitchFamily="49" charset="0"/>
              </a:rPr>
              <a:t>+=2) {</a:t>
            </a:r>
          </a:p>
          <a:p>
            <a:pPr>
              <a:tabLst>
                <a:tab pos="685800" algn="l"/>
                <a:tab pos="1714500" algn="l"/>
              </a:tabLst>
            </a:pPr>
            <a:r>
              <a:rPr lang="en-US" sz="1200" dirty="0">
                <a:solidFill>
                  <a:srgbClr val="A50021"/>
                </a:solidFill>
                <a:latin typeface="Courier New" pitchFamily="49" charset="0"/>
              </a:rPr>
              <a:t>       x0 = x0 OP d[</a:t>
            </a:r>
            <a:r>
              <a:rPr lang="en-US" sz="1200" dirty="0" err="1">
                <a:solidFill>
                  <a:srgbClr val="A50021"/>
                </a:solidFill>
                <a:latin typeface="Courier New" pitchFamily="49" charset="0"/>
              </a:rPr>
              <a:t>i</a:t>
            </a:r>
            <a:r>
              <a:rPr lang="en-US" sz="1200" dirty="0">
                <a:solidFill>
                  <a:srgbClr val="A50021"/>
                </a:solidFill>
                <a:latin typeface="Courier New" pitchFamily="49" charset="0"/>
              </a:rPr>
              <a:t>];</a:t>
            </a:r>
          </a:p>
          <a:p>
            <a:pPr>
              <a:tabLst>
                <a:tab pos="685800" algn="l"/>
                <a:tab pos="1714500" algn="l"/>
              </a:tabLst>
            </a:pPr>
            <a:r>
              <a:rPr lang="en-US" sz="1200" dirty="0">
                <a:solidFill>
                  <a:srgbClr val="A50021"/>
                </a:solidFill>
                <a:latin typeface="Courier New" pitchFamily="49" charset="0"/>
              </a:rPr>
              <a:t>       x1 = x1 OP d[i+1];</a:t>
            </a:r>
          </a:p>
          <a:p>
            <a:pPr>
              <a:tabLst>
                <a:tab pos="685800" algn="l"/>
                <a:tab pos="1714500" algn="l"/>
              </a:tabLst>
            </a:pPr>
            <a:r>
              <a:rPr lang="en-US" sz="1200" dirty="0">
                <a:solidFill>
                  <a:srgbClr val="A50021"/>
                </a:solidFill>
                <a:latin typeface="Courier New" pitchFamily="49" charset="0"/>
              </a:rPr>
              <a:t>    }</a:t>
            </a:r>
          </a:p>
          <a:p>
            <a:pPr>
              <a:tabLst>
                <a:tab pos="685800" algn="l"/>
                <a:tab pos="1714500" algn="l"/>
              </a:tabLst>
            </a:pPr>
            <a:r>
              <a:rPr lang="en-US" sz="1200" dirty="0">
                <a:latin typeface="Courier New" pitchFamily="49" charset="0"/>
              </a:rPr>
              <a:t>    /* Finish any remaining elements */</a:t>
            </a:r>
          </a:p>
          <a:p>
            <a:pPr>
              <a:tabLst>
                <a:tab pos="685800" algn="l"/>
                <a:tab pos="1714500" algn="l"/>
              </a:tabLst>
            </a:pPr>
            <a:r>
              <a:rPr lang="en-US" sz="1200" dirty="0">
                <a:latin typeface="Courier New" pitchFamily="49" charset="0"/>
              </a:rPr>
              <a:t>    for (; </a:t>
            </a:r>
            <a:r>
              <a:rPr lang="en-US" sz="1200" dirty="0" err="1">
                <a:latin typeface="Courier New" pitchFamily="49" charset="0"/>
              </a:rPr>
              <a:t>i</a:t>
            </a:r>
            <a:r>
              <a:rPr lang="en-US" sz="1200" dirty="0">
                <a:latin typeface="Courier New" pitchFamily="49" charset="0"/>
              </a:rPr>
              <a:t> &lt; length; </a:t>
            </a:r>
            <a:r>
              <a:rPr lang="en-US" sz="1200" dirty="0" err="1">
                <a:latin typeface="Courier New" pitchFamily="49" charset="0"/>
              </a:rPr>
              <a:t>i</a:t>
            </a:r>
            <a:r>
              <a:rPr lang="en-US" sz="1200" dirty="0">
                <a:latin typeface="Courier New" pitchFamily="49" charset="0"/>
              </a:rPr>
              <a:t>++) {</a:t>
            </a:r>
          </a:p>
          <a:p>
            <a:pPr>
              <a:tabLst>
                <a:tab pos="685800" algn="l"/>
                <a:tab pos="1714500" algn="l"/>
              </a:tabLst>
            </a:pPr>
            <a:r>
              <a:rPr lang="en-US" sz="1200" dirty="0">
                <a:latin typeface="Courier New" pitchFamily="49" charset="0"/>
              </a:rPr>
              <a:t>	x0 = x0 OP d[</a:t>
            </a:r>
            <a:r>
              <a:rPr lang="en-US" sz="1200" dirty="0" err="1">
                <a:latin typeface="Courier New" pitchFamily="49" charset="0"/>
              </a:rPr>
              <a:t>i</a:t>
            </a:r>
            <a:r>
              <a:rPr lang="en-US" sz="1200" dirty="0">
                <a:latin typeface="Courier New" pitchFamily="49" charset="0"/>
              </a:rPr>
              <a:t>];</a:t>
            </a:r>
          </a:p>
          <a:p>
            <a:pPr>
              <a:tabLst>
                <a:tab pos="685800" algn="l"/>
                <a:tab pos="1714500" algn="l"/>
              </a:tabLst>
            </a:pPr>
            <a:r>
              <a:rPr lang="en-US" sz="1200" dirty="0">
                <a:latin typeface="Courier New" pitchFamily="49" charset="0"/>
              </a:rPr>
              <a:t>    }</a:t>
            </a:r>
          </a:p>
          <a:p>
            <a:pPr>
              <a:tabLst>
                <a:tab pos="685800" algn="l"/>
                <a:tab pos="1714500" algn="l"/>
              </a:tabLst>
            </a:pPr>
            <a:r>
              <a:rPr lang="en-US" sz="1200" dirty="0">
                <a:latin typeface="Courier New" pitchFamily="49" charset="0"/>
              </a:rPr>
              <a:t>    *</a:t>
            </a:r>
            <a:r>
              <a:rPr lang="en-US" sz="1200" dirty="0" err="1">
                <a:latin typeface="Courier New" pitchFamily="49" charset="0"/>
              </a:rPr>
              <a:t>dest</a:t>
            </a:r>
            <a:r>
              <a:rPr lang="en-US" sz="1200" dirty="0">
                <a:latin typeface="Courier New" pitchFamily="49" charset="0"/>
              </a:rPr>
              <a:t> = x0 OP x1;</a:t>
            </a:r>
          </a:p>
          <a:p>
            <a:pPr>
              <a:tabLst>
                <a:tab pos="685800" algn="l"/>
                <a:tab pos="1714500" algn="l"/>
              </a:tabLst>
            </a:pPr>
            <a:r>
              <a:rPr lang="en-US" sz="1200" dirty="0">
                <a:latin typeface="Courier New" pitchFamily="49" charset="0"/>
              </a:rPr>
              <a:t>}</a:t>
            </a:r>
          </a:p>
        </p:txBody>
      </p:sp>
    </p:spTree>
    <p:extLst>
      <p:ext uri="{BB962C8B-B14F-4D97-AF65-F5344CB8AC3E}">
        <p14:creationId xmlns:p14="http://schemas.microsoft.com/office/powerpoint/2010/main" val="2261284761"/>
      </p:ext>
    </p:extLst>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0"/>
          </p:nvPr>
        </p:nvSpPr>
        <p:spPr/>
        <p:txBody>
          <a:bodyPr/>
          <a:lstStyle/>
          <a:p>
            <a:fld id="{D9B6BDF2-6896-4B98-8776-C18582F63BA5}" type="slidenum">
              <a:rPr lang="zh-TW" altLang="en-US" smtClean="0"/>
              <a:pPr/>
              <a:t>40</a:t>
            </a:fld>
            <a:endParaRPr lang="zh-TW" altLang="en-US"/>
          </a:p>
        </p:txBody>
      </p:sp>
      <p:sp>
        <p:nvSpPr>
          <p:cNvPr id="7" name="Title 3"/>
          <p:cNvSpPr>
            <a:spLocks noGrp="1"/>
          </p:cNvSpPr>
          <p:nvPr>
            <p:ph type="title"/>
          </p:nvPr>
        </p:nvSpPr>
        <p:spPr>
          <a:xfrm>
            <a:off x="754380" y="140918"/>
            <a:ext cx="8298180" cy="448043"/>
          </a:xfrm>
        </p:spPr>
        <p:txBody>
          <a:bodyPr/>
          <a:lstStyle/>
          <a:p>
            <a:r>
              <a:rPr lang="en-US" altLang="zh-TW" sz="2700" dirty="0">
                <a:latin typeface="Times New Roman" panose="02020603050405020304" pitchFamily="18" charset="0"/>
                <a:cs typeface="Times New Roman" panose="02020603050405020304" pitchFamily="18" charset="0"/>
              </a:rPr>
              <a:t>Reduction</a:t>
            </a:r>
            <a:endParaRPr lang="zh-TW" altLang="en-US" sz="27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7D89EEE-DA2C-4E20-A814-AB873B71635A}"/>
              </a:ext>
            </a:extLst>
          </p:cNvPr>
          <p:cNvSpPr txBox="1"/>
          <p:nvPr/>
        </p:nvSpPr>
        <p:spPr>
          <a:xfrm>
            <a:off x="130901" y="792652"/>
            <a:ext cx="8632332" cy="923330"/>
          </a:xfrm>
          <a:prstGeom prst="rect">
            <a:avLst/>
          </a:prstGeom>
          <a:noFill/>
        </p:spPr>
        <p:txBody>
          <a:bodyPr wrap="square">
            <a:spAutoFit/>
          </a:bodyPr>
          <a:lstStyle/>
          <a:p>
            <a:pPr fontAlgn="base">
              <a:spcBef>
                <a:spcPct val="0"/>
              </a:spcBef>
              <a:spcAft>
                <a:spcPct val="0"/>
              </a:spcAft>
              <a:buClr>
                <a:schemeClr val="tx2"/>
              </a:buClr>
              <a:buSzPct val="150000"/>
              <a:defRPr/>
            </a:pPr>
            <a:r>
              <a:rPr lang="en-US" dirty="0">
                <a:latin typeface="Arial"/>
                <a:ea typeface="新細明體"/>
              </a:rPr>
              <a:t>i</a:t>
            </a:r>
            <a:r>
              <a:rPr lang="en-US" dirty="0" err="1">
                <a:latin typeface="Arial"/>
                <a:ea typeface="新細明體"/>
              </a:rPr>
              <a:t>nt</a:t>
            </a:r>
            <a:r>
              <a:rPr lang="en-US" dirty="0">
                <a:latin typeface="Arial"/>
                <a:ea typeface="新細明體"/>
              </a:rPr>
              <a:t> a[1000], sum=0;</a:t>
            </a:r>
          </a:p>
          <a:p>
            <a:pPr fontAlgn="base">
              <a:spcBef>
                <a:spcPct val="0"/>
              </a:spcBef>
              <a:spcAft>
                <a:spcPct val="0"/>
              </a:spcAft>
              <a:buClr>
                <a:schemeClr val="tx2"/>
              </a:buClr>
              <a:buSzPct val="150000"/>
              <a:defRPr/>
            </a:pPr>
            <a:r>
              <a:rPr lang="en-US" dirty="0">
                <a:latin typeface="Arial"/>
                <a:ea typeface="新細明體"/>
              </a:rPr>
              <a:t>	for (</a:t>
            </a:r>
            <a:r>
              <a:rPr lang="en-US" dirty="0" err="1">
                <a:latin typeface="Arial"/>
                <a:ea typeface="新細明體"/>
              </a:rPr>
              <a:t>i</a:t>
            </a:r>
            <a:r>
              <a:rPr lang="en-US" dirty="0">
                <a:latin typeface="Arial"/>
                <a:ea typeface="新細明體"/>
              </a:rPr>
              <a:t>=0; </a:t>
            </a:r>
            <a:r>
              <a:rPr lang="en-US" dirty="0" err="1">
                <a:latin typeface="Arial"/>
                <a:ea typeface="新細明體"/>
              </a:rPr>
              <a:t>i</a:t>
            </a:r>
            <a:r>
              <a:rPr lang="en-US" dirty="0">
                <a:latin typeface="Arial"/>
                <a:ea typeface="新細明體"/>
              </a:rPr>
              <a:t>&lt;n; </a:t>
            </a:r>
            <a:r>
              <a:rPr lang="en-US" dirty="0" err="1">
                <a:latin typeface="Arial"/>
                <a:ea typeface="新細明體"/>
              </a:rPr>
              <a:t>i</a:t>
            </a:r>
            <a:r>
              <a:rPr lang="en-US" dirty="0">
                <a:latin typeface="Arial"/>
                <a:ea typeface="新細明體"/>
              </a:rPr>
              <a:t>++)</a:t>
            </a:r>
          </a:p>
          <a:p>
            <a:pPr fontAlgn="base">
              <a:spcBef>
                <a:spcPct val="0"/>
              </a:spcBef>
              <a:spcAft>
                <a:spcPct val="0"/>
              </a:spcAft>
              <a:buClr>
                <a:schemeClr val="tx2"/>
              </a:buClr>
              <a:buSzPct val="150000"/>
              <a:defRPr/>
            </a:pPr>
            <a:r>
              <a:rPr lang="en-US" dirty="0">
                <a:latin typeface="Arial"/>
                <a:ea typeface="新細明體"/>
              </a:rPr>
              <a:t>	sum += a[</a:t>
            </a:r>
            <a:r>
              <a:rPr lang="en-US" dirty="0" err="1">
                <a:latin typeface="Arial"/>
                <a:ea typeface="新細明體"/>
              </a:rPr>
              <a:t>i</a:t>
            </a:r>
            <a:r>
              <a:rPr lang="en-US" dirty="0">
                <a:latin typeface="Arial"/>
                <a:ea typeface="新細明體"/>
              </a:rPr>
              <a:t>];</a:t>
            </a:r>
          </a:p>
        </p:txBody>
      </p:sp>
      <p:sp>
        <p:nvSpPr>
          <p:cNvPr id="8" name="TextBox 7">
            <a:extLst>
              <a:ext uri="{FF2B5EF4-FFF2-40B4-BE49-F238E27FC236}">
                <a16:creationId xmlns:a16="http://schemas.microsoft.com/office/drawing/2014/main" id="{1219BB47-5932-49FB-8C96-6AB3AA610364}"/>
              </a:ext>
            </a:extLst>
          </p:cNvPr>
          <p:cNvSpPr txBox="1"/>
          <p:nvPr/>
        </p:nvSpPr>
        <p:spPr>
          <a:xfrm>
            <a:off x="75081" y="1840969"/>
            <a:ext cx="2564452" cy="369332"/>
          </a:xfrm>
          <a:prstGeom prst="rect">
            <a:avLst/>
          </a:prstGeom>
          <a:noFill/>
        </p:spPr>
        <p:txBody>
          <a:bodyPr wrap="square">
            <a:spAutoFit/>
          </a:bodyPr>
          <a:lstStyle/>
          <a:p>
            <a:pPr fontAlgn="base">
              <a:spcBef>
                <a:spcPct val="0"/>
              </a:spcBef>
              <a:spcAft>
                <a:spcPct val="0"/>
              </a:spcAft>
              <a:buClr>
                <a:schemeClr val="tx2"/>
              </a:buClr>
              <a:buSzPct val="150000"/>
              <a:defRPr/>
            </a:pPr>
            <a:r>
              <a:rPr lang="en-US" dirty="0">
                <a:latin typeface="Arial"/>
                <a:ea typeface="新細明體"/>
              </a:rPr>
              <a:t>Scalar Reduction</a:t>
            </a:r>
          </a:p>
        </p:txBody>
      </p:sp>
      <p:sp>
        <p:nvSpPr>
          <p:cNvPr id="2" name="TextBox 1">
            <a:extLst>
              <a:ext uri="{FF2B5EF4-FFF2-40B4-BE49-F238E27FC236}">
                <a16:creationId xmlns:a16="http://schemas.microsoft.com/office/drawing/2014/main" id="{1C70BF1E-4A7C-4DC0-B49F-18B321B45545}"/>
              </a:ext>
            </a:extLst>
          </p:cNvPr>
          <p:cNvSpPr txBox="1"/>
          <p:nvPr/>
        </p:nvSpPr>
        <p:spPr>
          <a:xfrm>
            <a:off x="3094075"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A[0]</a:t>
            </a:r>
          </a:p>
        </p:txBody>
      </p:sp>
      <p:sp>
        <p:nvSpPr>
          <p:cNvPr id="9" name="TextBox 8">
            <a:extLst>
              <a:ext uri="{FF2B5EF4-FFF2-40B4-BE49-F238E27FC236}">
                <a16:creationId xmlns:a16="http://schemas.microsoft.com/office/drawing/2014/main" id="{EDBD1A35-4BD0-4508-BEF4-61CF57F7E670}"/>
              </a:ext>
            </a:extLst>
          </p:cNvPr>
          <p:cNvSpPr txBox="1"/>
          <p:nvPr/>
        </p:nvSpPr>
        <p:spPr>
          <a:xfrm>
            <a:off x="3763925"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A[1]</a:t>
            </a:r>
          </a:p>
        </p:txBody>
      </p:sp>
      <p:sp>
        <p:nvSpPr>
          <p:cNvPr id="10" name="TextBox 9">
            <a:extLst>
              <a:ext uri="{FF2B5EF4-FFF2-40B4-BE49-F238E27FC236}">
                <a16:creationId xmlns:a16="http://schemas.microsoft.com/office/drawing/2014/main" id="{35901448-7DC5-4CBD-AFC1-CFAC3D163810}"/>
              </a:ext>
            </a:extLst>
          </p:cNvPr>
          <p:cNvSpPr txBox="1"/>
          <p:nvPr/>
        </p:nvSpPr>
        <p:spPr>
          <a:xfrm>
            <a:off x="4447067"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A[2]</a:t>
            </a:r>
          </a:p>
        </p:txBody>
      </p:sp>
      <p:sp>
        <p:nvSpPr>
          <p:cNvPr id="11" name="TextBox 10">
            <a:extLst>
              <a:ext uri="{FF2B5EF4-FFF2-40B4-BE49-F238E27FC236}">
                <a16:creationId xmlns:a16="http://schemas.microsoft.com/office/drawing/2014/main" id="{64B3F764-E0F6-46A3-A9A4-5FB77034249E}"/>
              </a:ext>
            </a:extLst>
          </p:cNvPr>
          <p:cNvSpPr txBox="1"/>
          <p:nvPr/>
        </p:nvSpPr>
        <p:spPr>
          <a:xfrm>
            <a:off x="5130209"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A[3]</a:t>
            </a:r>
          </a:p>
        </p:txBody>
      </p:sp>
      <p:sp>
        <p:nvSpPr>
          <p:cNvPr id="12" name="TextBox 11">
            <a:extLst>
              <a:ext uri="{FF2B5EF4-FFF2-40B4-BE49-F238E27FC236}">
                <a16:creationId xmlns:a16="http://schemas.microsoft.com/office/drawing/2014/main" id="{F2076218-789C-4015-B301-A562F4C685BE}"/>
              </a:ext>
            </a:extLst>
          </p:cNvPr>
          <p:cNvSpPr txBox="1"/>
          <p:nvPr/>
        </p:nvSpPr>
        <p:spPr>
          <a:xfrm>
            <a:off x="5800060"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t>
            </a:r>
          </a:p>
        </p:txBody>
      </p:sp>
      <p:sp>
        <p:nvSpPr>
          <p:cNvPr id="13" name="TextBox 12">
            <a:extLst>
              <a:ext uri="{FF2B5EF4-FFF2-40B4-BE49-F238E27FC236}">
                <a16:creationId xmlns:a16="http://schemas.microsoft.com/office/drawing/2014/main" id="{FF674203-E9F6-4BB4-87D6-7E02E93B0E02}"/>
              </a:ext>
            </a:extLst>
          </p:cNvPr>
          <p:cNvSpPr txBox="1"/>
          <p:nvPr/>
        </p:nvSpPr>
        <p:spPr>
          <a:xfrm>
            <a:off x="6469910"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A[n-1]</a:t>
            </a:r>
          </a:p>
        </p:txBody>
      </p:sp>
      <p:sp>
        <p:nvSpPr>
          <p:cNvPr id="14" name="TextBox 13">
            <a:extLst>
              <a:ext uri="{FF2B5EF4-FFF2-40B4-BE49-F238E27FC236}">
                <a16:creationId xmlns:a16="http://schemas.microsoft.com/office/drawing/2014/main" id="{7CA66278-CFD4-4CB0-A44E-5350B8ADEA54}"/>
              </a:ext>
            </a:extLst>
          </p:cNvPr>
          <p:cNvSpPr txBox="1"/>
          <p:nvPr/>
        </p:nvSpPr>
        <p:spPr>
          <a:xfrm>
            <a:off x="7139761" y="17884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a:t>
            </a:r>
          </a:p>
        </p:txBody>
      </p:sp>
      <p:sp>
        <p:nvSpPr>
          <p:cNvPr id="15" name="TextBox 14">
            <a:extLst>
              <a:ext uri="{FF2B5EF4-FFF2-40B4-BE49-F238E27FC236}">
                <a16:creationId xmlns:a16="http://schemas.microsoft.com/office/drawing/2014/main" id="{ABEB93C2-E037-4883-B93B-F980382F3A45}"/>
              </a:ext>
            </a:extLst>
          </p:cNvPr>
          <p:cNvSpPr txBox="1"/>
          <p:nvPr/>
        </p:nvSpPr>
        <p:spPr>
          <a:xfrm>
            <a:off x="2424224" y="2269488"/>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a:t>
            </a:r>
          </a:p>
        </p:txBody>
      </p:sp>
      <p:cxnSp>
        <p:nvCxnSpPr>
          <p:cNvPr id="16" name="Straight Arrow Connector 15">
            <a:extLst>
              <a:ext uri="{FF2B5EF4-FFF2-40B4-BE49-F238E27FC236}">
                <a16:creationId xmlns:a16="http://schemas.microsoft.com/office/drawing/2014/main" id="{E9CB3DC4-AE7E-48EC-86E8-25C3E173CD9C}"/>
              </a:ext>
            </a:extLst>
          </p:cNvPr>
          <p:cNvCxnSpPr>
            <a:stCxn id="2" idx="2"/>
          </p:cNvCxnSpPr>
          <p:nvPr/>
        </p:nvCxnSpPr>
        <p:spPr bwMode="auto">
          <a:xfrm flipH="1">
            <a:off x="3094075" y="2088515"/>
            <a:ext cx="334926" cy="198918"/>
          </a:xfrm>
          <a:prstGeom prst="straightConnector1">
            <a:avLst/>
          </a:prstGeom>
          <a:noFill/>
          <a:ln w="12700" cap="flat" cmpd="sng" algn="ctr">
            <a:solidFill>
              <a:srgbClr val="FF0000"/>
            </a:solidFill>
            <a:prstDash val="solid"/>
            <a:round/>
            <a:headEnd type="none" w="med" len="med"/>
            <a:tailEnd type="triangle"/>
          </a:ln>
          <a:effectLst/>
        </p:spPr>
      </p:cxnSp>
      <p:cxnSp>
        <p:nvCxnSpPr>
          <p:cNvPr id="17" name="Straight Arrow Connector 16">
            <a:extLst>
              <a:ext uri="{FF2B5EF4-FFF2-40B4-BE49-F238E27FC236}">
                <a16:creationId xmlns:a16="http://schemas.microsoft.com/office/drawing/2014/main" id="{DC28C794-B917-47F0-8857-C70452EEBCE6}"/>
              </a:ext>
            </a:extLst>
          </p:cNvPr>
          <p:cNvCxnSpPr>
            <a:cxnSpLocks/>
          </p:cNvCxnSpPr>
          <p:nvPr/>
        </p:nvCxnSpPr>
        <p:spPr bwMode="auto">
          <a:xfrm flipH="1">
            <a:off x="3094075" y="2038362"/>
            <a:ext cx="974207" cy="249071"/>
          </a:xfrm>
          <a:prstGeom prst="straightConnector1">
            <a:avLst/>
          </a:prstGeom>
          <a:noFill/>
          <a:ln w="12700" cap="flat" cmpd="sng" algn="ctr">
            <a:solidFill>
              <a:srgbClr val="FF0000"/>
            </a:solidFill>
            <a:prstDash val="solid"/>
            <a:round/>
            <a:headEnd type="none" w="med" len="med"/>
            <a:tailEnd type="triangle"/>
          </a:ln>
          <a:effectLst/>
        </p:spPr>
      </p:cxnSp>
      <p:cxnSp>
        <p:nvCxnSpPr>
          <p:cNvPr id="19" name="Straight Arrow Connector 18">
            <a:extLst>
              <a:ext uri="{FF2B5EF4-FFF2-40B4-BE49-F238E27FC236}">
                <a16:creationId xmlns:a16="http://schemas.microsoft.com/office/drawing/2014/main" id="{9A8F5244-3C73-4A8F-BD6E-1E81E26FF9A8}"/>
              </a:ext>
            </a:extLst>
          </p:cNvPr>
          <p:cNvCxnSpPr>
            <a:cxnSpLocks/>
          </p:cNvCxnSpPr>
          <p:nvPr/>
        </p:nvCxnSpPr>
        <p:spPr bwMode="auto">
          <a:xfrm flipH="1">
            <a:off x="3137935" y="2066039"/>
            <a:ext cx="1600199" cy="249322"/>
          </a:xfrm>
          <a:prstGeom prst="straightConnector1">
            <a:avLst/>
          </a:prstGeom>
          <a:noFill/>
          <a:ln w="12700" cap="flat" cmpd="sng" algn="ctr">
            <a:solidFill>
              <a:srgbClr val="FF0000"/>
            </a:solidFill>
            <a:prstDash val="solid"/>
            <a:round/>
            <a:headEnd type="none" w="med" len="med"/>
            <a:tailEnd type="triangle"/>
          </a:ln>
          <a:effectLst/>
        </p:spPr>
      </p:cxnSp>
      <p:cxnSp>
        <p:nvCxnSpPr>
          <p:cNvPr id="21" name="Straight Arrow Connector 20">
            <a:extLst>
              <a:ext uri="{FF2B5EF4-FFF2-40B4-BE49-F238E27FC236}">
                <a16:creationId xmlns:a16="http://schemas.microsoft.com/office/drawing/2014/main" id="{7677DF4D-B6CC-4EB3-A6EA-F7C757C09537}"/>
              </a:ext>
            </a:extLst>
          </p:cNvPr>
          <p:cNvCxnSpPr>
            <a:cxnSpLocks/>
          </p:cNvCxnSpPr>
          <p:nvPr/>
        </p:nvCxnSpPr>
        <p:spPr bwMode="auto">
          <a:xfrm flipH="1">
            <a:off x="3137934" y="2066039"/>
            <a:ext cx="2313909" cy="249322"/>
          </a:xfrm>
          <a:prstGeom prst="straightConnector1">
            <a:avLst/>
          </a:prstGeom>
          <a:noFill/>
          <a:ln w="12700" cap="flat" cmpd="sng" algn="ctr">
            <a:solidFill>
              <a:srgbClr val="FF0000"/>
            </a:solidFill>
            <a:prstDash val="solid"/>
            <a:round/>
            <a:headEnd type="none" w="med" len="med"/>
            <a:tailEnd type="triangle"/>
          </a:ln>
          <a:effectLst/>
        </p:spPr>
      </p:cxnSp>
      <p:cxnSp>
        <p:nvCxnSpPr>
          <p:cNvPr id="23" name="Straight Arrow Connector 22">
            <a:extLst>
              <a:ext uri="{FF2B5EF4-FFF2-40B4-BE49-F238E27FC236}">
                <a16:creationId xmlns:a16="http://schemas.microsoft.com/office/drawing/2014/main" id="{450EADB2-39CD-46D7-BDBB-ED0AED9FDAE7}"/>
              </a:ext>
            </a:extLst>
          </p:cNvPr>
          <p:cNvCxnSpPr>
            <a:cxnSpLocks/>
            <a:stCxn id="13" idx="2"/>
            <a:endCxn id="15" idx="3"/>
          </p:cNvCxnSpPr>
          <p:nvPr/>
        </p:nvCxnSpPr>
        <p:spPr bwMode="auto">
          <a:xfrm flipH="1">
            <a:off x="3094075" y="2088515"/>
            <a:ext cx="3710761" cy="331014"/>
          </a:xfrm>
          <a:prstGeom prst="straightConnector1">
            <a:avLst/>
          </a:prstGeom>
          <a:noFill/>
          <a:ln w="12700" cap="flat" cmpd="sng" algn="ctr">
            <a:solidFill>
              <a:srgbClr val="FF0000"/>
            </a:solidFill>
            <a:prstDash val="solid"/>
            <a:round/>
            <a:headEnd type="none" w="med" len="med"/>
            <a:tailEnd type="triangle"/>
          </a:ln>
          <a:effectLst/>
        </p:spPr>
      </p:cxnSp>
      <p:cxnSp>
        <p:nvCxnSpPr>
          <p:cNvPr id="26" name="Straight Arrow Connector 25">
            <a:extLst>
              <a:ext uri="{FF2B5EF4-FFF2-40B4-BE49-F238E27FC236}">
                <a16:creationId xmlns:a16="http://schemas.microsoft.com/office/drawing/2014/main" id="{D84D6EAC-8AB7-4277-8669-39FE7AC7BC2F}"/>
              </a:ext>
            </a:extLst>
          </p:cNvPr>
          <p:cNvCxnSpPr>
            <a:cxnSpLocks/>
          </p:cNvCxnSpPr>
          <p:nvPr/>
        </p:nvCxnSpPr>
        <p:spPr bwMode="auto">
          <a:xfrm flipH="1">
            <a:off x="3107366" y="2083892"/>
            <a:ext cx="4323461" cy="374249"/>
          </a:xfrm>
          <a:prstGeom prst="straightConnector1">
            <a:avLst/>
          </a:prstGeom>
          <a:noFill/>
          <a:ln w="12700" cap="flat" cmpd="sng" algn="ctr">
            <a:solidFill>
              <a:srgbClr val="FF0000"/>
            </a:solidFill>
            <a:prstDash val="solid"/>
            <a:round/>
            <a:headEnd type="none" w="med" len="med"/>
            <a:tailEnd type="triangle"/>
          </a:ln>
          <a:effectLst/>
        </p:spPr>
      </p:cxnSp>
      <p:sp>
        <p:nvSpPr>
          <p:cNvPr id="28" name="TextBox 27">
            <a:extLst>
              <a:ext uri="{FF2B5EF4-FFF2-40B4-BE49-F238E27FC236}">
                <a16:creationId xmlns:a16="http://schemas.microsoft.com/office/drawing/2014/main" id="{B8F8251A-C6A7-4A41-B67D-6D8695246444}"/>
              </a:ext>
            </a:extLst>
          </p:cNvPr>
          <p:cNvSpPr txBox="1"/>
          <p:nvPr/>
        </p:nvSpPr>
        <p:spPr>
          <a:xfrm>
            <a:off x="65440" y="2970863"/>
            <a:ext cx="2564452" cy="369332"/>
          </a:xfrm>
          <a:prstGeom prst="rect">
            <a:avLst/>
          </a:prstGeom>
          <a:noFill/>
        </p:spPr>
        <p:txBody>
          <a:bodyPr wrap="square">
            <a:spAutoFit/>
          </a:bodyPr>
          <a:lstStyle/>
          <a:p>
            <a:pPr fontAlgn="base">
              <a:spcBef>
                <a:spcPct val="0"/>
              </a:spcBef>
              <a:spcAft>
                <a:spcPct val="0"/>
              </a:spcAft>
              <a:buClr>
                <a:schemeClr val="tx2"/>
              </a:buClr>
              <a:buSzPct val="150000"/>
              <a:defRPr/>
            </a:pPr>
            <a:r>
              <a:rPr lang="en-US" dirty="0">
                <a:latin typeface="Arial"/>
                <a:ea typeface="新細明體"/>
              </a:rPr>
              <a:t>Vector Reduction</a:t>
            </a:r>
          </a:p>
        </p:txBody>
      </p:sp>
      <p:sp>
        <p:nvSpPr>
          <p:cNvPr id="29" name="TextBox 28">
            <a:extLst>
              <a:ext uri="{FF2B5EF4-FFF2-40B4-BE49-F238E27FC236}">
                <a16:creationId xmlns:a16="http://schemas.microsoft.com/office/drawing/2014/main" id="{448EF97A-72C3-487D-B968-94003F88D9F2}"/>
              </a:ext>
            </a:extLst>
          </p:cNvPr>
          <p:cNvSpPr txBox="1"/>
          <p:nvPr/>
        </p:nvSpPr>
        <p:spPr>
          <a:xfrm>
            <a:off x="3107366" y="30567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A[0]</a:t>
            </a:r>
          </a:p>
        </p:txBody>
      </p:sp>
      <p:sp>
        <p:nvSpPr>
          <p:cNvPr id="30" name="TextBox 29">
            <a:extLst>
              <a:ext uri="{FF2B5EF4-FFF2-40B4-BE49-F238E27FC236}">
                <a16:creationId xmlns:a16="http://schemas.microsoft.com/office/drawing/2014/main" id="{F86602A8-E688-440C-BDDA-9AF1FCC58CD1}"/>
              </a:ext>
            </a:extLst>
          </p:cNvPr>
          <p:cNvSpPr txBox="1"/>
          <p:nvPr/>
        </p:nvSpPr>
        <p:spPr>
          <a:xfrm>
            <a:off x="3777217" y="30567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A[1]</a:t>
            </a:r>
          </a:p>
        </p:txBody>
      </p:sp>
      <p:sp>
        <p:nvSpPr>
          <p:cNvPr id="31" name="TextBox 30">
            <a:extLst>
              <a:ext uri="{FF2B5EF4-FFF2-40B4-BE49-F238E27FC236}">
                <a16:creationId xmlns:a16="http://schemas.microsoft.com/office/drawing/2014/main" id="{F0E68131-653A-4E3D-A64A-7112276AB6CA}"/>
              </a:ext>
            </a:extLst>
          </p:cNvPr>
          <p:cNvSpPr txBox="1"/>
          <p:nvPr/>
        </p:nvSpPr>
        <p:spPr>
          <a:xfrm>
            <a:off x="4460359" y="30567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A[2]</a:t>
            </a:r>
          </a:p>
        </p:txBody>
      </p:sp>
      <p:sp>
        <p:nvSpPr>
          <p:cNvPr id="32" name="TextBox 31">
            <a:extLst>
              <a:ext uri="{FF2B5EF4-FFF2-40B4-BE49-F238E27FC236}">
                <a16:creationId xmlns:a16="http://schemas.microsoft.com/office/drawing/2014/main" id="{B360AB82-DCE0-47D8-9AC1-246E97BFFE46}"/>
              </a:ext>
            </a:extLst>
          </p:cNvPr>
          <p:cNvSpPr txBox="1"/>
          <p:nvPr/>
        </p:nvSpPr>
        <p:spPr>
          <a:xfrm>
            <a:off x="5143501" y="305673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A[3]</a:t>
            </a:r>
          </a:p>
        </p:txBody>
      </p:sp>
      <p:sp>
        <p:nvSpPr>
          <p:cNvPr id="33" name="TextBox 32">
            <a:extLst>
              <a:ext uri="{FF2B5EF4-FFF2-40B4-BE49-F238E27FC236}">
                <a16:creationId xmlns:a16="http://schemas.microsoft.com/office/drawing/2014/main" id="{531D8D83-1BAF-4F78-A904-AC1155550075}"/>
              </a:ext>
            </a:extLst>
          </p:cNvPr>
          <p:cNvSpPr txBox="1"/>
          <p:nvPr/>
        </p:nvSpPr>
        <p:spPr>
          <a:xfrm>
            <a:off x="3107365"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A[4]</a:t>
            </a:r>
          </a:p>
        </p:txBody>
      </p:sp>
      <p:sp>
        <p:nvSpPr>
          <p:cNvPr id="34" name="TextBox 33">
            <a:extLst>
              <a:ext uri="{FF2B5EF4-FFF2-40B4-BE49-F238E27FC236}">
                <a16:creationId xmlns:a16="http://schemas.microsoft.com/office/drawing/2014/main" id="{EE459CC7-2597-462E-AE38-A97247D7BC51}"/>
              </a:ext>
            </a:extLst>
          </p:cNvPr>
          <p:cNvSpPr txBox="1"/>
          <p:nvPr/>
        </p:nvSpPr>
        <p:spPr>
          <a:xfrm>
            <a:off x="3777216"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A[5]</a:t>
            </a:r>
          </a:p>
        </p:txBody>
      </p:sp>
      <p:sp>
        <p:nvSpPr>
          <p:cNvPr id="35" name="TextBox 34">
            <a:extLst>
              <a:ext uri="{FF2B5EF4-FFF2-40B4-BE49-F238E27FC236}">
                <a16:creationId xmlns:a16="http://schemas.microsoft.com/office/drawing/2014/main" id="{805C2AD8-8BC1-4AAC-A7A5-30D9D89964E5}"/>
              </a:ext>
            </a:extLst>
          </p:cNvPr>
          <p:cNvSpPr txBox="1"/>
          <p:nvPr/>
        </p:nvSpPr>
        <p:spPr>
          <a:xfrm>
            <a:off x="4460358"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A[6]</a:t>
            </a:r>
          </a:p>
        </p:txBody>
      </p:sp>
      <p:sp>
        <p:nvSpPr>
          <p:cNvPr id="36" name="TextBox 35">
            <a:extLst>
              <a:ext uri="{FF2B5EF4-FFF2-40B4-BE49-F238E27FC236}">
                <a16:creationId xmlns:a16="http://schemas.microsoft.com/office/drawing/2014/main" id="{2117A2BA-0CCC-48EB-B0A2-6FA948B43DAF}"/>
              </a:ext>
            </a:extLst>
          </p:cNvPr>
          <p:cNvSpPr txBox="1"/>
          <p:nvPr/>
        </p:nvSpPr>
        <p:spPr>
          <a:xfrm>
            <a:off x="5143500"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A[7]</a:t>
            </a:r>
          </a:p>
        </p:txBody>
      </p:sp>
      <p:sp>
        <p:nvSpPr>
          <p:cNvPr id="37" name="TextBox 36">
            <a:extLst>
              <a:ext uri="{FF2B5EF4-FFF2-40B4-BE49-F238E27FC236}">
                <a16:creationId xmlns:a16="http://schemas.microsoft.com/office/drawing/2014/main" id="{9BB7B0C4-BD9F-4F54-A793-071C6C1F6CDA}"/>
              </a:ext>
            </a:extLst>
          </p:cNvPr>
          <p:cNvSpPr txBox="1"/>
          <p:nvPr/>
        </p:nvSpPr>
        <p:spPr>
          <a:xfrm>
            <a:off x="2381695" y="3348653"/>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t>
            </a:r>
          </a:p>
        </p:txBody>
      </p:sp>
      <p:sp>
        <p:nvSpPr>
          <p:cNvPr id="38" name="TextBox 37">
            <a:extLst>
              <a:ext uri="{FF2B5EF4-FFF2-40B4-BE49-F238E27FC236}">
                <a16:creationId xmlns:a16="http://schemas.microsoft.com/office/drawing/2014/main" id="{D278E950-FB60-436A-AE3D-97D847911690}"/>
              </a:ext>
            </a:extLst>
          </p:cNvPr>
          <p:cNvSpPr txBox="1"/>
          <p:nvPr/>
        </p:nvSpPr>
        <p:spPr>
          <a:xfrm>
            <a:off x="3107366" y="3625652"/>
            <a:ext cx="2692694"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t>
            </a:r>
          </a:p>
        </p:txBody>
      </p:sp>
      <p:sp>
        <p:nvSpPr>
          <p:cNvPr id="39" name="TextBox 38">
            <a:extLst>
              <a:ext uri="{FF2B5EF4-FFF2-40B4-BE49-F238E27FC236}">
                <a16:creationId xmlns:a16="http://schemas.microsoft.com/office/drawing/2014/main" id="{78D62C98-F0E4-49E9-BCAA-DB2D7802D32F}"/>
              </a:ext>
            </a:extLst>
          </p:cNvPr>
          <p:cNvSpPr txBox="1"/>
          <p:nvPr/>
        </p:nvSpPr>
        <p:spPr>
          <a:xfrm>
            <a:off x="3120657" y="3902651"/>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A[n-3]</a:t>
            </a:r>
          </a:p>
        </p:txBody>
      </p:sp>
      <p:sp>
        <p:nvSpPr>
          <p:cNvPr id="40" name="TextBox 39">
            <a:extLst>
              <a:ext uri="{FF2B5EF4-FFF2-40B4-BE49-F238E27FC236}">
                <a16:creationId xmlns:a16="http://schemas.microsoft.com/office/drawing/2014/main" id="{B0F1F61B-9573-4C3B-A7C8-80C11C101104}"/>
              </a:ext>
            </a:extLst>
          </p:cNvPr>
          <p:cNvSpPr txBox="1"/>
          <p:nvPr/>
        </p:nvSpPr>
        <p:spPr>
          <a:xfrm>
            <a:off x="3790507" y="3902651"/>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A[n-2]</a:t>
            </a:r>
          </a:p>
        </p:txBody>
      </p:sp>
      <p:sp>
        <p:nvSpPr>
          <p:cNvPr id="41" name="TextBox 40">
            <a:extLst>
              <a:ext uri="{FF2B5EF4-FFF2-40B4-BE49-F238E27FC236}">
                <a16:creationId xmlns:a16="http://schemas.microsoft.com/office/drawing/2014/main" id="{9EA8B9E3-4BD0-42B6-BE11-E7C48F875C53}"/>
              </a:ext>
            </a:extLst>
          </p:cNvPr>
          <p:cNvSpPr txBox="1"/>
          <p:nvPr/>
        </p:nvSpPr>
        <p:spPr>
          <a:xfrm>
            <a:off x="4473649" y="3902651"/>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A[n-1]</a:t>
            </a:r>
          </a:p>
        </p:txBody>
      </p:sp>
      <p:sp>
        <p:nvSpPr>
          <p:cNvPr id="42" name="TextBox 41">
            <a:extLst>
              <a:ext uri="{FF2B5EF4-FFF2-40B4-BE49-F238E27FC236}">
                <a16:creationId xmlns:a16="http://schemas.microsoft.com/office/drawing/2014/main" id="{7D718C4A-A47A-4A90-A1BA-C57ACC81A630}"/>
              </a:ext>
            </a:extLst>
          </p:cNvPr>
          <p:cNvSpPr txBox="1"/>
          <p:nvPr/>
        </p:nvSpPr>
        <p:spPr>
          <a:xfrm>
            <a:off x="5156791" y="3902651"/>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A[n]</a:t>
            </a:r>
          </a:p>
        </p:txBody>
      </p:sp>
      <p:sp>
        <p:nvSpPr>
          <p:cNvPr id="43" name="TextBox 42">
            <a:extLst>
              <a:ext uri="{FF2B5EF4-FFF2-40B4-BE49-F238E27FC236}">
                <a16:creationId xmlns:a16="http://schemas.microsoft.com/office/drawing/2014/main" id="{FF3974DC-C450-4F31-8120-CC69D6DD9345}"/>
              </a:ext>
            </a:extLst>
          </p:cNvPr>
          <p:cNvSpPr txBox="1"/>
          <p:nvPr/>
        </p:nvSpPr>
        <p:spPr>
          <a:xfrm>
            <a:off x="2345811" y="4289319"/>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a:t>
            </a:r>
          </a:p>
        </p:txBody>
      </p:sp>
      <p:sp>
        <p:nvSpPr>
          <p:cNvPr id="44" name="TextBox 43">
            <a:extLst>
              <a:ext uri="{FF2B5EF4-FFF2-40B4-BE49-F238E27FC236}">
                <a16:creationId xmlns:a16="http://schemas.microsoft.com/office/drawing/2014/main" id="{71EBB144-7FC7-4B1B-980D-CAC01D91AC99}"/>
              </a:ext>
            </a:extLst>
          </p:cNvPr>
          <p:cNvSpPr txBox="1"/>
          <p:nvPr/>
        </p:nvSpPr>
        <p:spPr>
          <a:xfrm>
            <a:off x="3094075" y="4291555"/>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sum0</a:t>
            </a:r>
          </a:p>
        </p:txBody>
      </p:sp>
      <p:sp>
        <p:nvSpPr>
          <p:cNvPr id="45" name="TextBox 44">
            <a:extLst>
              <a:ext uri="{FF2B5EF4-FFF2-40B4-BE49-F238E27FC236}">
                <a16:creationId xmlns:a16="http://schemas.microsoft.com/office/drawing/2014/main" id="{719FC6FD-D91F-4CA7-A083-2E4973B2FA45}"/>
              </a:ext>
            </a:extLst>
          </p:cNvPr>
          <p:cNvSpPr txBox="1"/>
          <p:nvPr/>
        </p:nvSpPr>
        <p:spPr>
          <a:xfrm>
            <a:off x="3763925" y="4291555"/>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sum1</a:t>
            </a:r>
          </a:p>
        </p:txBody>
      </p:sp>
      <p:sp>
        <p:nvSpPr>
          <p:cNvPr id="46" name="TextBox 45">
            <a:extLst>
              <a:ext uri="{FF2B5EF4-FFF2-40B4-BE49-F238E27FC236}">
                <a16:creationId xmlns:a16="http://schemas.microsoft.com/office/drawing/2014/main" id="{D99D5C9F-B18F-4418-890F-6266064F41BF}"/>
              </a:ext>
            </a:extLst>
          </p:cNvPr>
          <p:cNvSpPr txBox="1"/>
          <p:nvPr/>
        </p:nvSpPr>
        <p:spPr>
          <a:xfrm>
            <a:off x="4447067" y="4291555"/>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sum2</a:t>
            </a:r>
          </a:p>
        </p:txBody>
      </p:sp>
      <p:sp>
        <p:nvSpPr>
          <p:cNvPr id="47" name="TextBox 46">
            <a:extLst>
              <a:ext uri="{FF2B5EF4-FFF2-40B4-BE49-F238E27FC236}">
                <a16:creationId xmlns:a16="http://schemas.microsoft.com/office/drawing/2014/main" id="{21AB51D1-A022-45C7-B8AC-D38E2C510FE3}"/>
              </a:ext>
            </a:extLst>
          </p:cNvPr>
          <p:cNvSpPr txBox="1"/>
          <p:nvPr/>
        </p:nvSpPr>
        <p:spPr>
          <a:xfrm>
            <a:off x="5130209" y="4291555"/>
            <a:ext cx="669851"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sum3</a:t>
            </a:r>
          </a:p>
        </p:txBody>
      </p:sp>
      <p:sp>
        <p:nvSpPr>
          <p:cNvPr id="48" name="TextBox 47">
            <a:extLst>
              <a:ext uri="{FF2B5EF4-FFF2-40B4-BE49-F238E27FC236}">
                <a16:creationId xmlns:a16="http://schemas.microsoft.com/office/drawing/2014/main" id="{69EDBB61-A920-469F-84A3-3AC1E552E0DD}"/>
              </a:ext>
            </a:extLst>
          </p:cNvPr>
          <p:cNvSpPr txBox="1"/>
          <p:nvPr/>
        </p:nvSpPr>
        <p:spPr>
          <a:xfrm>
            <a:off x="6084480" y="4282466"/>
            <a:ext cx="2692694" cy="300082"/>
          </a:xfrm>
          <a:prstGeom prst="rect">
            <a:avLst/>
          </a:prstGeom>
          <a:noFill/>
          <a:ln>
            <a:solidFill>
              <a:srgbClr val="002060"/>
            </a:solidFill>
          </a:ln>
        </p:spPr>
        <p:txBody>
          <a:bodyPr wrap="square" rtlCol="0" anchor="ctr" anchorCtr="1">
            <a:spAutoFit/>
          </a:bodyPr>
          <a:lstStyle/>
          <a:p>
            <a:r>
              <a:rPr lang="en-US" sz="1350" dirty="0">
                <a:ea typeface="標楷體" pitchFamily="65" charset="-120"/>
                <a:cs typeface="Calibri" pitchFamily="34" charset="0"/>
              </a:rPr>
              <a:t>sum = sum0+sum1+sum2+sum3</a:t>
            </a:r>
          </a:p>
        </p:txBody>
      </p:sp>
      <p:cxnSp>
        <p:nvCxnSpPr>
          <p:cNvPr id="50" name="Straight Arrow Connector 49">
            <a:extLst>
              <a:ext uri="{FF2B5EF4-FFF2-40B4-BE49-F238E27FC236}">
                <a16:creationId xmlns:a16="http://schemas.microsoft.com/office/drawing/2014/main" id="{C48449EB-B598-4CA3-A2DF-FA9AC07CF68C}"/>
              </a:ext>
            </a:extLst>
          </p:cNvPr>
          <p:cNvCxnSpPr/>
          <p:nvPr/>
        </p:nvCxnSpPr>
        <p:spPr bwMode="auto">
          <a:xfrm>
            <a:off x="4839144" y="2970863"/>
            <a:ext cx="987499" cy="0"/>
          </a:xfrm>
          <a:prstGeom prst="straightConnector1">
            <a:avLst/>
          </a:prstGeom>
          <a:noFill/>
          <a:ln w="15875" cap="flat" cmpd="sng" algn="ctr">
            <a:solidFill>
              <a:srgbClr val="FF0000"/>
            </a:solidFill>
            <a:prstDash val="solid"/>
            <a:round/>
            <a:headEnd type="none" w="med" len="med"/>
            <a:tailEnd type="stealth" w="lg" len="lg"/>
          </a:ln>
          <a:effectLst/>
        </p:spPr>
      </p:cxnSp>
      <p:cxnSp>
        <p:nvCxnSpPr>
          <p:cNvPr id="52" name="Straight Arrow Connector 51">
            <a:extLst>
              <a:ext uri="{FF2B5EF4-FFF2-40B4-BE49-F238E27FC236}">
                <a16:creationId xmlns:a16="http://schemas.microsoft.com/office/drawing/2014/main" id="{C77F34A9-1C98-4252-AE5D-00D95316CE93}"/>
              </a:ext>
            </a:extLst>
          </p:cNvPr>
          <p:cNvCxnSpPr/>
          <p:nvPr/>
        </p:nvCxnSpPr>
        <p:spPr bwMode="auto">
          <a:xfrm>
            <a:off x="3153884" y="2961952"/>
            <a:ext cx="987499" cy="0"/>
          </a:xfrm>
          <a:prstGeom prst="straightConnector1">
            <a:avLst/>
          </a:prstGeom>
          <a:noFill/>
          <a:ln w="15875" cap="flat" cmpd="sng" algn="ctr">
            <a:solidFill>
              <a:srgbClr val="FF0000"/>
            </a:solidFill>
            <a:prstDash val="solid"/>
            <a:round/>
            <a:headEnd type="stealth" w="lg" len="lg"/>
            <a:tailEnd type="none"/>
          </a:ln>
          <a:effectLst/>
        </p:spPr>
      </p:cxnSp>
      <p:sp>
        <p:nvSpPr>
          <p:cNvPr id="53" name="TextBox 52">
            <a:extLst>
              <a:ext uri="{FF2B5EF4-FFF2-40B4-BE49-F238E27FC236}">
                <a16:creationId xmlns:a16="http://schemas.microsoft.com/office/drawing/2014/main" id="{0BF553A8-3AE2-4161-95C0-0270CD7CEE71}"/>
              </a:ext>
            </a:extLst>
          </p:cNvPr>
          <p:cNvSpPr txBox="1"/>
          <p:nvPr/>
        </p:nvSpPr>
        <p:spPr>
          <a:xfrm>
            <a:off x="4169293" y="2738490"/>
            <a:ext cx="669851" cy="300082"/>
          </a:xfrm>
          <a:prstGeom prst="rect">
            <a:avLst/>
          </a:prstGeom>
          <a:noFill/>
          <a:ln>
            <a:noFill/>
          </a:ln>
        </p:spPr>
        <p:txBody>
          <a:bodyPr wrap="square" rtlCol="0" anchor="ctr" anchorCtr="1">
            <a:spAutoFit/>
          </a:bodyPr>
          <a:lstStyle/>
          <a:p>
            <a:r>
              <a:rPr lang="en-US" sz="1350" dirty="0">
                <a:ea typeface="標楷體" pitchFamily="65" charset="-120"/>
                <a:cs typeface="Calibri" pitchFamily="34" charset="0"/>
              </a:rPr>
              <a:t>128b</a:t>
            </a:r>
          </a:p>
        </p:txBody>
      </p:sp>
      <p:sp>
        <p:nvSpPr>
          <p:cNvPr id="3" name="TextBox 2">
            <a:extLst>
              <a:ext uri="{FF2B5EF4-FFF2-40B4-BE49-F238E27FC236}">
                <a16:creationId xmlns:a16="http://schemas.microsoft.com/office/drawing/2014/main" id="{D17594CD-3510-4F26-9CB9-2D24A66914CF}"/>
              </a:ext>
            </a:extLst>
          </p:cNvPr>
          <p:cNvSpPr txBox="1"/>
          <p:nvPr/>
        </p:nvSpPr>
        <p:spPr>
          <a:xfrm>
            <a:off x="6767623" y="4012320"/>
            <a:ext cx="934871" cy="300082"/>
          </a:xfrm>
          <a:prstGeom prst="rect">
            <a:avLst/>
          </a:prstGeom>
          <a:noFill/>
        </p:spPr>
        <p:txBody>
          <a:bodyPr wrap="none" rtlCol="0" anchor="ctr" anchorCtr="1">
            <a:spAutoFit/>
          </a:bodyPr>
          <a:lstStyle/>
          <a:p>
            <a:r>
              <a:rPr lang="en-US" sz="1350" dirty="0">
                <a:ea typeface="標楷體" pitchFamily="65" charset="-120"/>
                <a:cs typeface="Calibri" pitchFamily="34" charset="0"/>
              </a:rPr>
              <a:t>Final step</a:t>
            </a:r>
          </a:p>
        </p:txBody>
      </p:sp>
      <p:sp>
        <p:nvSpPr>
          <p:cNvPr id="4" name="TextBox 3">
            <a:extLst>
              <a:ext uri="{FF2B5EF4-FFF2-40B4-BE49-F238E27FC236}">
                <a16:creationId xmlns:a16="http://schemas.microsoft.com/office/drawing/2014/main" id="{E8776819-9DFF-68F1-0986-5ACBF564A906}"/>
              </a:ext>
            </a:extLst>
          </p:cNvPr>
          <p:cNvSpPr txBox="1"/>
          <p:nvPr/>
        </p:nvSpPr>
        <p:spPr>
          <a:xfrm>
            <a:off x="3424584" y="815100"/>
            <a:ext cx="5622052" cy="646331"/>
          </a:xfrm>
          <a:prstGeom prst="rect">
            <a:avLst/>
          </a:prstGeom>
          <a:solidFill>
            <a:srgbClr val="FFFF00"/>
          </a:solidFill>
          <a:ln>
            <a:solidFill>
              <a:srgbClr val="FF0000"/>
            </a:solidFill>
          </a:ln>
        </p:spPr>
        <p:txBody>
          <a:bodyPr wrap="none" rtlCol="0" anchor="ctr" anchorCtr="1">
            <a:spAutoFit/>
          </a:bodyPr>
          <a:lstStyle/>
          <a:p>
            <a:r>
              <a:rPr lang="en-US" dirty="0">
                <a:ea typeface="標楷體" pitchFamily="65" charset="-120"/>
                <a:cs typeface="Calibri" panose="020F07020304040A0204" pitchFamily="34" charset="0"/>
              </a:rPr>
              <a:t>Reduction includes sum reduction, product reduction,</a:t>
            </a:r>
          </a:p>
          <a:p>
            <a:r>
              <a:rPr lang="en-US" dirty="0">
                <a:ea typeface="標楷體" pitchFamily="65" charset="-120"/>
                <a:cs typeface="Calibri" panose="020F07020304040A0204" pitchFamily="34" charset="0"/>
              </a:rPr>
              <a:t>Parity, AND, OR, XOR, Max number, Min number.</a:t>
            </a:r>
          </a:p>
        </p:txBody>
      </p:sp>
      <p:sp>
        <p:nvSpPr>
          <p:cNvPr id="18" name="TextBox 17">
            <a:extLst>
              <a:ext uri="{FF2B5EF4-FFF2-40B4-BE49-F238E27FC236}">
                <a16:creationId xmlns:a16="http://schemas.microsoft.com/office/drawing/2014/main" id="{639EBB54-52B7-3FAE-0B2B-B622DBD9C475}"/>
              </a:ext>
            </a:extLst>
          </p:cNvPr>
          <p:cNvSpPr txBox="1"/>
          <p:nvPr/>
        </p:nvSpPr>
        <p:spPr>
          <a:xfrm>
            <a:off x="6015190" y="2486833"/>
            <a:ext cx="2387767" cy="923330"/>
          </a:xfrm>
          <a:prstGeom prst="rect">
            <a:avLst/>
          </a:prstGeom>
          <a:solidFill>
            <a:srgbClr val="FFFF00"/>
          </a:solidFill>
          <a:ln>
            <a:solidFill>
              <a:srgbClr val="FF0000"/>
            </a:solidFill>
          </a:ln>
        </p:spPr>
        <p:txBody>
          <a:bodyPr wrap="square" rtlCol="0" anchor="ctr" anchorCtr="1">
            <a:spAutoFit/>
          </a:bodyPr>
          <a:lstStyle/>
          <a:p>
            <a:r>
              <a:rPr lang="en-US" dirty="0">
                <a:ea typeface="標楷體" pitchFamily="65" charset="-120"/>
                <a:cs typeface="Calibri" panose="020F07020304040A0204" pitchFamily="34" charset="0"/>
              </a:rPr>
              <a:t>Vector reduction is part of –O2 or –O3 optimizations </a:t>
            </a:r>
          </a:p>
        </p:txBody>
      </p:sp>
    </p:spTree>
    <p:extLst>
      <p:ext uri="{BB962C8B-B14F-4D97-AF65-F5344CB8AC3E}">
        <p14:creationId xmlns:p14="http://schemas.microsoft.com/office/powerpoint/2010/main" val="12129392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18"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88BB7D-5E1F-3B94-750E-4A085D24E521}"/>
              </a:ext>
            </a:extLst>
          </p:cNvPr>
          <p:cNvSpPr>
            <a:spLocks noGrp="1"/>
          </p:cNvSpPr>
          <p:nvPr>
            <p:ph type="title"/>
          </p:nvPr>
        </p:nvSpPr>
        <p:spPr/>
        <p:txBody>
          <a:bodyPr/>
          <a:lstStyle/>
          <a:p>
            <a:r>
              <a:rPr lang="en-US" dirty="0"/>
              <a:t>Effect of Loop Unrolling</a:t>
            </a:r>
          </a:p>
        </p:txBody>
      </p:sp>
      <p:graphicFrame>
        <p:nvGraphicFramePr>
          <p:cNvPr id="4" name="Group 49">
            <a:extLst>
              <a:ext uri="{FF2B5EF4-FFF2-40B4-BE49-F238E27FC236}">
                <a16:creationId xmlns:a16="http://schemas.microsoft.com/office/drawing/2014/main" id="{33BFFD24-69DE-4965-7294-B81D1F639005}"/>
              </a:ext>
            </a:extLst>
          </p:cNvPr>
          <p:cNvGraphicFramePr>
            <a:graphicFrameLocks noGrp="1"/>
          </p:cNvGraphicFramePr>
          <p:nvPr/>
        </p:nvGraphicFramePr>
        <p:xfrm>
          <a:off x="1485900" y="1600200"/>
          <a:ext cx="6172202" cy="2219423"/>
        </p:xfrm>
        <a:graphic>
          <a:graphicData uri="http://schemas.openxmlformats.org/drawingml/2006/table">
            <a:tbl>
              <a:tblPr/>
              <a:tblGrid>
                <a:gridCol w="1771650">
                  <a:extLst>
                    <a:ext uri="{9D8B030D-6E8A-4147-A177-3AD203B41FA5}">
                      <a16:colId xmlns:a16="http://schemas.microsoft.com/office/drawing/2014/main" val="20000"/>
                    </a:ext>
                  </a:extLst>
                </a:gridCol>
                <a:gridCol w="1100138">
                  <a:extLst>
                    <a:ext uri="{9D8B030D-6E8A-4147-A177-3AD203B41FA5}">
                      <a16:colId xmlns:a16="http://schemas.microsoft.com/office/drawing/2014/main" val="20001"/>
                    </a:ext>
                  </a:extLst>
                </a:gridCol>
                <a:gridCol w="1100138">
                  <a:extLst>
                    <a:ext uri="{9D8B030D-6E8A-4147-A177-3AD203B41FA5}">
                      <a16:colId xmlns:a16="http://schemas.microsoft.com/office/drawing/2014/main" val="20002"/>
                    </a:ext>
                  </a:extLst>
                </a:gridCol>
                <a:gridCol w="1100138">
                  <a:extLst>
                    <a:ext uri="{9D8B030D-6E8A-4147-A177-3AD203B41FA5}">
                      <a16:colId xmlns:a16="http://schemas.microsoft.com/office/drawing/2014/main" val="20003"/>
                    </a:ext>
                  </a:extLst>
                </a:gridCol>
                <a:gridCol w="1100138">
                  <a:extLst>
                    <a:ext uri="{9D8B030D-6E8A-4147-A177-3AD203B41FA5}">
                      <a16:colId xmlns:a16="http://schemas.microsoft.com/office/drawing/2014/main" val="20004"/>
                    </a:ext>
                  </a:extLst>
                </a:gridCol>
              </a:tblGrid>
              <a:tr h="292894">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Method</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Integer</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tc gridSpan="2">
                  <a:txBody>
                    <a:bodyPr/>
                    <a:lstStyle/>
                    <a:p>
                      <a:pPr marL="0" marR="0" lvl="0" indent="0" algn="ct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Double FP</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28575"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F1C7C7"/>
                    </a:solidFill>
                  </a:tcPr>
                </a:tc>
                <a:tc hMerge="1">
                  <a:txBody>
                    <a:bodyPr/>
                    <a:lstStyle/>
                    <a:p>
                      <a:endParaRPr lang="en-US"/>
                    </a:p>
                  </a:txBody>
                  <a:tcPr/>
                </a:tc>
                <a:extLst>
                  <a:ext uri="{0D108BD9-81ED-4DB2-BD59-A6C34878D82A}">
                    <a16:rowId xmlns:a16="http://schemas.microsoft.com/office/drawing/2014/main" val="10000"/>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Operation</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rgbClr val="C00000"/>
                          </a:solidFill>
                          <a:effectLst/>
                          <a:latin typeface="Calibri" panose="020F0502020204030204" pitchFamily="34" charset="0"/>
                        </a:rPr>
                        <a:t>Add</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err="1">
                          <a:ln>
                            <a:noFill/>
                          </a:ln>
                          <a:solidFill>
                            <a:srgbClr val="C00000"/>
                          </a:solidFill>
                          <a:effectLst/>
                          <a:latin typeface="Calibri" panose="020F0502020204030204" pitchFamily="34" charset="0"/>
                        </a:rPr>
                        <a:t>Mult</a:t>
                      </a:r>
                      <a:endParaRPr kumimoji="0" lang="en-US" sz="1400" b="1" i="0" u="none" strike="noStrike" cap="none" normalizeH="0" baseline="0" dirty="0">
                        <a:ln>
                          <a:noFill/>
                        </a:ln>
                        <a:solidFill>
                          <a:srgbClr val="C00000"/>
                        </a:solidFill>
                        <a:effectLst/>
                        <a:latin typeface="Calibri" panose="020F0502020204030204" pitchFamily="34" charset="0"/>
                      </a:endParaRP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1"/>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a:t>
                      </a:r>
                      <a:r>
                        <a:rPr kumimoji="0" lang="en-US" sz="1400" b="1" i="0" u="none" strike="noStrike" cap="none" normalizeH="0" baseline="0" dirty="0" err="1">
                          <a:ln>
                            <a:noFill/>
                          </a:ln>
                          <a:solidFill>
                            <a:schemeClr val="tx1"/>
                          </a:solidFill>
                          <a:effectLst/>
                          <a:latin typeface="Calibri" panose="020F0502020204030204" pitchFamily="34" charset="0"/>
                        </a:rPr>
                        <a:t>unoptimized</a:t>
                      </a:r>
                      <a:endParaRPr kumimoji="0" lang="en-US" sz="1400" b="1" i="0" u="none" strike="noStrike" cap="none" normalizeH="0" baseline="0" dirty="0">
                        <a:ln>
                          <a:noFill/>
                        </a:ln>
                        <a:solidFill>
                          <a:schemeClr val="tx1"/>
                        </a:solidFill>
                        <a:effectLst/>
                        <a:latin typeface="Calibri" panose="020F0502020204030204" pitchFamily="34" charset="0"/>
                      </a:endParaRP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22.68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20.02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19.98</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20.18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2"/>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–O1</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10.12</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10.17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11.14</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10003"/>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Combine1 –O3</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4.5</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6</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rPr>
                        <a:t>7.8</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2395414996"/>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Combine4</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1.27</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3.01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3.01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5.01</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12700"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4219735563"/>
                  </a:ext>
                </a:extLst>
              </a:tr>
              <a:tr h="290513">
                <a:tc>
                  <a:txBody>
                    <a:bodyPr/>
                    <a:lstStyle/>
                    <a:p>
                      <a:pPr marL="0" marR="0" lvl="0" indent="0" algn="l"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Unroll</a:t>
                      </a:r>
                    </a:p>
                  </a:txBody>
                  <a:tcPr marL="34290" marR="34290" marT="34290" marB="34290" horzOverflow="overflow">
                    <a:lnL w="28575"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solidFill>
                      <a:srgbClr val="D5F1CF"/>
                    </a:solid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0.81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1.51</a:t>
                      </a:r>
                    </a:p>
                  </a:txBody>
                  <a:tcPr marL="34290" marR="34290" marT="34290" marB="34290" horzOverflow="overflow">
                    <a:lnL w="12700" cap="flat" cmpd="sng" algn="ctr">
                      <a:solidFill>
                        <a:schemeClr val="tx1"/>
                      </a:solidFill>
                      <a:prstDash val="solid"/>
                      <a:round/>
                      <a:headEnd type="none" w="med" len="med"/>
                      <a:tailEnd type="none" w="sm" len="sm"/>
                    </a:lnL>
                    <a:lnR w="12700"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tc>
                  <a:txBody>
                    <a:bodyPr/>
                    <a:lstStyle/>
                    <a:p>
                      <a:pPr marL="0" marR="0" lvl="0" indent="0" algn="r" defTabSz="914400" rtl="0" eaLnBrk="1" fontAlgn="base" latinLnBrk="0" hangingPunct="1">
                        <a:lnSpc>
                          <a:spcPct val="95000"/>
                        </a:lnSpc>
                        <a:spcBef>
                          <a:spcPct val="50000"/>
                        </a:spcBef>
                        <a:spcAft>
                          <a:spcPct val="0"/>
                        </a:spcAft>
                        <a:buClr>
                          <a:schemeClr val="hlink"/>
                        </a:buClr>
                        <a:buSzTx/>
                        <a:buFont typeface="Wingdings" pitchFamily="2" charset="2"/>
                        <a:buNone/>
                        <a:tabLst/>
                      </a:pPr>
                      <a:r>
                        <a:rPr kumimoji="0" lang="en-US" sz="1400" b="1" i="0" u="none" strike="noStrike" cap="none" normalizeH="0" baseline="0" dirty="0">
                          <a:ln>
                            <a:noFill/>
                          </a:ln>
                          <a:solidFill>
                            <a:schemeClr val="tx1"/>
                          </a:solidFill>
                          <a:effectLst/>
                          <a:latin typeface="Calibri" panose="020F0502020204030204" pitchFamily="34" charset="0"/>
                          <a:cs typeface="Calibri" panose="020F0502020204030204" pitchFamily="34" charset="0"/>
                        </a:rPr>
                        <a:t>2.51</a:t>
                      </a:r>
                    </a:p>
                  </a:txBody>
                  <a:tcPr marL="34290" marR="34290" marT="34290" marB="34290" horzOverflow="overflow">
                    <a:lnL w="12700" cap="flat" cmpd="sng" algn="ctr">
                      <a:solidFill>
                        <a:schemeClr val="tx1"/>
                      </a:solidFill>
                      <a:prstDash val="solid"/>
                      <a:round/>
                      <a:headEnd type="none" w="med" len="med"/>
                      <a:tailEnd type="none" w="sm" len="sm"/>
                    </a:lnL>
                    <a:lnR w="28575" cap="flat" cmpd="sng" algn="ctr">
                      <a:solidFill>
                        <a:schemeClr val="tx1"/>
                      </a:solidFill>
                      <a:prstDash val="solid"/>
                      <a:round/>
                      <a:headEnd type="none" w="med" len="med"/>
                      <a:tailEnd type="none" w="sm" len="sm"/>
                    </a:lnR>
                    <a:lnT w="12700" cap="flat" cmpd="sng" algn="ctr">
                      <a:solidFill>
                        <a:schemeClr val="tx1"/>
                      </a:solidFill>
                      <a:prstDash val="solid"/>
                      <a:round/>
                      <a:headEnd type="none" w="med" len="med"/>
                      <a:tailEnd type="none" w="sm" len="sm"/>
                    </a:lnT>
                    <a:lnB w="28575" cap="flat" cmpd="sng" algn="ctr">
                      <a:solidFill>
                        <a:schemeClr val="tx1"/>
                      </a:solidFill>
                      <a:prstDash val="solid"/>
                      <a:round/>
                      <a:headEnd type="none" w="med" len="med"/>
                      <a:tailEnd type="none" w="sm" len="sm"/>
                    </a:lnB>
                    <a:lnTlToBr>
                      <a:noFill/>
                    </a:lnTlToBr>
                    <a:lnBlToTr>
                      <a:noFill/>
                    </a:lnBlToTr>
                    <a:noFill/>
                  </a:tcPr>
                </a:tc>
                <a:extLst>
                  <a:ext uri="{0D108BD9-81ED-4DB2-BD59-A6C34878D82A}">
                    <a16:rowId xmlns:a16="http://schemas.microsoft.com/office/drawing/2014/main" val="923689758"/>
                  </a:ext>
                </a:extLst>
              </a:tr>
            </a:tbl>
          </a:graphicData>
        </a:graphic>
      </p:graphicFrame>
    </p:spTree>
    <p:extLst>
      <p:ext uri="{BB962C8B-B14F-4D97-AF65-F5344CB8AC3E}">
        <p14:creationId xmlns:p14="http://schemas.microsoft.com/office/powerpoint/2010/main" val="3370240199"/>
      </p:ext>
    </p:extLst>
  </p:cSld>
  <p:clrMapOvr>
    <a:masterClrMapping/>
  </p:clrMapOvr>
</p:sld>
</file>

<file path=ppt/theme/theme1.xml><?xml version="1.0" encoding="utf-8"?>
<a:theme xmlns:a="http://schemas.openxmlformats.org/drawingml/2006/main" name="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spPr>
      <a:bodyPr vert="horz" wrap="none" lIns="91440" tIns="45720" rIns="91440" bIns="45720" numCol="1" anchor="ctr" anchorCtr="0" compatLnSpc="1"/>
      <a:lstStyle>
        <a:defPPr marL="0" marR="0" indent="0" algn="ctr" defTabSz="914400" rtl="0" eaLnBrk="1" fontAlgn="base" latinLnBrk="0" hangingPunct="1">
          <a:lnSpc>
            <a:spcPct val="100000"/>
          </a:lnSpc>
          <a:spcBef>
            <a:spcPct val="0"/>
          </a:spcBef>
          <a:spcAft>
            <a:spcPct val="0"/>
          </a:spcAft>
          <a:buClrTx/>
          <a:buSzTx/>
          <a:buFontTx/>
          <a:buNone/>
          <a:defRPr kumimoji="1" lang="en-US" altLang="zh-TW" sz="1800" b="1" i="0" u="none" strike="noStrike" cap="none" normalizeH="0" baseline="0" smtClean="0">
            <a:ln>
              <a:noFill/>
            </a:ln>
            <a:solidFill>
              <a:schemeClr val="tx1"/>
            </a:solidFill>
            <a:effectLst/>
            <a:latin typeface="Arial" panose="020B0604020202090204" pitchFamily="34" charset="0"/>
            <a:ea typeface="新細明體" panose="02020500000000000000" pitchFamily="18" charset="-120"/>
          </a:defRPr>
        </a:defPPr>
      </a:lstStyle>
    </a:lnDef>
    <a:txDef>
      <a:spPr>
        <a:noFill/>
      </a:spPr>
      <a:bodyPr wrap="none" rtlCol="0" anchor="ctr" anchorCtr="1">
        <a:spAutoFit/>
      </a:bodyPr>
      <a:lstStyle>
        <a:defPPr>
          <a:defRPr dirty="0" smtClean="0">
            <a:ea typeface="標楷體" pitchFamily="65" charset="-120"/>
            <a:cs typeface="Calibri" panose="020F07020304040A0204"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THU UniCloud">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預設簡報設計">
      <a:majorFont>
        <a:latin typeface="MS Sans Serif"/>
        <a:ea typeface="MS Sans Serif"/>
        <a:cs typeface="MS Sans Serif"/>
      </a:majorFont>
      <a:minorFont>
        <a:latin typeface="Arial"/>
        <a:ea typeface="新細明體"/>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spDef>
    <a:lnDef>
      <a:spPr bwMode="auto">
        <a:xfrm>
          <a:off x="0" y="0"/>
          <a:ext cx="1" cy="1"/>
        </a:xfrm>
        <a:custGeom>
          <a:avLst/>
          <a:gdLst/>
          <a:ahLst/>
          <a:cxnLst/>
          <a:rect l="0" t="0" r="0" b="0"/>
          <a:pathLst/>
        </a:custGeom>
        <a:noFill/>
        <a:ln w="15875" cap="flat" cmpd="sng" algn="ctr">
          <a:solidFill>
            <a:srgbClr val="FF0000"/>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1" lang="en-US" altLang="zh-TW" sz="1800" b="1" i="0" u="none" strike="noStrike" cap="none" normalizeH="0" baseline="0" smtClean="0">
            <a:ln>
              <a:noFill/>
            </a:ln>
            <a:solidFill>
              <a:schemeClr val="tx1"/>
            </a:solidFill>
            <a:effectLst/>
            <a:latin typeface="Arial" pitchFamily="34" charset="0"/>
            <a:ea typeface="新細明體" pitchFamily="18" charset="-120"/>
          </a:defRPr>
        </a:defPPr>
      </a:lstStyle>
    </a:lnDef>
    <a:txDef>
      <a:spPr>
        <a:noFill/>
      </a:spPr>
      <a:bodyPr wrap="none" rtlCol="0" anchor="ctr" anchorCtr="1">
        <a:spAutoFit/>
      </a:bodyPr>
      <a:lstStyle>
        <a:defPPr>
          <a:defRPr dirty="0" smtClean="0">
            <a:ea typeface="標楷體" pitchFamily="65" charset="-120"/>
            <a:cs typeface="Calibri" pitchFamily="34" charset="0"/>
          </a:defRPr>
        </a:defPPr>
      </a:lstStyle>
    </a:txDef>
  </a:objectDefaults>
  <a:extraClrSchemeLst>
    <a:extraClrScheme>
      <a:clrScheme name="預設簡報設計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預設簡報設計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預設簡報設計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預設簡報設計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預設簡報設計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預設簡報設計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預設簡報設計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預設簡報設計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預設簡報設計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預設簡報設計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預設簡報設計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預設簡報設計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NTHU UniCloud" id="{771810AA-CEBD-463A-B947-7C0DFAF8BB54}" vid="{30CF6CD1-9989-4B2E-8702-709C1DF65D80}"/>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NTHU UniCloud</Template>
  <TotalTime>29362</TotalTime>
  <Words>8313</Words>
  <Application>Microsoft Office PowerPoint</Application>
  <PresentationFormat>On-screen Show (16:9)</PresentationFormat>
  <Paragraphs>787</Paragraphs>
  <Slides>41</Slides>
  <Notes>39</Notes>
  <HiddenSlides>0</HiddenSlides>
  <MMClips>0</MMClips>
  <ScaleCrop>false</ScaleCrop>
  <HeadingPairs>
    <vt:vector size="6" baseType="variant">
      <vt:variant>
        <vt:lpstr>Fonts Used</vt:lpstr>
      </vt:variant>
      <vt:variant>
        <vt:i4>11</vt:i4>
      </vt:variant>
      <vt:variant>
        <vt:lpstr>Theme</vt:lpstr>
      </vt:variant>
      <vt:variant>
        <vt:i4>2</vt:i4>
      </vt:variant>
      <vt:variant>
        <vt:lpstr>Slide Titles</vt:lpstr>
      </vt:variant>
      <vt:variant>
        <vt:i4>41</vt:i4>
      </vt:variant>
    </vt:vector>
  </HeadingPairs>
  <TitlesOfParts>
    <vt:vector size="54" baseType="lpstr">
      <vt:lpstr>標楷體</vt:lpstr>
      <vt:lpstr>MS Sans Serif</vt:lpstr>
      <vt:lpstr>ui-sans-serif</vt:lpstr>
      <vt:lpstr>华文楷体</vt:lpstr>
      <vt:lpstr>Arial</vt:lpstr>
      <vt:lpstr>Calibri</vt:lpstr>
      <vt:lpstr>Consolas</vt:lpstr>
      <vt:lpstr>Courier New</vt:lpstr>
      <vt:lpstr>Fira Code</vt:lpstr>
      <vt:lpstr>Times New Roman</vt:lpstr>
      <vt:lpstr>Wingdings</vt:lpstr>
      <vt:lpstr>NTHU UniCloud</vt:lpstr>
      <vt:lpstr>1_NTHU UniCloud</vt:lpstr>
      <vt:lpstr>PowerPoint Presentation</vt:lpstr>
      <vt:lpstr>Program Optimization</vt:lpstr>
      <vt:lpstr>The Deepseek Example</vt:lpstr>
      <vt:lpstr>Is Code Optimization Hard?</vt:lpstr>
      <vt:lpstr>Is Code Optimization Hard?</vt:lpstr>
      <vt:lpstr>Using the Compiler in Program Optimizations</vt:lpstr>
      <vt:lpstr>Using the Compiler in Program Optimizations</vt:lpstr>
      <vt:lpstr>More Optimization Flags</vt:lpstr>
      <vt:lpstr>Why not let the Compiler do all Optimizations</vt:lpstr>
      <vt:lpstr>AI-assisted Compiler Optimizations</vt:lpstr>
      <vt:lpstr>General Goals of Compiler Optimizations</vt:lpstr>
      <vt:lpstr>Limits to Compiler Optimization</vt:lpstr>
      <vt:lpstr>Basic Compiler Optimizations</vt:lpstr>
      <vt:lpstr>Data Dependence Graph and Control Flow Graph</vt:lpstr>
      <vt:lpstr>Constant folding</vt:lpstr>
      <vt:lpstr>Dead Code Elimination (DCE)</vt:lpstr>
      <vt:lpstr>Common Subexpression Elimination (CSE)</vt:lpstr>
      <vt:lpstr>More Common Subexpressions</vt:lpstr>
      <vt:lpstr>LICM (Loop Invariant Code Motion)</vt:lpstr>
      <vt:lpstr>Inlining</vt:lpstr>
      <vt:lpstr>Procedure Inlining</vt:lpstr>
      <vt:lpstr>Inlining</vt:lpstr>
      <vt:lpstr>To Inline or Not To Inline</vt:lpstr>
      <vt:lpstr>Memory Aliasing</vt:lpstr>
      <vt:lpstr>Memory Aliasing</vt:lpstr>
      <vt:lpstr>How to know if aliasing gets in the way?</vt:lpstr>
      <vt:lpstr>PowerPoint Presentation</vt:lpstr>
      <vt:lpstr>Can’t move function calls out of loops</vt:lpstr>
      <vt:lpstr>Modern CPU Design</vt:lpstr>
      <vt:lpstr>Loop Unrolling</vt:lpstr>
      <vt:lpstr>Scheduling</vt:lpstr>
      <vt:lpstr>Unrolling/Scheduling are Compiler Optimizations</vt:lpstr>
      <vt:lpstr>Benchmark Example: Data Type for Vectors</vt:lpstr>
      <vt:lpstr>Benchmark Computation</vt:lpstr>
      <vt:lpstr>Cycles Per Element (CPE)</vt:lpstr>
      <vt:lpstr>Benchmark Performance</vt:lpstr>
      <vt:lpstr>Basic Optimizations</vt:lpstr>
      <vt:lpstr>Effect of Basic Optimizations</vt:lpstr>
      <vt:lpstr>Loop Unrolling</vt:lpstr>
      <vt:lpstr>Reduction</vt:lpstr>
      <vt:lpstr>Effect of Loop Unrolling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 Open 5G / IoT Cloud Platform</dc:title>
  <dc:creator>Wu-Chun Chung</dc:creator>
  <cp:lastModifiedBy>Prof. HSU Wei-Chung (SDS)</cp:lastModifiedBy>
  <cp:revision>407</cp:revision>
  <dcterms:created xsi:type="dcterms:W3CDTF">2021-01-11T16:17:04Z</dcterms:created>
  <dcterms:modified xsi:type="dcterms:W3CDTF">2026-04-21T02:06:14Z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2052-3.0.0.4824</vt:lpwstr>
  </property>
</Properties>
</file>